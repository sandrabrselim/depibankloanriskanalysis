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9"/>
  </p:notesMasterIdLst>
  <p:sldIdLst>
    <p:sldId id="256" r:id="rId2"/>
    <p:sldId id="262" r:id="rId3"/>
    <p:sldId id="260" r:id="rId4"/>
    <p:sldId id="261" r:id="rId5"/>
    <p:sldId id="259" r:id="rId6"/>
    <p:sldId id="298" r:id="rId7"/>
    <p:sldId id="297" r:id="rId8"/>
    <p:sldId id="263" r:id="rId9"/>
    <p:sldId id="266" r:id="rId10"/>
    <p:sldId id="278" r:id="rId11"/>
    <p:sldId id="257" r:id="rId12"/>
    <p:sldId id="258" r:id="rId13"/>
    <p:sldId id="274" r:id="rId14"/>
    <p:sldId id="267" r:id="rId15"/>
    <p:sldId id="277" r:id="rId16"/>
    <p:sldId id="265" r:id="rId17"/>
    <p:sldId id="299" r:id="rId18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20"/>
    </p:embeddedFont>
    <p:embeddedFont>
      <p:font typeface="Maven Pro" panose="020B0604020202020204" charset="0"/>
      <p:regular r:id="rId21"/>
      <p:bold r:id="rId22"/>
    </p:embeddedFont>
    <p:embeddedFont>
      <p:font typeface="PT Sans" panose="020B0503020203020204" pitchFamily="34" charset="0"/>
      <p:regular r:id="rId23"/>
      <p:bold r:id="rId24"/>
      <p:italic r:id="rId25"/>
      <p:boldItalic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  <p:embeddedFont>
      <p:font typeface="Roboto Condensed Light" panose="02000000000000000000" pitchFamily="2" charset="0"/>
      <p:regular r:id="rId31"/>
      <p:italic r:id="rId32"/>
    </p:embeddedFont>
    <p:embeddedFont>
      <p:font typeface="Trispace" panose="020B0604020202020204" charset="0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479C"/>
    <a:srgbClr val="3A55BD"/>
    <a:srgbClr val="171E44"/>
    <a:srgbClr val="181D3D"/>
    <a:srgbClr val="191D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18E6C57-8C65-4B56-BD2D-428E423584C6}">
  <a:tblStyle styleId="{118E6C57-8C65-4B56-BD2D-428E423584C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1E794A6-2315-42F1-AB3A-900B9679B2E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38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13e6b3ce6a0_0_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13e6b3ce6a0_0_4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bd6c00e730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bd6c00e730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99f2f57a71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99f2f57a71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C20A3EBC-53CA-872D-BB9B-91083A197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bd6c00e730_0_122:notes">
            <a:extLst>
              <a:ext uri="{FF2B5EF4-FFF2-40B4-BE49-F238E27FC236}">
                <a16:creationId xmlns:a16="http://schemas.microsoft.com/office/drawing/2014/main" id="{3DE9E64E-55E6-C71E-4108-B6FE9144EC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bd6c00e730_0_122:notes">
            <a:extLst>
              <a:ext uri="{FF2B5EF4-FFF2-40B4-BE49-F238E27FC236}">
                <a16:creationId xmlns:a16="http://schemas.microsoft.com/office/drawing/2014/main" id="{90DB45B0-12C7-EEB6-AC6E-32F0581AF7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71685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>
          <a:extLst>
            <a:ext uri="{FF2B5EF4-FFF2-40B4-BE49-F238E27FC236}">
              <a16:creationId xmlns:a16="http://schemas.microsoft.com/office/drawing/2014/main" id="{38B5C369-973A-22D1-4220-A689F27B9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22b5859bcbd_0_17593:notes">
            <a:extLst>
              <a:ext uri="{FF2B5EF4-FFF2-40B4-BE49-F238E27FC236}">
                <a16:creationId xmlns:a16="http://schemas.microsoft.com/office/drawing/2014/main" id="{D89DA41E-E963-0441-D905-8523655A88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22b5859bcbd_0_17593:notes">
            <a:extLst>
              <a:ext uri="{FF2B5EF4-FFF2-40B4-BE49-F238E27FC236}">
                <a16:creationId xmlns:a16="http://schemas.microsoft.com/office/drawing/2014/main" id="{8A7582ED-A939-68EF-C567-A990274BA1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55070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bd6c00e730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bd6c00e730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bd6c00e730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bd6c00e730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d6fc454c64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6" name="Google Shape;1336;gd6fc454c64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127c793fce3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127c793fce3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22b5859bcbd_0_176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22b5859bcbd_0_176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99f2f57a71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99f2f57a71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f8f549bcb1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4" name="Google Shape;1224;gf8f549bcb1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cc98d9fb70_8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cc98d9fb70_8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5">
          <a:extLst>
            <a:ext uri="{FF2B5EF4-FFF2-40B4-BE49-F238E27FC236}">
              <a16:creationId xmlns:a16="http://schemas.microsoft.com/office/drawing/2014/main" id="{CE5521BD-EB22-C184-B800-29CE31AEE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99f2f57a71_0_191:notes">
            <a:extLst>
              <a:ext uri="{FF2B5EF4-FFF2-40B4-BE49-F238E27FC236}">
                <a16:creationId xmlns:a16="http://schemas.microsoft.com/office/drawing/2014/main" id="{50F50C10-AC8A-9E39-FC7B-1D1317A913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99f2f57a71_0_191:notes">
            <a:extLst>
              <a:ext uri="{FF2B5EF4-FFF2-40B4-BE49-F238E27FC236}">
                <a16:creationId xmlns:a16="http://schemas.microsoft.com/office/drawing/2014/main" id="{D86662EB-CC75-729E-1CCE-1035A1975F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5935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4250050" y="1652126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5129998" y="3268141"/>
            <a:ext cx="4013990" cy="1875356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1650101">
            <a:off x="-1796682" y="-2203059"/>
            <a:ext cx="3817087" cy="3985301"/>
          </a:xfrm>
          <a:custGeom>
            <a:avLst/>
            <a:gdLst/>
            <a:ahLst/>
            <a:cxnLst/>
            <a:rect l="l" t="t" r="r" b="b"/>
            <a:pathLst>
              <a:path w="28620" h="29882" extrusionOk="0">
                <a:moveTo>
                  <a:pt x="9332" y="0"/>
                </a:moveTo>
                <a:cubicBezTo>
                  <a:pt x="8101" y="0"/>
                  <a:pt x="6861" y="562"/>
                  <a:pt x="5978" y="1437"/>
                </a:cubicBezTo>
                <a:cubicBezTo>
                  <a:pt x="5210" y="2195"/>
                  <a:pt x="4693" y="3149"/>
                  <a:pt x="4363" y="4166"/>
                </a:cubicBezTo>
                <a:cubicBezTo>
                  <a:pt x="4042" y="5192"/>
                  <a:pt x="3961" y="6272"/>
                  <a:pt x="3560" y="7280"/>
                </a:cubicBezTo>
                <a:cubicBezTo>
                  <a:pt x="2721" y="9341"/>
                  <a:pt x="750" y="10554"/>
                  <a:pt x="295" y="12829"/>
                </a:cubicBezTo>
                <a:cubicBezTo>
                  <a:pt x="0" y="14310"/>
                  <a:pt x="331" y="15933"/>
                  <a:pt x="1312" y="17084"/>
                </a:cubicBezTo>
                <a:cubicBezTo>
                  <a:pt x="1963" y="17842"/>
                  <a:pt x="2846" y="18360"/>
                  <a:pt x="3783" y="18708"/>
                </a:cubicBezTo>
                <a:cubicBezTo>
                  <a:pt x="4247" y="18877"/>
                  <a:pt x="4720" y="18993"/>
                  <a:pt x="5192" y="19100"/>
                </a:cubicBezTo>
                <a:cubicBezTo>
                  <a:pt x="5549" y="19189"/>
                  <a:pt x="5915" y="19261"/>
                  <a:pt x="6272" y="19350"/>
                </a:cubicBezTo>
                <a:cubicBezTo>
                  <a:pt x="6879" y="19511"/>
                  <a:pt x="7423" y="19957"/>
                  <a:pt x="7878" y="20385"/>
                </a:cubicBezTo>
                <a:cubicBezTo>
                  <a:pt x="8913" y="21339"/>
                  <a:pt x="9671" y="22579"/>
                  <a:pt x="10331" y="23811"/>
                </a:cubicBezTo>
                <a:cubicBezTo>
                  <a:pt x="11009" y="25086"/>
                  <a:pt x="11518" y="26398"/>
                  <a:pt x="12508" y="27468"/>
                </a:cubicBezTo>
                <a:cubicBezTo>
                  <a:pt x="13418" y="28458"/>
                  <a:pt x="14577" y="29217"/>
                  <a:pt x="15871" y="29600"/>
                </a:cubicBezTo>
                <a:cubicBezTo>
                  <a:pt x="16506" y="29788"/>
                  <a:pt x="17169" y="29882"/>
                  <a:pt x="17832" y="29882"/>
                </a:cubicBezTo>
                <a:cubicBezTo>
                  <a:pt x="19368" y="29882"/>
                  <a:pt x="20902" y="29380"/>
                  <a:pt x="22080" y="28396"/>
                </a:cubicBezTo>
                <a:cubicBezTo>
                  <a:pt x="22928" y="27700"/>
                  <a:pt x="23614" y="26665"/>
                  <a:pt x="23498" y="25577"/>
                </a:cubicBezTo>
                <a:cubicBezTo>
                  <a:pt x="23427" y="24836"/>
                  <a:pt x="22990" y="24176"/>
                  <a:pt x="22446" y="23677"/>
                </a:cubicBezTo>
                <a:cubicBezTo>
                  <a:pt x="21732" y="23025"/>
                  <a:pt x="20822" y="22695"/>
                  <a:pt x="20153" y="22000"/>
                </a:cubicBezTo>
                <a:cubicBezTo>
                  <a:pt x="19074" y="20867"/>
                  <a:pt x="18797" y="19038"/>
                  <a:pt x="19502" y="17637"/>
                </a:cubicBezTo>
                <a:cubicBezTo>
                  <a:pt x="20233" y="16192"/>
                  <a:pt x="21625" y="15648"/>
                  <a:pt x="23133" y="15541"/>
                </a:cubicBezTo>
                <a:cubicBezTo>
                  <a:pt x="24623" y="15434"/>
                  <a:pt x="26219" y="14443"/>
                  <a:pt x="27156" y="13302"/>
                </a:cubicBezTo>
                <a:cubicBezTo>
                  <a:pt x="28182" y="12053"/>
                  <a:pt x="28619" y="10277"/>
                  <a:pt x="28075" y="8752"/>
                </a:cubicBezTo>
                <a:cubicBezTo>
                  <a:pt x="27754" y="7851"/>
                  <a:pt x="27058" y="7084"/>
                  <a:pt x="26202" y="6647"/>
                </a:cubicBezTo>
                <a:cubicBezTo>
                  <a:pt x="25635" y="6363"/>
                  <a:pt x="25044" y="6284"/>
                  <a:pt x="24441" y="6284"/>
                </a:cubicBezTo>
                <a:cubicBezTo>
                  <a:pt x="24077" y="6284"/>
                  <a:pt x="23708" y="6313"/>
                  <a:pt x="23338" y="6343"/>
                </a:cubicBezTo>
                <a:cubicBezTo>
                  <a:pt x="22809" y="6381"/>
                  <a:pt x="22275" y="6405"/>
                  <a:pt x="21741" y="6405"/>
                </a:cubicBezTo>
                <a:cubicBezTo>
                  <a:pt x="19781" y="6405"/>
                  <a:pt x="17823" y="6089"/>
                  <a:pt x="16112" y="5023"/>
                </a:cubicBezTo>
                <a:cubicBezTo>
                  <a:pt x="14988" y="4327"/>
                  <a:pt x="14158" y="3274"/>
                  <a:pt x="13293" y="2293"/>
                </a:cubicBezTo>
                <a:cubicBezTo>
                  <a:pt x="12508" y="1401"/>
                  <a:pt x="11607" y="536"/>
                  <a:pt x="10474" y="179"/>
                </a:cubicBezTo>
                <a:cubicBezTo>
                  <a:pt x="10099" y="54"/>
                  <a:pt x="9715" y="0"/>
                  <a:pt x="9332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007425" y="819213"/>
            <a:ext cx="3033000" cy="276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217100" y="3702075"/>
            <a:ext cx="18234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 flipH="1">
            <a:off x="-847382" y="2075875"/>
            <a:ext cx="5842699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6638834" y="-220904"/>
            <a:ext cx="2625339" cy="1785511"/>
          </a:xfrm>
          <a:custGeom>
            <a:avLst/>
            <a:gdLst/>
            <a:ahLst/>
            <a:cxnLst/>
            <a:rect l="l" t="t" r="r" b="b"/>
            <a:pathLst>
              <a:path w="20635" h="14034" extrusionOk="0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4B6EF8">
                  <a:alpha val="70196"/>
                </a:srgbClr>
              </a:gs>
              <a:gs pos="100000">
                <a:schemeClr val="accent1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" name="Google Shape;17;p3"/>
          <p:cNvGrpSpPr/>
          <p:nvPr/>
        </p:nvGrpSpPr>
        <p:grpSpPr>
          <a:xfrm>
            <a:off x="7542636" y="81040"/>
            <a:ext cx="1521562" cy="1069823"/>
            <a:chOff x="7542636" y="81040"/>
            <a:chExt cx="1521562" cy="1069823"/>
          </a:xfrm>
        </p:grpSpPr>
        <p:sp>
          <p:nvSpPr>
            <p:cNvPr id="18" name="Google Shape;18;p3"/>
            <p:cNvSpPr/>
            <p:nvPr/>
          </p:nvSpPr>
          <p:spPr>
            <a:xfrm>
              <a:off x="8132548" y="8104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8737186" y="75295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7542636" y="139240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8048505" y="68206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3525900" y="3189750"/>
            <a:ext cx="4905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5084000" y="1609750"/>
            <a:ext cx="1789200" cy="108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4523725" y="3162601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4"/>
          <p:cNvSpPr/>
          <p:nvPr/>
        </p:nvSpPr>
        <p:spPr>
          <a:xfrm rot="-10492926">
            <a:off x="-1867197" y="3324908"/>
            <a:ext cx="3817099" cy="3985333"/>
          </a:xfrm>
          <a:custGeom>
            <a:avLst/>
            <a:gdLst/>
            <a:ahLst/>
            <a:cxnLst/>
            <a:rect l="l" t="t" r="r" b="b"/>
            <a:pathLst>
              <a:path w="28620" h="29882" extrusionOk="0">
                <a:moveTo>
                  <a:pt x="9332" y="0"/>
                </a:moveTo>
                <a:cubicBezTo>
                  <a:pt x="8101" y="0"/>
                  <a:pt x="6861" y="562"/>
                  <a:pt x="5978" y="1437"/>
                </a:cubicBezTo>
                <a:cubicBezTo>
                  <a:pt x="5210" y="2195"/>
                  <a:pt x="4693" y="3149"/>
                  <a:pt x="4363" y="4166"/>
                </a:cubicBezTo>
                <a:cubicBezTo>
                  <a:pt x="4042" y="5192"/>
                  <a:pt x="3961" y="6272"/>
                  <a:pt x="3560" y="7280"/>
                </a:cubicBezTo>
                <a:cubicBezTo>
                  <a:pt x="2721" y="9341"/>
                  <a:pt x="750" y="10554"/>
                  <a:pt x="295" y="12829"/>
                </a:cubicBezTo>
                <a:cubicBezTo>
                  <a:pt x="0" y="14310"/>
                  <a:pt x="331" y="15933"/>
                  <a:pt x="1312" y="17084"/>
                </a:cubicBezTo>
                <a:cubicBezTo>
                  <a:pt x="1963" y="17842"/>
                  <a:pt x="2846" y="18360"/>
                  <a:pt x="3783" y="18708"/>
                </a:cubicBezTo>
                <a:cubicBezTo>
                  <a:pt x="4247" y="18877"/>
                  <a:pt x="4720" y="18993"/>
                  <a:pt x="5192" y="19100"/>
                </a:cubicBezTo>
                <a:cubicBezTo>
                  <a:pt x="5549" y="19189"/>
                  <a:pt x="5915" y="19261"/>
                  <a:pt x="6272" y="19350"/>
                </a:cubicBezTo>
                <a:cubicBezTo>
                  <a:pt x="6879" y="19511"/>
                  <a:pt x="7423" y="19957"/>
                  <a:pt x="7878" y="20385"/>
                </a:cubicBezTo>
                <a:cubicBezTo>
                  <a:pt x="8913" y="21339"/>
                  <a:pt x="9671" y="22579"/>
                  <a:pt x="10331" y="23811"/>
                </a:cubicBezTo>
                <a:cubicBezTo>
                  <a:pt x="11009" y="25086"/>
                  <a:pt x="11518" y="26398"/>
                  <a:pt x="12508" y="27468"/>
                </a:cubicBezTo>
                <a:cubicBezTo>
                  <a:pt x="13418" y="28458"/>
                  <a:pt x="14577" y="29217"/>
                  <a:pt x="15871" y="29600"/>
                </a:cubicBezTo>
                <a:cubicBezTo>
                  <a:pt x="16506" y="29788"/>
                  <a:pt x="17169" y="29882"/>
                  <a:pt x="17832" y="29882"/>
                </a:cubicBezTo>
                <a:cubicBezTo>
                  <a:pt x="19368" y="29882"/>
                  <a:pt x="20902" y="29380"/>
                  <a:pt x="22080" y="28396"/>
                </a:cubicBezTo>
                <a:cubicBezTo>
                  <a:pt x="22928" y="27700"/>
                  <a:pt x="23614" y="26665"/>
                  <a:pt x="23498" y="25577"/>
                </a:cubicBezTo>
                <a:cubicBezTo>
                  <a:pt x="23427" y="24836"/>
                  <a:pt x="22990" y="24176"/>
                  <a:pt x="22446" y="23677"/>
                </a:cubicBezTo>
                <a:cubicBezTo>
                  <a:pt x="21732" y="23025"/>
                  <a:pt x="20822" y="22695"/>
                  <a:pt x="20153" y="22000"/>
                </a:cubicBezTo>
                <a:cubicBezTo>
                  <a:pt x="19074" y="20867"/>
                  <a:pt x="18797" y="19038"/>
                  <a:pt x="19502" y="17637"/>
                </a:cubicBezTo>
                <a:cubicBezTo>
                  <a:pt x="20233" y="16192"/>
                  <a:pt x="21625" y="15648"/>
                  <a:pt x="23133" y="15541"/>
                </a:cubicBezTo>
                <a:cubicBezTo>
                  <a:pt x="24623" y="15434"/>
                  <a:pt x="26219" y="14443"/>
                  <a:pt x="27156" y="13302"/>
                </a:cubicBezTo>
                <a:cubicBezTo>
                  <a:pt x="28182" y="12053"/>
                  <a:pt x="28619" y="10277"/>
                  <a:pt x="28075" y="8752"/>
                </a:cubicBezTo>
                <a:cubicBezTo>
                  <a:pt x="27754" y="7851"/>
                  <a:pt x="27058" y="7084"/>
                  <a:pt x="26202" y="6647"/>
                </a:cubicBezTo>
                <a:cubicBezTo>
                  <a:pt x="25635" y="6363"/>
                  <a:pt x="25044" y="6284"/>
                  <a:pt x="24441" y="6284"/>
                </a:cubicBezTo>
                <a:cubicBezTo>
                  <a:pt x="24077" y="6284"/>
                  <a:pt x="23708" y="6313"/>
                  <a:pt x="23338" y="6343"/>
                </a:cubicBezTo>
                <a:cubicBezTo>
                  <a:pt x="22809" y="6381"/>
                  <a:pt x="22275" y="6405"/>
                  <a:pt x="21741" y="6405"/>
                </a:cubicBezTo>
                <a:cubicBezTo>
                  <a:pt x="19781" y="6405"/>
                  <a:pt x="17823" y="6089"/>
                  <a:pt x="16112" y="5023"/>
                </a:cubicBezTo>
                <a:cubicBezTo>
                  <a:pt x="14988" y="4327"/>
                  <a:pt x="14158" y="3274"/>
                  <a:pt x="13293" y="2293"/>
                </a:cubicBezTo>
                <a:cubicBezTo>
                  <a:pt x="12508" y="1401"/>
                  <a:pt x="11607" y="536"/>
                  <a:pt x="10474" y="179"/>
                </a:cubicBezTo>
                <a:cubicBezTo>
                  <a:pt x="10099" y="54"/>
                  <a:pt x="9715" y="0"/>
                  <a:pt x="9332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-54470" y="2967153"/>
            <a:ext cx="774471" cy="1912390"/>
            <a:chOff x="-54470" y="2967153"/>
            <a:chExt cx="774471" cy="1912390"/>
          </a:xfrm>
        </p:grpSpPr>
        <p:sp>
          <p:nvSpPr>
            <p:cNvPr id="30" name="Google Shape;30;p4"/>
            <p:cNvSpPr/>
            <p:nvPr/>
          </p:nvSpPr>
          <p:spPr>
            <a:xfrm>
              <a:off x="59978" y="421944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-54470" y="34743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338511" y="296715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338511" y="383087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" name="Google Shape;34;p4"/>
          <p:cNvGrpSpPr/>
          <p:nvPr/>
        </p:nvGrpSpPr>
        <p:grpSpPr>
          <a:xfrm>
            <a:off x="7450103" y="2640103"/>
            <a:ext cx="1597872" cy="2451290"/>
            <a:chOff x="7450103" y="2640103"/>
            <a:chExt cx="1597872" cy="2451290"/>
          </a:xfrm>
        </p:grpSpPr>
        <p:sp>
          <p:nvSpPr>
            <p:cNvPr id="35" name="Google Shape;35;p4"/>
            <p:cNvSpPr/>
            <p:nvPr/>
          </p:nvSpPr>
          <p:spPr>
            <a:xfrm>
              <a:off x="7450103" y="44312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8430905" y="425356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8478061" y="26401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8478061" y="37598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8579205" y="33075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5052478" y="3569975"/>
            <a:ext cx="5371040" cy="2068243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5"/>
          <p:cNvSpPr/>
          <p:nvPr/>
        </p:nvSpPr>
        <p:spPr>
          <a:xfrm rot="10644777">
            <a:off x="-1048849" y="-1303280"/>
            <a:ext cx="4634055" cy="2824556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" name="Google Shape;43;p5"/>
          <p:cNvGrpSpPr/>
          <p:nvPr/>
        </p:nvGrpSpPr>
        <p:grpSpPr>
          <a:xfrm>
            <a:off x="-62147" y="4"/>
            <a:ext cx="1648457" cy="1491382"/>
            <a:chOff x="-62147" y="4"/>
            <a:chExt cx="1648457" cy="1491382"/>
          </a:xfrm>
        </p:grpSpPr>
        <p:sp>
          <p:nvSpPr>
            <p:cNvPr id="44" name="Google Shape;44;p5"/>
            <p:cNvSpPr/>
            <p:nvPr/>
          </p:nvSpPr>
          <p:spPr>
            <a:xfrm>
              <a:off x="187398" y="8360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53072" y="1253015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1259298" y="670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-62147" y="4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" name="Google Shape;48;p5"/>
          <p:cNvGrpSpPr/>
          <p:nvPr/>
        </p:nvGrpSpPr>
        <p:grpSpPr>
          <a:xfrm>
            <a:off x="6635180" y="3519093"/>
            <a:ext cx="2455746" cy="1624395"/>
            <a:chOff x="6635180" y="3519093"/>
            <a:chExt cx="2455746" cy="1624395"/>
          </a:xfrm>
        </p:grpSpPr>
        <p:sp>
          <p:nvSpPr>
            <p:cNvPr id="49" name="Google Shape;49;p5"/>
            <p:cNvSpPr/>
            <p:nvPr/>
          </p:nvSpPr>
          <p:spPr>
            <a:xfrm>
              <a:off x="8430903" y="39439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8622155" y="35190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6635180" y="46746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8185647" y="4789915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" name="Google Shape;53;p5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1"/>
          </p:nvPr>
        </p:nvSpPr>
        <p:spPr>
          <a:xfrm>
            <a:off x="5041779" y="2992900"/>
            <a:ext cx="3098400" cy="13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2"/>
          </p:nvPr>
        </p:nvSpPr>
        <p:spPr>
          <a:xfrm>
            <a:off x="1003675" y="2992900"/>
            <a:ext cx="3098400" cy="13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subTitle" idx="3"/>
          </p:nvPr>
        </p:nvSpPr>
        <p:spPr>
          <a:xfrm>
            <a:off x="1003675" y="2674275"/>
            <a:ext cx="30984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subTitle" idx="4"/>
          </p:nvPr>
        </p:nvSpPr>
        <p:spPr>
          <a:xfrm>
            <a:off x="5041786" y="2674275"/>
            <a:ext cx="30984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/>
          <p:nvPr/>
        </p:nvSpPr>
        <p:spPr>
          <a:xfrm rot="-6125281">
            <a:off x="6780953" y="-507545"/>
            <a:ext cx="4634067" cy="2824557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6"/>
          <p:cNvSpPr/>
          <p:nvPr/>
        </p:nvSpPr>
        <p:spPr>
          <a:xfrm flipH="1">
            <a:off x="-1192290" y="3569975"/>
            <a:ext cx="5029983" cy="2068243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oogle Shape;61;p6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62" name="Google Shape;62;p6"/>
            <p:cNvSpPr/>
            <p:nvPr/>
          </p:nvSpPr>
          <p:spPr>
            <a:xfrm>
              <a:off x="53078" y="35190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>
              <a:off x="251230" y="46040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6"/>
            <p:cNvSpPr/>
            <p:nvPr/>
          </p:nvSpPr>
          <p:spPr>
            <a:xfrm>
              <a:off x="148697" y="43264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" name="Google Shape;65;p6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66" name="Google Shape;66;p6"/>
            <p:cNvSpPr/>
            <p:nvPr/>
          </p:nvSpPr>
          <p:spPr>
            <a:xfrm>
              <a:off x="8267398" y="11137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8534803" y="574679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7618822" y="111365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" name="Google Shape;69;p6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>
            <a:off x="4182350" y="2075876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5816848" y="3347141"/>
            <a:ext cx="4013990" cy="1875356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 rot="-9720741">
            <a:off x="-717073" y="-1675999"/>
            <a:ext cx="5728060" cy="3491392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" name="Google Shape;74;p7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75" name="Google Shape;75;p7"/>
            <p:cNvSpPr/>
            <p:nvPr/>
          </p:nvSpPr>
          <p:spPr>
            <a:xfrm>
              <a:off x="531953" y="54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7"/>
            <p:cNvSpPr/>
            <p:nvPr/>
          </p:nvSpPr>
          <p:spPr>
            <a:xfrm>
              <a:off x="2311280" y="245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7"/>
            <p:cNvSpPr/>
            <p:nvPr/>
          </p:nvSpPr>
          <p:spPr>
            <a:xfrm>
              <a:off x="1841797" y="1642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7"/>
            <p:cNvSpPr/>
            <p:nvPr/>
          </p:nvSpPr>
          <p:spPr>
            <a:xfrm>
              <a:off x="2729973" y="542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7"/>
          <p:cNvSpPr txBox="1">
            <a:spLocks noGrp="1"/>
          </p:cNvSpPr>
          <p:nvPr>
            <p:ph type="body" idx="1"/>
          </p:nvPr>
        </p:nvSpPr>
        <p:spPr>
          <a:xfrm>
            <a:off x="713100" y="1850100"/>
            <a:ext cx="5135400" cy="20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0" name="Google Shape;80;p7"/>
          <p:cNvSpPr txBox="1">
            <a:spLocks noGrp="1"/>
          </p:cNvSpPr>
          <p:nvPr>
            <p:ph type="title"/>
          </p:nvPr>
        </p:nvSpPr>
        <p:spPr>
          <a:xfrm>
            <a:off x="713100" y="1244700"/>
            <a:ext cx="5135400" cy="60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 rot="-6419074">
            <a:off x="4830466" y="-402088"/>
            <a:ext cx="7138425" cy="3491376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8"/>
          <p:cNvSpPr/>
          <p:nvPr/>
        </p:nvSpPr>
        <p:spPr>
          <a:xfrm rot="5868956">
            <a:off x="-2972528" y="1025449"/>
            <a:ext cx="7138386" cy="3491394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" name="Google Shape;84;p8"/>
          <p:cNvGrpSpPr/>
          <p:nvPr/>
        </p:nvGrpSpPr>
        <p:grpSpPr>
          <a:xfrm>
            <a:off x="8030823" y="254364"/>
            <a:ext cx="1324311" cy="1655928"/>
            <a:chOff x="8030823" y="254364"/>
            <a:chExt cx="1324311" cy="1655928"/>
          </a:xfrm>
        </p:grpSpPr>
        <p:sp>
          <p:nvSpPr>
            <p:cNvPr id="85" name="Google Shape;85;p8"/>
            <p:cNvSpPr/>
            <p:nvPr/>
          </p:nvSpPr>
          <p:spPr>
            <a:xfrm>
              <a:off x="8409504" y="254378"/>
              <a:ext cx="945630" cy="94573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8107053" y="1250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8030823" y="254364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88;p8"/>
          <p:cNvGrpSpPr/>
          <p:nvPr/>
        </p:nvGrpSpPr>
        <p:grpSpPr>
          <a:xfrm>
            <a:off x="-137271" y="2581792"/>
            <a:ext cx="1510384" cy="2479841"/>
            <a:chOff x="-137271" y="2581792"/>
            <a:chExt cx="1510384" cy="2479841"/>
          </a:xfrm>
        </p:grpSpPr>
        <p:sp>
          <p:nvSpPr>
            <p:cNvPr id="89" name="Google Shape;89;p8"/>
            <p:cNvSpPr/>
            <p:nvPr/>
          </p:nvSpPr>
          <p:spPr>
            <a:xfrm>
              <a:off x="266653" y="25817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>
              <a:off x="713090" y="39582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262648" y="3515377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-137271" y="4115903"/>
              <a:ext cx="945630" cy="94573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2241450" y="152025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2241550" y="2362050"/>
            <a:ext cx="4661100" cy="1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4182350" y="2075876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5816848" y="3347141"/>
            <a:ext cx="4013990" cy="1875356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/>
          <p:nvPr/>
        </p:nvSpPr>
        <p:spPr>
          <a:xfrm rot="-9720741">
            <a:off x="-717073" y="-1675999"/>
            <a:ext cx="5728060" cy="3491392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" name="Google Shape;100;p9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101" name="Google Shape;101;p9"/>
            <p:cNvSpPr/>
            <p:nvPr/>
          </p:nvSpPr>
          <p:spPr>
            <a:xfrm>
              <a:off x="531953" y="54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2311280" y="245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9"/>
            <p:cNvSpPr/>
            <p:nvPr/>
          </p:nvSpPr>
          <p:spPr>
            <a:xfrm>
              <a:off x="1841797" y="1642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9"/>
            <p:cNvSpPr/>
            <p:nvPr/>
          </p:nvSpPr>
          <p:spPr>
            <a:xfrm>
              <a:off x="2729973" y="542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>
            <a:spLocks noGrp="1"/>
          </p:cNvSpPr>
          <p:nvPr>
            <p:ph type="pic" idx="2"/>
          </p:nvPr>
        </p:nvSpPr>
        <p:spPr>
          <a:xfrm>
            <a:off x="10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0"/>
          <p:cNvSpPr txBox="1">
            <a:spLocks noGrp="1"/>
          </p:cNvSpPr>
          <p:nvPr>
            <p:ph type="title"/>
          </p:nvPr>
        </p:nvSpPr>
        <p:spPr>
          <a:xfrm>
            <a:off x="720000" y="3862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/>
          <p:nvPr/>
        </p:nvSpPr>
        <p:spPr>
          <a:xfrm rot="-6419074">
            <a:off x="4830466" y="-402088"/>
            <a:ext cx="7138425" cy="3491376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1"/>
          <p:cNvSpPr/>
          <p:nvPr/>
        </p:nvSpPr>
        <p:spPr>
          <a:xfrm rot="5868956">
            <a:off x="-2972528" y="1025449"/>
            <a:ext cx="7138386" cy="3491394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8030823" y="254364"/>
            <a:ext cx="1324311" cy="1655928"/>
            <a:chOff x="8030823" y="254364"/>
            <a:chExt cx="1324311" cy="1655928"/>
          </a:xfrm>
        </p:grpSpPr>
        <p:sp>
          <p:nvSpPr>
            <p:cNvPr id="112" name="Google Shape;112;p11"/>
            <p:cNvSpPr/>
            <p:nvPr/>
          </p:nvSpPr>
          <p:spPr>
            <a:xfrm>
              <a:off x="8409504" y="254378"/>
              <a:ext cx="945630" cy="94573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8107053" y="1250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8030823" y="254364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-137271" y="2581792"/>
            <a:ext cx="1510384" cy="2479841"/>
            <a:chOff x="-137271" y="2581792"/>
            <a:chExt cx="1510384" cy="2479841"/>
          </a:xfrm>
        </p:grpSpPr>
        <p:sp>
          <p:nvSpPr>
            <p:cNvPr id="116" name="Google Shape;116;p11"/>
            <p:cNvSpPr/>
            <p:nvPr/>
          </p:nvSpPr>
          <p:spPr>
            <a:xfrm>
              <a:off x="266653" y="25817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13090" y="39582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262648" y="3515377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>
              <a:off x="-137271" y="4115903"/>
              <a:ext cx="945630" cy="94573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0" name="Google Shape;120;p11"/>
          <p:cNvSpPr txBox="1">
            <a:spLocks noGrp="1"/>
          </p:cNvSpPr>
          <p:nvPr>
            <p:ph type="title" hasCustomPrompt="1"/>
          </p:nvPr>
        </p:nvSpPr>
        <p:spPr>
          <a:xfrm>
            <a:off x="1373900" y="2994097"/>
            <a:ext cx="6396600" cy="9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1" name="Google Shape;121;p11"/>
          <p:cNvSpPr txBox="1">
            <a:spLocks noGrp="1"/>
          </p:cNvSpPr>
          <p:nvPr>
            <p:ph type="subTitle" idx="1"/>
          </p:nvPr>
        </p:nvSpPr>
        <p:spPr>
          <a:xfrm>
            <a:off x="3180375" y="3972588"/>
            <a:ext cx="2783700" cy="6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/>
          <p:nvPr/>
        </p:nvSpPr>
        <p:spPr>
          <a:xfrm>
            <a:off x="4176175" y="2967151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3"/>
          <p:cNvSpPr/>
          <p:nvPr/>
        </p:nvSpPr>
        <p:spPr>
          <a:xfrm rot="-10492926">
            <a:off x="-1478272" y="3333183"/>
            <a:ext cx="3817099" cy="3985333"/>
          </a:xfrm>
          <a:custGeom>
            <a:avLst/>
            <a:gdLst/>
            <a:ahLst/>
            <a:cxnLst/>
            <a:rect l="l" t="t" r="r" b="b"/>
            <a:pathLst>
              <a:path w="28620" h="29882" extrusionOk="0">
                <a:moveTo>
                  <a:pt x="9332" y="0"/>
                </a:moveTo>
                <a:cubicBezTo>
                  <a:pt x="8101" y="0"/>
                  <a:pt x="6861" y="562"/>
                  <a:pt x="5978" y="1437"/>
                </a:cubicBezTo>
                <a:cubicBezTo>
                  <a:pt x="5210" y="2195"/>
                  <a:pt x="4693" y="3149"/>
                  <a:pt x="4363" y="4166"/>
                </a:cubicBezTo>
                <a:cubicBezTo>
                  <a:pt x="4042" y="5192"/>
                  <a:pt x="3961" y="6272"/>
                  <a:pt x="3560" y="7280"/>
                </a:cubicBezTo>
                <a:cubicBezTo>
                  <a:pt x="2721" y="9341"/>
                  <a:pt x="750" y="10554"/>
                  <a:pt x="295" y="12829"/>
                </a:cubicBezTo>
                <a:cubicBezTo>
                  <a:pt x="0" y="14310"/>
                  <a:pt x="331" y="15933"/>
                  <a:pt x="1312" y="17084"/>
                </a:cubicBezTo>
                <a:cubicBezTo>
                  <a:pt x="1963" y="17842"/>
                  <a:pt x="2846" y="18360"/>
                  <a:pt x="3783" y="18708"/>
                </a:cubicBezTo>
                <a:cubicBezTo>
                  <a:pt x="4247" y="18877"/>
                  <a:pt x="4720" y="18993"/>
                  <a:pt x="5192" y="19100"/>
                </a:cubicBezTo>
                <a:cubicBezTo>
                  <a:pt x="5549" y="19189"/>
                  <a:pt x="5915" y="19261"/>
                  <a:pt x="6272" y="19350"/>
                </a:cubicBezTo>
                <a:cubicBezTo>
                  <a:pt x="6879" y="19511"/>
                  <a:pt x="7423" y="19957"/>
                  <a:pt x="7878" y="20385"/>
                </a:cubicBezTo>
                <a:cubicBezTo>
                  <a:pt x="8913" y="21339"/>
                  <a:pt x="9671" y="22579"/>
                  <a:pt x="10331" y="23811"/>
                </a:cubicBezTo>
                <a:cubicBezTo>
                  <a:pt x="11009" y="25086"/>
                  <a:pt x="11518" y="26398"/>
                  <a:pt x="12508" y="27468"/>
                </a:cubicBezTo>
                <a:cubicBezTo>
                  <a:pt x="13418" y="28458"/>
                  <a:pt x="14577" y="29217"/>
                  <a:pt x="15871" y="29600"/>
                </a:cubicBezTo>
                <a:cubicBezTo>
                  <a:pt x="16506" y="29788"/>
                  <a:pt x="17169" y="29882"/>
                  <a:pt x="17832" y="29882"/>
                </a:cubicBezTo>
                <a:cubicBezTo>
                  <a:pt x="19368" y="29882"/>
                  <a:pt x="20902" y="29380"/>
                  <a:pt x="22080" y="28396"/>
                </a:cubicBezTo>
                <a:cubicBezTo>
                  <a:pt x="22928" y="27700"/>
                  <a:pt x="23614" y="26665"/>
                  <a:pt x="23498" y="25577"/>
                </a:cubicBezTo>
                <a:cubicBezTo>
                  <a:pt x="23427" y="24836"/>
                  <a:pt x="22990" y="24176"/>
                  <a:pt x="22446" y="23677"/>
                </a:cubicBezTo>
                <a:cubicBezTo>
                  <a:pt x="21732" y="23025"/>
                  <a:pt x="20822" y="22695"/>
                  <a:pt x="20153" y="22000"/>
                </a:cubicBezTo>
                <a:cubicBezTo>
                  <a:pt x="19074" y="20867"/>
                  <a:pt x="18797" y="19038"/>
                  <a:pt x="19502" y="17637"/>
                </a:cubicBezTo>
                <a:cubicBezTo>
                  <a:pt x="20233" y="16192"/>
                  <a:pt x="21625" y="15648"/>
                  <a:pt x="23133" y="15541"/>
                </a:cubicBezTo>
                <a:cubicBezTo>
                  <a:pt x="24623" y="15434"/>
                  <a:pt x="26219" y="14443"/>
                  <a:pt x="27156" y="13302"/>
                </a:cubicBezTo>
                <a:cubicBezTo>
                  <a:pt x="28182" y="12053"/>
                  <a:pt x="28619" y="10277"/>
                  <a:pt x="28075" y="8752"/>
                </a:cubicBezTo>
                <a:cubicBezTo>
                  <a:pt x="27754" y="7851"/>
                  <a:pt x="27058" y="7084"/>
                  <a:pt x="26202" y="6647"/>
                </a:cubicBezTo>
                <a:cubicBezTo>
                  <a:pt x="25635" y="6363"/>
                  <a:pt x="25044" y="6284"/>
                  <a:pt x="24441" y="6284"/>
                </a:cubicBezTo>
                <a:cubicBezTo>
                  <a:pt x="24077" y="6284"/>
                  <a:pt x="23708" y="6313"/>
                  <a:pt x="23338" y="6343"/>
                </a:cubicBezTo>
                <a:cubicBezTo>
                  <a:pt x="22809" y="6381"/>
                  <a:pt x="22275" y="6405"/>
                  <a:pt x="21741" y="6405"/>
                </a:cubicBezTo>
                <a:cubicBezTo>
                  <a:pt x="19781" y="6405"/>
                  <a:pt x="17823" y="6089"/>
                  <a:pt x="16112" y="5023"/>
                </a:cubicBezTo>
                <a:cubicBezTo>
                  <a:pt x="14988" y="4327"/>
                  <a:pt x="14158" y="3274"/>
                  <a:pt x="13293" y="2293"/>
                </a:cubicBezTo>
                <a:cubicBezTo>
                  <a:pt x="12508" y="1401"/>
                  <a:pt x="11607" y="536"/>
                  <a:pt x="10474" y="179"/>
                </a:cubicBezTo>
                <a:cubicBezTo>
                  <a:pt x="10099" y="54"/>
                  <a:pt x="9715" y="0"/>
                  <a:pt x="9332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" name="Google Shape;126;p13"/>
          <p:cNvGrpSpPr/>
          <p:nvPr/>
        </p:nvGrpSpPr>
        <p:grpSpPr>
          <a:xfrm>
            <a:off x="-54470" y="2967153"/>
            <a:ext cx="774471" cy="1912390"/>
            <a:chOff x="-54470" y="2967153"/>
            <a:chExt cx="774471" cy="1912390"/>
          </a:xfrm>
        </p:grpSpPr>
        <p:sp>
          <p:nvSpPr>
            <p:cNvPr id="127" name="Google Shape;127;p13"/>
            <p:cNvSpPr/>
            <p:nvPr/>
          </p:nvSpPr>
          <p:spPr>
            <a:xfrm>
              <a:off x="59978" y="421944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-54470" y="34743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338511" y="296715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338511" y="383087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" name="Google Shape;131;p13"/>
          <p:cNvGrpSpPr/>
          <p:nvPr/>
        </p:nvGrpSpPr>
        <p:grpSpPr>
          <a:xfrm>
            <a:off x="7524578" y="2640103"/>
            <a:ext cx="1523397" cy="2294040"/>
            <a:chOff x="7524578" y="2640103"/>
            <a:chExt cx="1523397" cy="2294040"/>
          </a:xfrm>
        </p:grpSpPr>
        <p:sp>
          <p:nvSpPr>
            <p:cNvPr id="132" name="Google Shape;132;p13"/>
            <p:cNvSpPr/>
            <p:nvPr/>
          </p:nvSpPr>
          <p:spPr>
            <a:xfrm>
              <a:off x="7524578" y="427404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8430905" y="425356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8478061" y="26401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8151036" y="37764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8579205" y="33075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" name="Google Shape;137;p13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3"/>
          <p:cNvSpPr txBox="1">
            <a:spLocks noGrp="1"/>
          </p:cNvSpPr>
          <p:nvPr>
            <p:ph type="title" idx="2" hasCustomPrompt="1"/>
          </p:nvPr>
        </p:nvSpPr>
        <p:spPr>
          <a:xfrm>
            <a:off x="1255644" y="1753825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39" name="Google Shape;139;p13"/>
          <p:cNvSpPr txBox="1">
            <a:spLocks noGrp="1"/>
          </p:cNvSpPr>
          <p:nvPr>
            <p:ph type="title" idx="3" hasCustomPrompt="1"/>
          </p:nvPr>
        </p:nvSpPr>
        <p:spPr>
          <a:xfrm>
            <a:off x="1255644" y="3258829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0" name="Google Shape;140;p13"/>
          <p:cNvSpPr txBox="1">
            <a:spLocks noGrp="1"/>
          </p:cNvSpPr>
          <p:nvPr>
            <p:ph type="title" idx="4" hasCustomPrompt="1"/>
          </p:nvPr>
        </p:nvSpPr>
        <p:spPr>
          <a:xfrm>
            <a:off x="4684638" y="1753829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1" name="Google Shape;141;p13"/>
          <p:cNvSpPr txBox="1">
            <a:spLocks noGrp="1"/>
          </p:cNvSpPr>
          <p:nvPr>
            <p:ph type="title" idx="5" hasCustomPrompt="1"/>
          </p:nvPr>
        </p:nvSpPr>
        <p:spPr>
          <a:xfrm>
            <a:off x="4684638" y="3258829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2" name="Google Shape;142;p13"/>
          <p:cNvSpPr txBox="1">
            <a:spLocks noGrp="1"/>
          </p:cNvSpPr>
          <p:nvPr>
            <p:ph type="subTitle" idx="1"/>
          </p:nvPr>
        </p:nvSpPr>
        <p:spPr>
          <a:xfrm>
            <a:off x="2307450" y="1753825"/>
            <a:ext cx="2151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subTitle" idx="6"/>
          </p:nvPr>
        </p:nvSpPr>
        <p:spPr>
          <a:xfrm>
            <a:off x="5736450" y="1753825"/>
            <a:ext cx="2151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subTitle" idx="7"/>
          </p:nvPr>
        </p:nvSpPr>
        <p:spPr>
          <a:xfrm>
            <a:off x="2307450" y="3258824"/>
            <a:ext cx="2151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5" name="Google Shape;145;p13"/>
          <p:cNvSpPr txBox="1">
            <a:spLocks noGrp="1"/>
          </p:cNvSpPr>
          <p:nvPr>
            <p:ph type="subTitle" idx="8"/>
          </p:nvPr>
        </p:nvSpPr>
        <p:spPr>
          <a:xfrm>
            <a:off x="5736450" y="3258824"/>
            <a:ext cx="2151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4_1_1_2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"/>
          <p:cNvSpPr/>
          <p:nvPr/>
        </p:nvSpPr>
        <p:spPr>
          <a:xfrm rot="1292342" flipH="1">
            <a:off x="-3321456" y="1927346"/>
            <a:ext cx="6095930" cy="3491359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4"/>
          <p:cNvSpPr/>
          <p:nvPr/>
        </p:nvSpPr>
        <p:spPr>
          <a:xfrm rot="4535783">
            <a:off x="6914450" y="2837966"/>
            <a:ext cx="3524110" cy="2396771"/>
          </a:xfrm>
          <a:custGeom>
            <a:avLst/>
            <a:gdLst/>
            <a:ahLst/>
            <a:cxnLst/>
            <a:rect l="l" t="t" r="r" b="b"/>
            <a:pathLst>
              <a:path w="20635" h="14034" extrusionOk="0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4B6EF8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" name="Google Shape;149;p14"/>
          <p:cNvGrpSpPr/>
          <p:nvPr/>
        </p:nvGrpSpPr>
        <p:grpSpPr>
          <a:xfrm rot="10800000">
            <a:off x="8514859" y="2937143"/>
            <a:ext cx="511267" cy="2017916"/>
            <a:chOff x="8552930" y="2910118"/>
            <a:chExt cx="511267" cy="2017916"/>
          </a:xfrm>
        </p:grpSpPr>
        <p:sp>
          <p:nvSpPr>
            <p:cNvPr id="150" name="Google Shape;150;p14"/>
            <p:cNvSpPr/>
            <p:nvPr/>
          </p:nvSpPr>
          <p:spPr>
            <a:xfrm>
              <a:off x="8737186" y="33506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8601061" y="4600990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8552930" y="29101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" name="Google Shape;153;p14"/>
          <p:cNvGrpSpPr/>
          <p:nvPr/>
        </p:nvGrpSpPr>
        <p:grpSpPr>
          <a:xfrm rot="7347507">
            <a:off x="134581" y="3888252"/>
            <a:ext cx="912282" cy="1615081"/>
            <a:chOff x="133086" y="3408328"/>
            <a:chExt cx="912262" cy="1615044"/>
          </a:xfrm>
        </p:grpSpPr>
        <p:sp>
          <p:nvSpPr>
            <p:cNvPr id="154" name="Google Shape;154;p14"/>
            <p:cNvSpPr/>
            <p:nvPr/>
          </p:nvSpPr>
          <p:spPr>
            <a:xfrm>
              <a:off x="265110" y="340832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385324" y="4098816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4"/>
            <p:cNvSpPr/>
            <p:nvPr/>
          </p:nvSpPr>
          <p:spPr>
            <a:xfrm>
              <a:off x="133086" y="46963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7" name="Google Shape;157;p14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114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>
                <a:solidFill>
                  <a:schemeClr val="dk1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>
                <a:solidFill>
                  <a:schemeClr val="dk1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>
                <a:solidFill>
                  <a:schemeClr val="dk1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>
                <a:solidFill>
                  <a:schemeClr val="dk1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>
                <a:solidFill>
                  <a:schemeClr val="dk1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>
                <a:solidFill>
                  <a:schemeClr val="dk1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>
                <a:solidFill>
                  <a:schemeClr val="dk1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oboto Condensed Light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_3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/>
          <p:nvPr/>
        </p:nvSpPr>
        <p:spPr>
          <a:xfrm flipH="1">
            <a:off x="-3429082" y="2598063"/>
            <a:ext cx="6095899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5"/>
          <p:cNvSpPr/>
          <p:nvPr/>
        </p:nvSpPr>
        <p:spPr>
          <a:xfrm rot="-542519">
            <a:off x="6823253" y="-353355"/>
            <a:ext cx="2625360" cy="1785525"/>
          </a:xfrm>
          <a:custGeom>
            <a:avLst/>
            <a:gdLst/>
            <a:ahLst/>
            <a:cxnLst/>
            <a:rect l="l" t="t" r="r" b="b"/>
            <a:pathLst>
              <a:path w="20635" h="14034" extrusionOk="0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4B6EF8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2" name="Google Shape;162;p15"/>
          <p:cNvGrpSpPr/>
          <p:nvPr/>
        </p:nvGrpSpPr>
        <p:grpSpPr>
          <a:xfrm>
            <a:off x="7560023" y="54840"/>
            <a:ext cx="1504175" cy="1244157"/>
            <a:chOff x="7560023" y="2814490"/>
            <a:chExt cx="1504175" cy="1244157"/>
          </a:xfrm>
        </p:grpSpPr>
        <p:sp>
          <p:nvSpPr>
            <p:cNvPr id="163" name="Google Shape;163;p15"/>
            <p:cNvSpPr/>
            <p:nvPr/>
          </p:nvSpPr>
          <p:spPr>
            <a:xfrm>
              <a:off x="7560023" y="281449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8737186" y="37316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8552936" y="342187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8552930" y="29101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" name="Google Shape;167;p15"/>
          <p:cNvGrpSpPr/>
          <p:nvPr/>
        </p:nvGrpSpPr>
        <p:grpSpPr>
          <a:xfrm>
            <a:off x="-33427" y="3476090"/>
            <a:ext cx="682702" cy="1547282"/>
            <a:chOff x="-33427" y="3476090"/>
            <a:chExt cx="682702" cy="1547282"/>
          </a:xfrm>
        </p:grpSpPr>
        <p:sp>
          <p:nvSpPr>
            <p:cNvPr id="168" name="Google Shape;168;p15"/>
            <p:cNvSpPr/>
            <p:nvPr/>
          </p:nvSpPr>
          <p:spPr>
            <a:xfrm>
              <a:off x="180505" y="4256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-33427" y="347609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133086" y="46963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" name="Google Shape;171;p15"/>
          <p:cNvSpPr txBox="1">
            <a:spLocks noGrp="1"/>
          </p:cNvSpPr>
          <p:nvPr>
            <p:ph type="title"/>
          </p:nvPr>
        </p:nvSpPr>
        <p:spPr>
          <a:xfrm>
            <a:off x="720075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5"/>
          <p:cNvSpPr txBox="1">
            <a:spLocks noGrp="1"/>
          </p:cNvSpPr>
          <p:nvPr>
            <p:ph type="subTitle" idx="1"/>
          </p:nvPr>
        </p:nvSpPr>
        <p:spPr>
          <a:xfrm>
            <a:off x="814550" y="2992900"/>
            <a:ext cx="2394900" cy="14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3" name="Google Shape;173;p15"/>
          <p:cNvSpPr txBox="1">
            <a:spLocks noGrp="1"/>
          </p:cNvSpPr>
          <p:nvPr>
            <p:ph type="subTitle" idx="2"/>
          </p:nvPr>
        </p:nvSpPr>
        <p:spPr>
          <a:xfrm>
            <a:off x="3374720" y="2992900"/>
            <a:ext cx="2394900" cy="14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4" name="Google Shape;174;p15"/>
          <p:cNvSpPr txBox="1">
            <a:spLocks noGrp="1"/>
          </p:cNvSpPr>
          <p:nvPr>
            <p:ph type="subTitle" idx="3"/>
          </p:nvPr>
        </p:nvSpPr>
        <p:spPr>
          <a:xfrm>
            <a:off x="5934871" y="2992900"/>
            <a:ext cx="2394900" cy="14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15"/>
          <p:cNvSpPr txBox="1">
            <a:spLocks noGrp="1"/>
          </p:cNvSpPr>
          <p:nvPr>
            <p:ph type="subTitle" idx="4"/>
          </p:nvPr>
        </p:nvSpPr>
        <p:spPr>
          <a:xfrm>
            <a:off x="814550" y="2674275"/>
            <a:ext cx="23949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176" name="Google Shape;176;p15"/>
          <p:cNvSpPr txBox="1">
            <a:spLocks noGrp="1"/>
          </p:cNvSpPr>
          <p:nvPr>
            <p:ph type="subTitle" idx="5"/>
          </p:nvPr>
        </p:nvSpPr>
        <p:spPr>
          <a:xfrm>
            <a:off x="3374721" y="2674275"/>
            <a:ext cx="23949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177" name="Google Shape;177;p15"/>
          <p:cNvSpPr txBox="1">
            <a:spLocks noGrp="1"/>
          </p:cNvSpPr>
          <p:nvPr>
            <p:ph type="subTitle" idx="6"/>
          </p:nvPr>
        </p:nvSpPr>
        <p:spPr>
          <a:xfrm>
            <a:off x="5934864" y="2674275"/>
            <a:ext cx="23949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/>
          <p:nvPr/>
        </p:nvSpPr>
        <p:spPr>
          <a:xfrm rot="4372063" flipH="1">
            <a:off x="-3257636" y="1228893"/>
            <a:ext cx="6095914" cy="3491344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6"/>
          <p:cNvSpPr/>
          <p:nvPr/>
        </p:nvSpPr>
        <p:spPr>
          <a:xfrm rot="5400000">
            <a:off x="6668857" y="3202942"/>
            <a:ext cx="3524097" cy="2396762"/>
          </a:xfrm>
          <a:custGeom>
            <a:avLst/>
            <a:gdLst/>
            <a:ahLst/>
            <a:cxnLst/>
            <a:rect l="l" t="t" r="r" b="b"/>
            <a:pathLst>
              <a:path w="20635" h="14034" extrusionOk="0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4B6EF8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1" name="Google Shape;181;p16"/>
          <p:cNvGrpSpPr/>
          <p:nvPr/>
        </p:nvGrpSpPr>
        <p:grpSpPr>
          <a:xfrm>
            <a:off x="8496523" y="2763543"/>
            <a:ext cx="660023" cy="2167591"/>
            <a:chOff x="8457298" y="2910118"/>
            <a:chExt cx="660023" cy="2167591"/>
          </a:xfrm>
        </p:grpSpPr>
        <p:sp>
          <p:nvSpPr>
            <p:cNvPr id="182" name="Google Shape;182;p16"/>
            <p:cNvSpPr/>
            <p:nvPr/>
          </p:nvSpPr>
          <p:spPr>
            <a:xfrm>
              <a:off x="8457298" y="405254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8737186" y="37316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8505186" y="4750665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8552930" y="29101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" name="Google Shape;186;p16"/>
          <p:cNvGrpSpPr/>
          <p:nvPr/>
        </p:nvGrpSpPr>
        <p:grpSpPr>
          <a:xfrm rot="-10548838">
            <a:off x="-121196" y="1001518"/>
            <a:ext cx="682748" cy="1547387"/>
            <a:chOff x="-33427" y="3476090"/>
            <a:chExt cx="682702" cy="1547282"/>
          </a:xfrm>
        </p:grpSpPr>
        <p:sp>
          <p:nvSpPr>
            <p:cNvPr id="187" name="Google Shape;187;p16"/>
            <p:cNvSpPr/>
            <p:nvPr/>
          </p:nvSpPr>
          <p:spPr>
            <a:xfrm>
              <a:off x="180505" y="4256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-33427" y="347609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133086" y="46963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0" name="Google Shape;190;p16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6"/>
          <p:cNvSpPr txBox="1">
            <a:spLocks noGrp="1"/>
          </p:cNvSpPr>
          <p:nvPr>
            <p:ph type="subTitle" idx="1"/>
          </p:nvPr>
        </p:nvSpPr>
        <p:spPr>
          <a:xfrm>
            <a:off x="3815975" y="1241705"/>
            <a:ext cx="44433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6"/>
          <p:cNvSpPr txBox="1">
            <a:spLocks noGrp="1"/>
          </p:cNvSpPr>
          <p:nvPr>
            <p:ph type="subTitle" idx="2"/>
          </p:nvPr>
        </p:nvSpPr>
        <p:spPr>
          <a:xfrm>
            <a:off x="3815984" y="2135039"/>
            <a:ext cx="44433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6"/>
          <p:cNvSpPr txBox="1">
            <a:spLocks noGrp="1"/>
          </p:cNvSpPr>
          <p:nvPr>
            <p:ph type="subTitle" idx="3"/>
          </p:nvPr>
        </p:nvSpPr>
        <p:spPr>
          <a:xfrm>
            <a:off x="3815984" y="3028372"/>
            <a:ext cx="44433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6"/>
          <p:cNvSpPr txBox="1">
            <a:spLocks noGrp="1"/>
          </p:cNvSpPr>
          <p:nvPr>
            <p:ph type="subTitle" idx="4"/>
          </p:nvPr>
        </p:nvSpPr>
        <p:spPr>
          <a:xfrm>
            <a:off x="3815984" y="3921705"/>
            <a:ext cx="44433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6"/>
          <p:cNvSpPr txBox="1">
            <a:spLocks noGrp="1"/>
          </p:cNvSpPr>
          <p:nvPr>
            <p:ph type="subTitle" idx="5"/>
          </p:nvPr>
        </p:nvSpPr>
        <p:spPr>
          <a:xfrm>
            <a:off x="1697075" y="1241705"/>
            <a:ext cx="21189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196" name="Google Shape;196;p16"/>
          <p:cNvSpPr txBox="1">
            <a:spLocks noGrp="1"/>
          </p:cNvSpPr>
          <p:nvPr>
            <p:ph type="subTitle" idx="6"/>
          </p:nvPr>
        </p:nvSpPr>
        <p:spPr>
          <a:xfrm>
            <a:off x="1697075" y="2135039"/>
            <a:ext cx="21189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197" name="Google Shape;197;p16"/>
          <p:cNvSpPr txBox="1">
            <a:spLocks noGrp="1"/>
          </p:cNvSpPr>
          <p:nvPr>
            <p:ph type="subTitle" idx="7"/>
          </p:nvPr>
        </p:nvSpPr>
        <p:spPr>
          <a:xfrm>
            <a:off x="1697075" y="3028372"/>
            <a:ext cx="21189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198" name="Google Shape;198;p16"/>
          <p:cNvSpPr txBox="1">
            <a:spLocks noGrp="1"/>
          </p:cNvSpPr>
          <p:nvPr>
            <p:ph type="subTitle" idx="8"/>
          </p:nvPr>
        </p:nvSpPr>
        <p:spPr>
          <a:xfrm>
            <a:off x="1697075" y="3921705"/>
            <a:ext cx="21189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"/>
          <p:cNvSpPr/>
          <p:nvPr/>
        </p:nvSpPr>
        <p:spPr>
          <a:xfrm rot="1292342" flipH="1">
            <a:off x="-2419456" y="2200421"/>
            <a:ext cx="6095930" cy="3491359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8"/>
          <p:cNvSpPr/>
          <p:nvPr/>
        </p:nvSpPr>
        <p:spPr>
          <a:xfrm rot="5400000">
            <a:off x="6537482" y="2747717"/>
            <a:ext cx="3524097" cy="2396762"/>
          </a:xfrm>
          <a:custGeom>
            <a:avLst/>
            <a:gdLst/>
            <a:ahLst/>
            <a:cxnLst/>
            <a:rect l="l" t="t" r="r" b="b"/>
            <a:pathLst>
              <a:path w="20635" h="14034" extrusionOk="0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4B6EF8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6" name="Google Shape;226;p18"/>
          <p:cNvGrpSpPr/>
          <p:nvPr/>
        </p:nvGrpSpPr>
        <p:grpSpPr>
          <a:xfrm>
            <a:off x="8209011" y="2860943"/>
            <a:ext cx="934985" cy="2170316"/>
            <a:chOff x="8220061" y="2910118"/>
            <a:chExt cx="934985" cy="2170316"/>
          </a:xfrm>
        </p:grpSpPr>
        <p:sp>
          <p:nvSpPr>
            <p:cNvPr id="227" name="Google Shape;227;p18"/>
            <p:cNvSpPr/>
            <p:nvPr/>
          </p:nvSpPr>
          <p:spPr>
            <a:xfrm>
              <a:off x="8495023" y="4363315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8737186" y="37316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8"/>
            <p:cNvSpPr/>
            <p:nvPr/>
          </p:nvSpPr>
          <p:spPr>
            <a:xfrm>
              <a:off x="8220061" y="4753390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8"/>
            <p:cNvSpPr/>
            <p:nvPr/>
          </p:nvSpPr>
          <p:spPr>
            <a:xfrm>
              <a:off x="8552930" y="29101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" name="Google Shape;231;p18"/>
          <p:cNvGrpSpPr/>
          <p:nvPr/>
        </p:nvGrpSpPr>
        <p:grpSpPr>
          <a:xfrm rot="7347507">
            <a:off x="371745" y="3666596"/>
            <a:ext cx="682717" cy="1547317"/>
            <a:chOff x="-33427" y="3476090"/>
            <a:chExt cx="682702" cy="1547282"/>
          </a:xfrm>
        </p:grpSpPr>
        <p:sp>
          <p:nvSpPr>
            <p:cNvPr id="232" name="Google Shape;232;p18"/>
            <p:cNvSpPr/>
            <p:nvPr/>
          </p:nvSpPr>
          <p:spPr>
            <a:xfrm>
              <a:off x="180505" y="4256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8"/>
            <p:cNvSpPr/>
            <p:nvPr/>
          </p:nvSpPr>
          <p:spPr>
            <a:xfrm>
              <a:off x="-33427" y="347609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8"/>
            <p:cNvSpPr/>
            <p:nvPr/>
          </p:nvSpPr>
          <p:spPr>
            <a:xfrm>
              <a:off x="133086" y="46963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5" name="Google Shape;235;p18"/>
          <p:cNvSpPr txBox="1">
            <a:spLocks noGrp="1"/>
          </p:cNvSpPr>
          <p:nvPr>
            <p:ph type="title" hasCustomPrompt="1"/>
          </p:nvPr>
        </p:nvSpPr>
        <p:spPr>
          <a:xfrm>
            <a:off x="2437775" y="704675"/>
            <a:ext cx="4268400" cy="64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6" name="Google Shape;236;p18"/>
          <p:cNvSpPr txBox="1">
            <a:spLocks noGrp="1"/>
          </p:cNvSpPr>
          <p:nvPr>
            <p:ph type="subTitle" idx="1"/>
          </p:nvPr>
        </p:nvSpPr>
        <p:spPr>
          <a:xfrm>
            <a:off x="2437775" y="1350176"/>
            <a:ext cx="4268400" cy="4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37" name="Google Shape;237;p18"/>
          <p:cNvSpPr txBox="1">
            <a:spLocks noGrp="1"/>
          </p:cNvSpPr>
          <p:nvPr>
            <p:ph type="title" idx="2" hasCustomPrompt="1"/>
          </p:nvPr>
        </p:nvSpPr>
        <p:spPr>
          <a:xfrm>
            <a:off x="2437775" y="2015963"/>
            <a:ext cx="4268400" cy="64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8" name="Google Shape;238;p18"/>
          <p:cNvSpPr txBox="1">
            <a:spLocks noGrp="1"/>
          </p:cNvSpPr>
          <p:nvPr>
            <p:ph type="subTitle" idx="3"/>
          </p:nvPr>
        </p:nvSpPr>
        <p:spPr>
          <a:xfrm>
            <a:off x="2437775" y="2660650"/>
            <a:ext cx="4268400" cy="4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39" name="Google Shape;239;p18"/>
          <p:cNvSpPr txBox="1">
            <a:spLocks noGrp="1"/>
          </p:cNvSpPr>
          <p:nvPr>
            <p:ph type="title" idx="4" hasCustomPrompt="1"/>
          </p:nvPr>
        </p:nvSpPr>
        <p:spPr>
          <a:xfrm>
            <a:off x="2437775" y="3327300"/>
            <a:ext cx="4268400" cy="64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0" name="Google Shape;240;p18"/>
          <p:cNvSpPr txBox="1">
            <a:spLocks noGrp="1"/>
          </p:cNvSpPr>
          <p:nvPr>
            <p:ph type="subTitle" idx="5"/>
          </p:nvPr>
        </p:nvSpPr>
        <p:spPr>
          <a:xfrm>
            <a:off x="2437775" y="3971075"/>
            <a:ext cx="4268400" cy="4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2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"/>
          <p:cNvSpPr/>
          <p:nvPr/>
        </p:nvSpPr>
        <p:spPr>
          <a:xfrm rot="4372063" flipH="1">
            <a:off x="-3257636" y="1228893"/>
            <a:ext cx="6095914" cy="3491344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9"/>
          <p:cNvSpPr/>
          <p:nvPr/>
        </p:nvSpPr>
        <p:spPr>
          <a:xfrm rot="5400000">
            <a:off x="6668857" y="3202942"/>
            <a:ext cx="3524097" cy="2396762"/>
          </a:xfrm>
          <a:custGeom>
            <a:avLst/>
            <a:gdLst/>
            <a:ahLst/>
            <a:cxnLst/>
            <a:rect l="l" t="t" r="r" b="b"/>
            <a:pathLst>
              <a:path w="20635" h="14034" extrusionOk="0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4B6EF8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4" name="Google Shape;244;p19"/>
          <p:cNvGrpSpPr/>
          <p:nvPr/>
        </p:nvGrpSpPr>
        <p:grpSpPr>
          <a:xfrm>
            <a:off x="8496523" y="2763543"/>
            <a:ext cx="660023" cy="2167591"/>
            <a:chOff x="8457298" y="2910118"/>
            <a:chExt cx="660023" cy="2167591"/>
          </a:xfrm>
        </p:grpSpPr>
        <p:sp>
          <p:nvSpPr>
            <p:cNvPr id="245" name="Google Shape;245;p19"/>
            <p:cNvSpPr/>
            <p:nvPr/>
          </p:nvSpPr>
          <p:spPr>
            <a:xfrm>
              <a:off x="8457298" y="405254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9"/>
            <p:cNvSpPr/>
            <p:nvPr/>
          </p:nvSpPr>
          <p:spPr>
            <a:xfrm>
              <a:off x="8737186" y="37316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8505186" y="4750665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8552930" y="29101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" name="Google Shape;249;p19"/>
          <p:cNvGrpSpPr/>
          <p:nvPr/>
        </p:nvGrpSpPr>
        <p:grpSpPr>
          <a:xfrm rot="-10548838">
            <a:off x="-121196" y="1001518"/>
            <a:ext cx="682748" cy="1547387"/>
            <a:chOff x="-33427" y="3476090"/>
            <a:chExt cx="682702" cy="1547282"/>
          </a:xfrm>
        </p:grpSpPr>
        <p:sp>
          <p:nvSpPr>
            <p:cNvPr id="250" name="Google Shape;250;p19"/>
            <p:cNvSpPr/>
            <p:nvPr/>
          </p:nvSpPr>
          <p:spPr>
            <a:xfrm>
              <a:off x="180505" y="4256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9"/>
            <p:cNvSpPr/>
            <p:nvPr/>
          </p:nvSpPr>
          <p:spPr>
            <a:xfrm>
              <a:off x="-33427" y="347609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133086" y="46963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" name="Google Shape;253;p19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2_1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20"/>
          <p:cNvSpPr/>
          <p:nvPr/>
        </p:nvSpPr>
        <p:spPr>
          <a:xfrm>
            <a:off x="5052478" y="3569975"/>
            <a:ext cx="5371040" cy="2068243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0"/>
          <p:cNvSpPr/>
          <p:nvPr/>
        </p:nvSpPr>
        <p:spPr>
          <a:xfrm rot="10644777">
            <a:off x="-1048849" y="-1303280"/>
            <a:ext cx="4634055" cy="2824556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8" name="Google Shape;258;p20"/>
          <p:cNvGrpSpPr/>
          <p:nvPr/>
        </p:nvGrpSpPr>
        <p:grpSpPr>
          <a:xfrm>
            <a:off x="-62147" y="4"/>
            <a:ext cx="1648457" cy="1491382"/>
            <a:chOff x="-62147" y="4"/>
            <a:chExt cx="1648457" cy="1491382"/>
          </a:xfrm>
        </p:grpSpPr>
        <p:sp>
          <p:nvSpPr>
            <p:cNvPr id="259" name="Google Shape;259;p20"/>
            <p:cNvSpPr/>
            <p:nvPr/>
          </p:nvSpPr>
          <p:spPr>
            <a:xfrm>
              <a:off x="187398" y="8360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0"/>
            <p:cNvSpPr/>
            <p:nvPr/>
          </p:nvSpPr>
          <p:spPr>
            <a:xfrm>
              <a:off x="53072" y="1253015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1259298" y="670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-62147" y="4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3" name="Google Shape;263;p20"/>
          <p:cNvGrpSpPr/>
          <p:nvPr/>
        </p:nvGrpSpPr>
        <p:grpSpPr>
          <a:xfrm>
            <a:off x="6635180" y="3519093"/>
            <a:ext cx="2455746" cy="1624395"/>
            <a:chOff x="6635180" y="3519093"/>
            <a:chExt cx="2455746" cy="1624395"/>
          </a:xfrm>
        </p:grpSpPr>
        <p:sp>
          <p:nvSpPr>
            <p:cNvPr id="264" name="Google Shape;264;p20"/>
            <p:cNvSpPr/>
            <p:nvPr/>
          </p:nvSpPr>
          <p:spPr>
            <a:xfrm>
              <a:off x="8430903" y="39439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0"/>
            <p:cNvSpPr/>
            <p:nvPr/>
          </p:nvSpPr>
          <p:spPr>
            <a:xfrm>
              <a:off x="8622155" y="35190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0"/>
            <p:cNvSpPr/>
            <p:nvPr/>
          </p:nvSpPr>
          <p:spPr>
            <a:xfrm>
              <a:off x="6635180" y="46746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0"/>
            <p:cNvSpPr/>
            <p:nvPr/>
          </p:nvSpPr>
          <p:spPr>
            <a:xfrm>
              <a:off x="8185647" y="4789915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"/>
          <p:cNvSpPr/>
          <p:nvPr/>
        </p:nvSpPr>
        <p:spPr>
          <a:xfrm>
            <a:off x="2718684" y="2188525"/>
            <a:ext cx="7138396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1"/>
          <p:cNvSpPr/>
          <p:nvPr/>
        </p:nvSpPr>
        <p:spPr>
          <a:xfrm>
            <a:off x="5510909" y="2530450"/>
            <a:ext cx="7138396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21"/>
          <p:cNvSpPr txBox="1">
            <a:spLocks noGrp="1"/>
          </p:cNvSpPr>
          <p:nvPr>
            <p:ph type="title"/>
          </p:nvPr>
        </p:nvSpPr>
        <p:spPr>
          <a:xfrm>
            <a:off x="713100" y="650000"/>
            <a:ext cx="3728700" cy="87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21"/>
          <p:cNvSpPr txBox="1">
            <a:spLocks noGrp="1"/>
          </p:cNvSpPr>
          <p:nvPr>
            <p:ph type="subTitle" idx="1"/>
          </p:nvPr>
        </p:nvSpPr>
        <p:spPr>
          <a:xfrm>
            <a:off x="713100" y="1523000"/>
            <a:ext cx="3728700" cy="13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713100" y="338545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CREDITS: This presentation template was created by </a:t>
            </a:r>
            <a:r>
              <a:rPr lang="en" sz="1000" b="1" u="sng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, and includes icons by </a:t>
            </a:r>
            <a:r>
              <a:rPr lang="en" sz="1000" b="1" u="sng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and infographics &amp; images by </a:t>
            </a:r>
            <a:r>
              <a:rPr lang="en" sz="1000" b="1" u="sng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u="sng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"/>
          <p:cNvSpPr/>
          <p:nvPr/>
        </p:nvSpPr>
        <p:spPr>
          <a:xfrm rot="-6125281">
            <a:off x="6780953" y="-507545"/>
            <a:ext cx="4634067" cy="2824557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2"/>
          <p:cNvSpPr/>
          <p:nvPr/>
        </p:nvSpPr>
        <p:spPr>
          <a:xfrm flipH="1">
            <a:off x="-1192290" y="3569975"/>
            <a:ext cx="5029983" cy="2068243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7" name="Google Shape;277;p22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278" name="Google Shape;278;p22"/>
            <p:cNvSpPr/>
            <p:nvPr/>
          </p:nvSpPr>
          <p:spPr>
            <a:xfrm>
              <a:off x="53078" y="35190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251230" y="46040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148697" y="43264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" name="Google Shape;281;p22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282" name="Google Shape;282;p22"/>
            <p:cNvSpPr/>
            <p:nvPr/>
          </p:nvSpPr>
          <p:spPr>
            <a:xfrm>
              <a:off x="8267398" y="11137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8534803" y="574679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7618822" y="111365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"/>
          <p:cNvSpPr/>
          <p:nvPr/>
        </p:nvSpPr>
        <p:spPr>
          <a:xfrm>
            <a:off x="4182350" y="2075876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3"/>
          <p:cNvSpPr/>
          <p:nvPr/>
        </p:nvSpPr>
        <p:spPr>
          <a:xfrm>
            <a:off x="5816848" y="3347141"/>
            <a:ext cx="4013990" cy="1875356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3"/>
          <p:cNvSpPr/>
          <p:nvPr/>
        </p:nvSpPr>
        <p:spPr>
          <a:xfrm rot="-9720741">
            <a:off x="-717073" y="-1675999"/>
            <a:ext cx="5728060" cy="3491392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9" name="Google Shape;289;p23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290" name="Google Shape;290;p23"/>
            <p:cNvSpPr/>
            <p:nvPr/>
          </p:nvSpPr>
          <p:spPr>
            <a:xfrm>
              <a:off x="531953" y="54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3"/>
            <p:cNvSpPr/>
            <p:nvPr/>
          </p:nvSpPr>
          <p:spPr>
            <a:xfrm>
              <a:off x="2311280" y="245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1841797" y="1642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2729973" y="542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2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4"/>
          <p:cNvSpPr/>
          <p:nvPr/>
        </p:nvSpPr>
        <p:spPr>
          <a:xfrm rot="1292342" flipH="1">
            <a:off x="-2419456" y="2200421"/>
            <a:ext cx="6095930" cy="3491359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4B6EF8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4"/>
          <p:cNvSpPr/>
          <p:nvPr/>
        </p:nvSpPr>
        <p:spPr>
          <a:xfrm rot="5400000">
            <a:off x="6537482" y="2747717"/>
            <a:ext cx="3524097" cy="2396762"/>
          </a:xfrm>
          <a:custGeom>
            <a:avLst/>
            <a:gdLst/>
            <a:ahLst/>
            <a:cxnLst/>
            <a:rect l="l" t="t" r="r" b="b"/>
            <a:pathLst>
              <a:path w="20635" h="14034" extrusionOk="0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4B6EF8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7" name="Google Shape;297;p24"/>
          <p:cNvGrpSpPr/>
          <p:nvPr/>
        </p:nvGrpSpPr>
        <p:grpSpPr>
          <a:xfrm>
            <a:off x="8209011" y="2860943"/>
            <a:ext cx="934985" cy="2170316"/>
            <a:chOff x="8220061" y="2910118"/>
            <a:chExt cx="934985" cy="2170316"/>
          </a:xfrm>
        </p:grpSpPr>
        <p:sp>
          <p:nvSpPr>
            <p:cNvPr id="298" name="Google Shape;298;p24"/>
            <p:cNvSpPr/>
            <p:nvPr/>
          </p:nvSpPr>
          <p:spPr>
            <a:xfrm>
              <a:off x="8495023" y="4363315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4"/>
            <p:cNvSpPr/>
            <p:nvPr/>
          </p:nvSpPr>
          <p:spPr>
            <a:xfrm>
              <a:off x="8737186" y="37316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4"/>
            <p:cNvSpPr/>
            <p:nvPr/>
          </p:nvSpPr>
          <p:spPr>
            <a:xfrm>
              <a:off x="8220061" y="4753390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4"/>
            <p:cNvSpPr/>
            <p:nvPr/>
          </p:nvSpPr>
          <p:spPr>
            <a:xfrm>
              <a:off x="8552930" y="29101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2" name="Google Shape;302;p24"/>
          <p:cNvGrpSpPr/>
          <p:nvPr/>
        </p:nvGrpSpPr>
        <p:grpSpPr>
          <a:xfrm rot="7347507">
            <a:off x="371745" y="3666596"/>
            <a:ext cx="682717" cy="1547317"/>
            <a:chOff x="-33427" y="3476090"/>
            <a:chExt cx="682702" cy="1547282"/>
          </a:xfrm>
        </p:grpSpPr>
        <p:sp>
          <p:nvSpPr>
            <p:cNvPr id="303" name="Google Shape;303;p24"/>
            <p:cNvSpPr/>
            <p:nvPr/>
          </p:nvSpPr>
          <p:spPr>
            <a:xfrm>
              <a:off x="180505" y="4256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4"/>
            <p:cNvSpPr/>
            <p:nvPr/>
          </p:nvSpPr>
          <p:spPr>
            <a:xfrm>
              <a:off x="-33427" y="347609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4"/>
            <p:cNvSpPr/>
            <p:nvPr/>
          </p:nvSpPr>
          <p:spPr>
            <a:xfrm>
              <a:off x="133086" y="46963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100000">
              <a:schemeClr val="accent1"/>
            </a:gs>
          </a:gsLst>
          <a:lin ang="2700006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pos="449">
          <p15:clr>
            <a:srgbClr val="EA4335"/>
          </p15:clr>
        </p15:guide>
        <p15:guide id="3" orient="horz" pos="2900">
          <p15:clr>
            <a:srgbClr val="EA4335"/>
          </p15:clr>
        </p15:guide>
        <p15:guide id="4" pos="5311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9"/>
          <p:cNvSpPr txBox="1">
            <a:spLocks noGrp="1"/>
          </p:cNvSpPr>
          <p:nvPr>
            <p:ph type="ctrTitle"/>
          </p:nvPr>
        </p:nvSpPr>
        <p:spPr>
          <a:xfrm>
            <a:off x="742948" y="1303745"/>
            <a:ext cx="8254093" cy="14667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4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Loan Risk &amp; Customer </a:t>
            </a:r>
            <a:r>
              <a:rPr lang="en-GB" sz="4000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Behavior</a:t>
            </a:r>
            <a:r>
              <a:rPr lang="en-GB" sz="4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Analysis</a:t>
            </a:r>
          </a:p>
        </p:txBody>
      </p:sp>
      <p:sp>
        <p:nvSpPr>
          <p:cNvPr id="367" name="Google Shape;367;p29"/>
          <p:cNvSpPr txBox="1">
            <a:spLocks noGrp="1"/>
          </p:cNvSpPr>
          <p:nvPr>
            <p:ph type="subTitle" idx="1"/>
          </p:nvPr>
        </p:nvSpPr>
        <p:spPr>
          <a:xfrm>
            <a:off x="742948" y="2770532"/>
            <a:ext cx="4890407" cy="5686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GB" dirty="0"/>
              <a:t>Data Analysis with Power BI Final Project</a:t>
            </a:r>
          </a:p>
          <a:p>
            <a:pPr algn="l"/>
            <a:endParaRPr lang="en-GB" dirty="0"/>
          </a:p>
          <a:p>
            <a:pPr algn="l"/>
            <a:r>
              <a:rPr lang="en-GB" b="1" dirty="0">
                <a:solidFill>
                  <a:schemeClr val="accent1">
                    <a:lumMod val="10000"/>
                    <a:lumOff val="90000"/>
                  </a:schemeClr>
                </a:solidFill>
              </a:rPr>
              <a:t>Digital Egypt Pioneers Initiative (DEPI)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5"/>
          <p:cNvSpPr txBox="1">
            <a:spLocks noGrp="1"/>
          </p:cNvSpPr>
          <p:nvPr>
            <p:ph type="title"/>
          </p:nvPr>
        </p:nvSpPr>
        <p:spPr>
          <a:xfrm>
            <a:off x="720075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Our Team &amp; Resource Allocation</a:t>
            </a:r>
            <a:endParaRPr dirty="0"/>
          </a:p>
        </p:txBody>
      </p:sp>
      <p:sp>
        <p:nvSpPr>
          <p:cNvPr id="478" name="Google Shape;478;p35"/>
          <p:cNvSpPr txBox="1">
            <a:spLocks noGrp="1"/>
          </p:cNvSpPr>
          <p:nvPr>
            <p:ph type="subTitle" idx="1"/>
          </p:nvPr>
        </p:nvSpPr>
        <p:spPr>
          <a:xfrm>
            <a:off x="814550" y="3795371"/>
            <a:ext cx="2394900" cy="65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400" dirty="0"/>
              <a:t>Mohamed Hany 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400" dirty="0" err="1"/>
              <a:t>Mrawan</a:t>
            </a:r>
            <a:r>
              <a:rPr lang="en-GB" sz="1400" dirty="0"/>
              <a:t> Said</a:t>
            </a:r>
            <a:endParaRPr sz="1400" dirty="0"/>
          </a:p>
        </p:txBody>
      </p:sp>
      <p:sp>
        <p:nvSpPr>
          <p:cNvPr id="479" name="Google Shape;479;p35"/>
          <p:cNvSpPr txBox="1">
            <a:spLocks noGrp="1"/>
          </p:cNvSpPr>
          <p:nvPr>
            <p:ph type="subTitle" idx="2"/>
          </p:nvPr>
        </p:nvSpPr>
        <p:spPr>
          <a:xfrm>
            <a:off x="3374707" y="3795368"/>
            <a:ext cx="2394900" cy="7263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400" dirty="0"/>
              <a:t>Malak Elsayed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400" dirty="0"/>
              <a:t>Shahd </a:t>
            </a:r>
            <a:r>
              <a:rPr lang="en-GB" sz="1400" dirty="0" err="1"/>
              <a:t>Fagelnour</a:t>
            </a:r>
            <a:endParaRPr sz="1400" dirty="0"/>
          </a:p>
        </p:txBody>
      </p:sp>
      <p:sp>
        <p:nvSpPr>
          <p:cNvPr id="480" name="Google Shape;480;p35"/>
          <p:cNvSpPr txBox="1">
            <a:spLocks noGrp="1"/>
          </p:cNvSpPr>
          <p:nvPr>
            <p:ph type="subTitle" idx="3"/>
          </p:nvPr>
        </p:nvSpPr>
        <p:spPr>
          <a:xfrm>
            <a:off x="5934871" y="3795369"/>
            <a:ext cx="2394900" cy="6501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400" dirty="0"/>
              <a:t>Sandra Bassem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400" dirty="0" err="1"/>
              <a:t>Logain</a:t>
            </a:r>
            <a:r>
              <a:rPr lang="en-GB" sz="1400" dirty="0"/>
              <a:t> Tamer</a:t>
            </a:r>
            <a:endParaRPr sz="1400" dirty="0"/>
          </a:p>
        </p:txBody>
      </p:sp>
      <p:sp>
        <p:nvSpPr>
          <p:cNvPr id="481" name="Google Shape;481;p35"/>
          <p:cNvSpPr txBox="1">
            <a:spLocks noGrp="1"/>
          </p:cNvSpPr>
          <p:nvPr>
            <p:ph type="subTitle" idx="4"/>
          </p:nvPr>
        </p:nvSpPr>
        <p:spPr>
          <a:xfrm>
            <a:off x="814550" y="2674275"/>
            <a:ext cx="2394587" cy="104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 dirty="0"/>
              <a:t>Data Cleaning &amp; Preprocessing</a:t>
            </a:r>
            <a:endParaRPr dirty="0"/>
          </a:p>
        </p:txBody>
      </p:sp>
      <p:sp>
        <p:nvSpPr>
          <p:cNvPr id="482" name="Google Shape;482;p35"/>
          <p:cNvSpPr txBox="1">
            <a:spLocks noGrp="1"/>
          </p:cNvSpPr>
          <p:nvPr>
            <p:ph type="subTitle" idx="5"/>
          </p:nvPr>
        </p:nvSpPr>
        <p:spPr>
          <a:xfrm>
            <a:off x="3374707" y="2674274"/>
            <a:ext cx="2394900" cy="10448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 dirty="0"/>
              <a:t>Data </a:t>
            </a:r>
            <a:r>
              <a:rPr lang="en-GB" dirty="0" err="1"/>
              <a:t>Modeling</a:t>
            </a:r>
            <a:r>
              <a:rPr lang="en-GB" dirty="0"/>
              <a:t> &amp; Schema Design</a:t>
            </a:r>
            <a:endParaRPr dirty="0"/>
          </a:p>
        </p:txBody>
      </p:sp>
      <p:sp>
        <p:nvSpPr>
          <p:cNvPr id="483" name="Google Shape;483;p35"/>
          <p:cNvSpPr txBox="1">
            <a:spLocks noGrp="1"/>
          </p:cNvSpPr>
          <p:nvPr>
            <p:ph type="subTitle" idx="6"/>
          </p:nvPr>
        </p:nvSpPr>
        <p:spPr>
          <a:xfrm>
            <a:off x="5934864" y="2674275"/>
            <a:ext cx="2394900" cy="104489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 dirty="0"/>
              <a:t>Data Visualization &amp; UI/UX Layout</a:t>
            </a:r>
            <a:endParaRPr dirty="0"/>
          </a:p>
        </p:txBody>
      </p:sp>
      <p:sp>
        <p:nvSpPr>
          <p:cNvPr id="484" name="Google Shape;484;p35"/>
          <p:cNvSpPr/>
          <p:nvPr/>
        </p:nvSpPr>
        <p:spPr>
          <a:xfrm>
            <a:off x="890744" y="1553179"/>
            <a:ext cx="1044900" cy="1044900"/>
          </a:xfrm>
          <a:prstGeom prst="ellipse">
            <a:avLst/>
          </a:prstGeom>
          <a:gradFill>
            <a:gsLst>
              <a:gs pos="0">
                <a:srgbClr val="E7ECFF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35"/>
          <p:cNvSpPr/>
          <p:nvPr/>
        </p:nvSpPr>
        <p:spPr>
          <a:xfrm>
            <a:off x="3450919" y="1553179"/>
            <a:ext cx="1044900" cy="1044900"/>
          </a:xfrm>
          <a:prstGeom prst="ellipse">
            <a:avLst/>
          </a:prstGeom>
          <a:gradFill>
            <a:gsLst>
              <a:gs pos="0">
                <a:srgbClr val="E7ECFF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5"/>
          <p:cNvSpPr/>
          <p:nvPr/>
        </p:nvSpPr>
        <p:spPr>
          <a:xfrm>
            <a:off x="5845819" y="1553179"/>
            <a:ext cx="1044900" cy="1044900"/>
          </a:xfrm>
          <a:prstGeom prst="ellipse">
            <a:avLst/>
          </a:prstGeom>
          <a:gradFill>
            <a:gsLst>
              <a:gs pos="0">
                <a:srgbClr val="E7ECFF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35"/>
          <p:cNvSpPr/>
          <p:nvPr/>
        </p:nvSpPr>
        <p:spPr>
          <a:xfrm>
            <a:off x="5736947" y="796365"/>
            <a:ext cx="238346" cy="238372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rgbClr val="FFFFFF">
                  <a:alpha val="50196"/>
                </a:srgbClr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8" name="Google Shape;488;p35"/>
          <p:cNvGrpSpPr/>
          <p:nvPr/>
        </p:nvGrpSpPr>
        <p:grpSpPr>
          <a:xfrm>
            <a:off x="6116380" y="1871694"/>
            <a:ext cx="487449" cy="430700"/>
            <a:chOff x="2544378" y="1577035"/>
            <a:chExt cx="487449" cy="430700"/>
          </a:xfrm>
          <a:solidFill>
            <a:schemeClr val="accent1"/>
          </a:solidFill>
        </p:grpSpPr>
        <p:sp>
          <p:nvSpPr>
            <p:cNvPr id="489" name="Google Shape;489;p35"/>
            <p:cNvSpPr/>
            <p:nvPr/>
          </p:nvSpPr>
          <p:spPr>
            <a:xfrm>
              <a:off x="2690137" y="1664129"/>
              <a:ext cx="196889" cy="142048"/>
            </a:xfrm>
            <a:custGeom>
              <a:avLst/>
              <a:gdLst/>
              <a:ahLst/>
              <a:cxnLst/>
              <a:rect l="l" t="t" r="r" b="b"/>
              <a:pathLst>
                <a:path w="1856" h="1339" extrusionOk="0">
                  <a:moveTo>
                    <a:pt x="928" y="1071"/>
                  </a:moveTo>
                  <a:cubicBezTo>
                    <a:pt x="705" y="1071"/>
                    <a:pt x="518" y="892"/>
                    <a:pt x="518" y="669"/>
                  </a:cubicBezTo>
                  <a:cubicBezTo>
                    <a:pt x="518" y="446"/>
                    <a:pt x="705" y="268"/>
                    <a:pt x="928" y="268"/>
                  </a:cubicBezTo>
                  <a:cubicBezTo>
                    <a:pt x="1151" y="268"/>
                    <a:pt x="1329" y="446"/>
                    <a:pt x="1329" y="669"/>
                  </a:cubicBezTo>
                  <a:cubicBezTo>
                    <a:pt x="1329" y="892"/>
                    <a:pt x="1151" y="1071"/>
                    <a:pt x="928" y="1071"/>
                  </a:cubicBezTo>
                  <a:close/>
                  <a:moveTo>
                    <a:pt x="928" y="0"/>
                  </a:moveTo>
                  <a:cubicBezTo>
                    <a:pt x="384" y="0"/>
                    <a:pt x="81" y="500"/>
                    <a:pt x="0" y="669"/>
                  </a:cubicBezTo>
                  <a:cubicBezTo>
                    <a:pt x="36" y="740"/>
                    <a:pt x="107" y="865"/>
                    <a:pt x="214" y="990"/>
                  </a:cubicBezTo>
                  <a:cubicBezTo>
                    <a:pt x="420" y="1222"/>
                    <a:pt x="660" y="1338"/>
                    <a:pt x="928" y="1338"/>
                  </a:cubicBezTo>
                  <a:cubicBezTo>
                    <a:pt x="1463" y="1338"/>
                    <a:pt x="1767" y="839"/>
                    <a:pt x="1856" y="669"/>
                  </a:cubicBezTo>
                  <a:cubicBezTo>
                    <a:pt x="1820" y="598"/>
                    <a:pt x="1749" y="473"/>
                    <a:pt x="1633" y="348"/>
                  </a:cubicBezTo>
                  <a:cubicBezTo>
                    <a:pt x="1428" y="116"/>
                    <a:pt x="1187" y="0"/>
                    <a:pt x="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5"/>
            <p:cNvSpPr/>
            <p:nvPr/>
          </p:nvSpPr>
          <p:spPr>
            <a:xfrm>
              <a:off x="2774367" y="1720884"/>
              <a:ext cx="28430" cy="28431"/>
            </a:xfrm>
            <a:custGeom>
              <a:avLst/>
              <a:gdLst/>
              <a:ahLst/>
              <a:cxnLst/>
              <a:rect l="l" t="t" r="r" b="b"/>
              <a:pathLst>
                <a:path w="268" h="268" extrusionOk="0">
                  <a:moveTo>
                    <a:pt x="134" y="0"/>
                  </a:moveTo>
                  <a:cubicBezTo>
                    <a:pt x="205" y="0"/>
                    <a:pt x="268" y="63"/>
                    <a:pt x="268" y="134"/>
                  </a:cubicBezTo>
                  <a:cubicBezTo>
                    <a:pt x="268" y="205"/>
                    <a:pt x="205" y="268"/>
                    <a:pt x="134" y="268"/>
                  </a:cubicBezTo>
                  <a:cubicBezTo>
                    <a:pt x="54" y="268"/>
                    <a:pt x="0" y="205"/>
                    <a:pt x="0" y="134"/>
                  </a:cubicBezTo>
                  <a:cubicBezTo>
                    <a:pt x="0" y="63"/>
                    <a:pt x="54" y="0"/>
                    <a:pt x="1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5"/>
            <p:cNvSpPr/>
            <p:nvPr/>
          </p:nvSpPr>
          <p:spPr>
            <a:xfrm>
              <a:off x="2544378" y="1577035"/>
              <a:ext cx="487449" cy="287809"/>
            </a:xfrm>
            <a:custGeom>
              <a:avLst/>
              <a:gdLst/>
              <a:ahLst/>
              <a:cxnLst/>
              <a:rect l="l" t="t" r="r" b="b"/>
              <a:pathLst>
                <a:path w="4595" h="2713" extrusionOk="0">
                  <a:moveTo>
                    <a:pt x="4051" y="830"/>
                  </a:moveTo>
                  <a:lnTo>
                    <a:pt x="3783" y="830"/>
                  </a:lnTo>
                  <a:lnTo>
                    <a:pt x="3783" y="562"/>
                  </a:lnTo>
                  <a:lnTo>
                    <a:pt x="4051" y="562"/>
                  </a:lnTo>
                  <a:close/>
                  <a:moveTo>
                    <a:pt x="4051" y="1365"/>
                  </a:moveTo>
                  <a:lnTo>
                    <a:pt x="3783" y="1365"/>
                  </a:lnTo>
                  <a:lnTo>
                    <a:pt x="3783" y="1098"/>
                  </a:lnTo>
                  <a:lnTo>
                    <a:pt x="4051" y="1098"/>
                  </a:lnTo>
                  <a:close/>
                  <a:moveTo>
                    <a:pt x="4051" y="1900"/>
                  </a:moveTo>
                  <a:lnTo>
                    <a:pt x="3783" y="1900"/>
                  </a:lnTo>
                  <a:lnTo>
                    <a:pt x="3783" y="1633"/>
                  </a:lnTo>
                  <a:lnTo>
                    <a:pt x="4051" y="1633"/>
                  </a:lnTo>
                  <a:close/>
                  <a:moveTo>
                    <a:pt x="4051" y="2445"/>
                  </a:moveTo>
                  <a:lnTo>
                    <a:pt x="3783" y="2445"/>
                  </a:lnTo>
                  <a:lnTo>
                    <a:pt x="3783" y="2177"/>
                  </a:lnTo>
                  <a:lnTo>
                    <a:pt x="4051" y="2177"/>
                  </a:lnTo>
                  <a:close/>
                  <a:moveTo>
                    <a:pt x="3497" y="1544"/>
                  </a:moveTo>
                  <a:cubicBezTo>
                    <a:pt x="3497" y="1553"/>
                    <a:pt x="3408" y="1767"/>
                    <a:pt x="3212" y="1981"/>
                  </a:cubicBezTo>
                  <a:cubicBezTo>
                    <a:pt x="2962" y="2275"/>
                    <a:pt x="2641" y="2436"/>
                    <a:pt x="2302" y="2436"/>
                  </a:cubicBezTo>
                  <a:cubicBezTo>
                    <a:pt x="1954" y="2436"/>
                    <a:pt x="1642" y="2275"/>
                    <a:pt x="1383" y="1981"/>
                  </a:cubicBezTo>
                  <a:cubicBezTo>
                    <a:pt x="1196" y="1767"/>
                    <a:pt x="1107" y="1553"/>
                    <a:pt x="1098" y="1544"/>
                  </a:cubicBezTo>
                  <a:lnTo>
                    <a:pt x="1080" y="1490"/>
                  </a:lnTo>
                  <a:lnTo>
                    <a:pt x="1098" y="1437"/>
                  </a:lnTo>
                  <a:cubicBezTo>
                    <a:pt x="1107" y="1428"/>
                    <a:pt x="1196" y="1214"/>
                    <a:pt x="1383" y="999"/>
                  </a:cubicBezTo>
                  <a:cubicBezTo>
                    <a:pt x="1642" y="705"/>
                    <a:pt x="1954" y="545"/>
                    <a:pt x="2302" y="545"/>
                  </a:cubicBezTo>
                  <a:cubicBezTo>
                    <a:pt x="2641" y="545"/>
                    <a:pt x="2962" y="705"/>
                    <a:pt x="3212" y="999"/>
                  </a:cubicBezTo>
                  <a:cubicBezTo>
                    <a:pt x="3408" y="1214"/>
                    <a:pt x="3497" y="1428"/>
                    <a:pt x="3497" y="1437"/>
                  </a:cubicBezTo>
                  <a:lnTo>
                    <a:pt x="3524" y="1490"/>
                  </a:lnTo>
                  <a:close/>
                  <a:moveTo>
                    <a:pt x="803" y="830"/>
                  </a:moveTo>
                  <a:lnTo>
                    <a:pt x="536" y="830"/>
                  </a:lnTo>
                  <a:lnTo>
                    <a:pt x="536" y="562"/>
                  </a:lnTo>
                  <a:lnTo>
                    <a:pt x="803" y="562"/>
                  </a:lnTo>
                  <a:close/>
                  <a:moveTo>
                    <a:pt x="803" y="1365"/>
                  </a:moveTo>
                  <a:lnTo>
                    <a:pt x="536" y="1365"/>
                  </a:lnTo>
                  <a:lnTo>
                    <a:pt x="536" y="1098"/>
                  </a:lnTo>
                  <a:lnTo>
                    <a:pt x="803" y="1098"/>
                  </a:lnTo>
                  <a:close/>
                  <a:moveTo>
                    <a:pt x="803" y="1900"/>
                  </a:moveTo>
                  <a:lnTo>
                    <a:pt x="536" y="1900"/>
                  </a:lnTo>
                  <a:lnTo>
                    <a:pt x="536" y="1633"/>
                  </a:lnTo>
                  <a:lnTo>
                    <a:pt x="803" y="1633"/>
                  </a:lnTo>
                  <a:close/>
                  <a:moveTo>
                    <a:pt x="803" y="2445"/>
                  </a:moveTo>
                  <a:lnTo>
                    <a:pt x="536" y="2445"/>
                  </a:lnTo>
                  <a:lnTo>
                    <a:pt x="536" y="2177"/>
                  </a:lnTo>
                  <a:lnTo>
                    <a:pt x="803" y="2177"/>
                  </a:lnTo>
                  <a:close/>
                  <a:moveTo>
                    <a:pt x="4595" y="0"/>
                  </a:moveTo>
                  <a:lnTo>
                    <a:pt x="0" y="0"/>
                  </a:lnTo>
                  <a:lnTo>
                    <a:pt x="0" y="2712"/>
                  </a:lnTo>
                  <a:lnTo>
                    <a:pt x="4595" y="27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5"/>
            <p:cNvSpPr/>
            <p:nvPr/>
          </p:nvSpPr>
          <p:spPr>
            <a:xfrm>
              <a:off x="2544378" y="1893057"/>
              <a:ext cx="487449" cy="114678"/>
            </a:xfrm>
            <a:custGeom>
              <a:avLst/>
              <a:gdLst/>
              <a:ahLst/>
              <a:cxnLst/>
              <a:rect l="l" t="t" r="r" b="b"/>
              <a:pathLst>
                <a:path w="4595" h="1081" extrusionOk="0">
                  <a:moveTo>
                    <a:pt x="0" y="1"/>
                  </a:moveTo>
                  <a:lnTo>
                    <a:pt x="0" y="536"/>
                  </a:lnTo>
                  <a:lnTo>
                    <a:pt x="1758" y="536"/>
                  </a:lnTo>
                  <a:lnTo>
                    <a:pt x="1758" y="813"/>
                  </a:lnTo>
                  <a:lnTo>
                    <a:pt x="536" y="813"/>
                  </a:lnTo>
                  <a:lnTo>
                    <a:pt x="536" y="1080"/>
                  </a:lnTo>
                  <a:lnTo>
                    <a:pt x="4051" y="1080"/>
                  </a:lnTo>
                  <a:lnTo>
                    <a:pt x="4051" y="813"/>
                  </a:lnTo>
                  <a:lnTo>
                    <a:pt x="2837" y="813"/>
                  </a:lnTo>
                  <a:lnTo>
                    <a:pt x="2837" y="536"/>
                  </a:lnTo>
                  <a:lnTo>
                    <a:pt x="4595" y="536"/>
                  </a:lnTo>
                  <a:lnTo>
                    <a:pt x="45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35"/>
          <p:cNvGrpSpPr/>
          <p:nvPr/>
        </p:nvGrpSpPr>
        <p:grpSpPr>
          <a:xfrm>
            <a:off x="3729595" y="1831417"/>
            <a:ext cx="487555" cy="487461"/>
            <a:chOff x="3257895" y="1548605"/>
            <a:chExt cx="487555" cy="487461"/>
          </a:xfrm>
          <a:solidFill>
            <a:schemeClr val="accent1"/>
          </a:solidFill>
        </p:grpSpPr>
        <p:sp>
          <p:nvSpPr>
            <p:cNvPr id="494" name="Google Shape;494;p35"/>
            <p:cNvSpPr/>
            <p:nvPr/>
          </p:nvSpPr>
          <p:spPr>
            <a:xfrm>
              <a:off x="3516314" y="1721839"/>
              <a:ext cx="43600" cy="141093"/>
            </a:xfrm>
            <a:custGeom>
              <a:avLst/>
              <a:gdLst/>
              <a:ahLst/>
              <a:cxnLst/>
              <a:rect l="l" t="t" r="r" b="b"/>
              <a:pathLst>
                <a:path w="411" h="1330" extrusionOk="0">
                  <a:moveTo>
                    <a:pt x="0" y="0"/>
                  </a:moveTo>
                  <a:lnTo>
                    <a:pt x="0" y="1329"/>
                  </a:lnTo>
                  <a:cubicBezTo>
                    <a:pt x="232" y="1267"/>
                    <a:pt x="411" y="1053"/>
                    <a:pt x="411" y="794"/>
                  </a:cubicBezTo>
                  <a:lnTo>
                    <a:pt x="411" y="527"/>
                  </a:lnTo>
                  <a:cubicBezTo>
                    <a:pt x="411" y="268"/>
                    <a:pt x="232" y="5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5"/>
            <p:cNvSpPr/>
            <p:nvPr/>
          </p:nvSpPr>
          <p:spPr>
            <a:xfrm>
              <a:off x="3443434" y="1721839"/>
              <a:ext cx="44555" cy="141093"/>
            </a:xfrm>
            <a:custGeom>
              <a:avLst/>
              <a:gdLst/>
              <a:ahLst/>
              <a:cxnLst/>
              <a:rect l="l" t="t" r="r" b="b"/>
              <a:pathLst>
                <a:path w="420" h="1330" extrusionOk="0">
                  <a:moveTo>
                    <a:pt x="420" y="0"/>
                  </a:moveTo>
                  <a:cubicBezTo>
                    <a:pt x="179" y="54"/>
                    <a:pt x="0" y="268"/>
                    <a:pt x="0" y="527"/>
                  </a:cubicBezTo>
                  <a:lnTo>
                    <a:pt x="0" y="794"/>
                  </a:lnTo>
                  <a:cubicBezTo>
                    <a:pt x="0" y="1053"/>
                    <a:pt x="179" y="1267"/>
                    <a:pt x="420" y="13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5"/>
            <p:cNvSpPr/>
            <p:nvPr/>
          </p:nvSpPr>
          <p:spPr>
            <a:xfrm>
              <a:off x="3372465" y="1662220"/>
              <a:ext cx="258417" cy="259378"/>
            </a:xfrm>
            <a:custGeom>
              <a:avLst/>
              <a:gdLst/>
              <a:ahLst/>
              <a:cxnLst/>
              <a:rect l="l" t="t" r="r" b="b"/>
              <a:pathLst>
                <a:path w="2436" h="2445" extrusionOk="0">
                  <a:moveTo>
                    <a:pt x="2034" y="1356"/>
                  </a:moveTo>
                  <a:cubicBezTo>
                    <a:pt x="2034" y="1820"/>
                    <a:pt x="1651" y="2186"/>
                    <a:pt x="1187" y="2177"/>
                  </a:cubicBezTo>
                  <a:cubicBezTo>
                    <a:pt x="750" y="2159"/>
                    <a:pt x="402" y="1784"/>
                    <a:pt x="402" y="1347"/>
                  </a:cubicBezTo>
                  <a:lnTo>
                    <a:pt x="402" y="1097"/>
                  </a:lnTo>
                  <a:cubicBezTo>
                    <a:pt x="402" y="660"/>
                    <a:pt x="750" y="286"/>
                    <a:pt x="1187" y="277"/>
                  </a:cubicBezTo>
                  <a:cubicBezTo>
                    <a:pt x="1651" y="259"/>
                    <a:pt x="2034" y="625"/>
                    <a:pt x="2034" y="1089"/>
                  </a:cubicBezTo>
                  <a:close/>
                  <a:moveTo>
                    <a:pt x="1222" y="0"/>
                  </a:moveTo>
                  <a:cubicBezTo>
                    <a:pt x="544" y="0"/>
                    <a:pt x="0" y="553"/>
                    <a:pt x="0" y="1222"/>
                  </a:cubicBezTo>
                  <a:cubicBezTo>
                    <a:pt x="0" y="1891"/>
                    <a:pt x="544" y="2445"/>
                    <a:pt x="1222" y="2445"/>
                  </a:cubicBezTo>
                  <a:cubicBezTo>
                    <a:pt x="1892" y="2445"/>
                    <a:pt x="2436" y="1891"/>
                    <a:pt x="2436" y="1222"/>
                  </a:cubicBezTo>
                  <a:cubicBezTo>
                    <a:pt x="2436" y="553"/>
                    <a:pt x="1892" y="0"/>
                    <a:pt x="12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5"/>
            <p:cNvSpPr/>
            <p:nvPr/>
          </p:nvSpPr>
          <p:spPr>
            <a:xfrm>
              <a:off x="3257895" y="1548605"/>
              <a:ext cx="487555" cy="487461"/>
            </a:xfrm>
            <a:custGeom>
              <a:avLst/>
              <a:gdLst/>
              <a:ahLst/>
              <a:cxnLst/>
              <a:rect l="l" t="t" r="r" b="b"/>
              <a:pathLst>
                <a:path w="4596" h="4595" extrusionOk="0">
                  <a:moveTo>
                    <a:pt x="2302" y="3783"/>
                  </a:moveTo>
                  <a:cubicBezTo>
                    <a:pt x="1482" y="3783"/>
                    <a:pt x="813" y="3114"/>
                    <a:pt x="813" y="2293"/>
                  </a:cubicBezTo>
                  <a:cubicBezTo>
                    <a:pt x="813" y="1473"/>
                    <a:pt x="1482" y="804"/>
                    <a:pt x="2302" y="804"/>
                  </a:cubicBezTo>
                  <a:cubicBezTo>
                    <a:pt x="3123" y="804"/>
                    <a:pt x="3783" y="1473"/>
                    <a:pt x="3783" y="2293"/>
                  </a:cubicBezTo>
                  <a:cubicBezTo>
                    <a:pt x="3783" y="3114"/>
                    <a:pt x="3123" y="3783"/>
                    <a:pt x="2302" y="3783"/>
                  </a:cubicBezTo>
                  <a:close/>
                  <a:moveTo>
                    <a:pt x="4595" y="2802"/>
                  </a:moveTo>
                  <a:lnTo>
                    <a:pt x="4595" y="1785"/>
                  </a:lnTo>
                  <a:lnTo>
                    <a:pt x="4238" y="1696"/>
                  </a:lnTo>
                  <a:cubicBezTo>
                    <a:pt x="4203" y="1580"/>
                    <a:pt x="4149" y="1464"/>
                    <a:pt x="4096" y="1348"/>
                  </a:cubicBezTo>
                  <a:lnTo>
                    <a:pt x="4283" y="1036"/>
                  </a:lnTo>
                  <a:lnTo>
                    <a:pt x="3560" y="313"/>
                  </a:lnTo>
                  <a:lnTo>
                    <a:pt x="3248" y="509"/>
                  </a:lnTo>
                  <a:cubicBezTo>
                    <a:pt x="3132" y="447"/>
                    <a:pt x="3016" y="393"/>
                    <a:pt x="2900" y="358"/>
                  </a:cubicBezTo>
                  <a:lnTo>
                    <a:pt x="2811" y="1"/>
                  </a:lnTo>
                  <a:lnTo>
                    <a:pt x="1794" y="1"/>
                  </a:lnTo>
                  <a:lnTo>
                    <a:pt x="1705" y="358"/>
                  </a:lnTo>
                  <a:cubicBezTo>
                    <a:pt x="1580" y="393"/>
                    <a:pt x="1464" y="447"/>
                    <a:pt x="1357" y="509"/>
                  </a:cubicBezTo>
                  <a:lnTo>
                    <a:pt x="1036" y="313"/>
                  </a:lnTo>
                  <a:lnTo>
                    <a:pt x="313" y="1036"/>
                  </a:lnTo>
                  <a:lnTo>
                    <a:pt x="509" y="1348"/>
                  </a:lnTo>
                  <a:cubicBezTo>
                    <a:pt x="447" y="1464"/>
                    <a:pt x="402" y="1580"/>
                    <a:pt x="367" y="1696"/>
                  </a:cubicBezTo>
                  <a:lnTo>
                    <a:pt x="1" y="1785"/>
                  </a:lnTo>
                  <a:lnTo>
                    <a:pt x="1" y="2802"/>
                  </a:lnTo>
                  <a:lnTo>
                    <a:pt x="367" y="2891"/>
                  </a:lnTo>
                  <a:cubicBezTo>
                    <a:pt x="402" y="3016"/>
                    <a:pt x="447" y="3132"/>
                    <a:pt x="509" y="3248"/>
                  </a:cubicBezTo>
                  <a:lnTo>
                    <a:pt x="313" y="3560"/>
                  </a:lnTo>
                  <a:lnTo>
                    <a:pt x="1036" y="4283"/>
                  </a:lnTo>
                  <a:lnTo>
                    <a:pt x="1357" y="4087"/>
                  </a:lnTo>
                  <a:cubicBezTo>
                    <a:pt x="1464" y="4149"/>
                    <a:pt x="1580" y="4194"/>
                    <a:pt x="1705" y="4238"/>
                  </a:cubicBezTo>
                  <a:lnTo>
                    <a:pt x="1794" y="4595"/>
                  </a:lnTo>
                  <a:lnTo>
                    <a:pt x="2811" y="4595"/>
                  </a:lnTo>
                  <a:lnTo>
                    <a:pt x="2900" y="4238"/>
                  </a:lnTo>
                  <a:cubicBezTo>
                    <a:pt x="3016" y="4194"/>
                    <a:pt x="3132" y="4149"/>
                    <a:pt x="3248" y="4087"/>
                  </a:cubicBezTo>
                  <a:lnTo>
                    <a:pt x="3560" y="4283"/>
                  </a:lnTo>
                  <a:lnTo>
                    <a:pt x="4283" y="3560"/>
                  </a:lnTo>
                  <a:lnTo>
                    <a:pt x="4096" y="3248"/>
                  </a:lnTo>
                  <a:cubicBezTo>
                    <a:pt x="4149" y="3132"/>
                    <a:pt x="4203" y="3016"/>
                    <a:pt x="4238" y="290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" name="Google Shape;5044;p66">
            <a:extLst>
              <a:ext uri="{FF2B5EF4-FFF2-40B4-BE49-F238E27FC236}">
                <a16:creationId xmlns:a16="http://schemas.microsoft.com/office/drawing/2014/main" id="{94A4D4C4-EE82-3F98-EC17-FE38A379FAA9}"/>
              </a:ext>
            </a:extLst>
          </p:cNvPr>
          <p:cNvGrpSpPr/>
          <p:nvPr/>
        </p:nvGrpSpPr>
        <p:grpSpPr>
          <a:xfrm>
            <a:off x="1167494" y="1831417"/>
            <a:ext cx="496260" cy="447439"/>
            <a:chOff x="-47523400" y="3973950"/>
            <a:chExt cx="300100" cy="228425"/>
          </a:xfrm>
          <a:solidFill>
            <a:schemeClr val="accent1"/>
          </a:solidFill>
        </p:grpSpPr>
        <p:sp>
          <p:nvSpPr>
            <p:cNvPr id="10" name="Google Shape;5045;p66">
              <a:extLst>
                <a:ext uri="{FF2B5EF4-FFF2-40B4-BE49-F238E27FC236}">
                  <a16:creationId xmlns:a16="http://schemas.microsoft.com/office/drawing/2014/main" id="{D173F194-A72A-EC08-3BB8-347783590657}"/>
                </a:ext>
              </a:extLst>
            </p:cNvPr>
            <p:cNvSpPr/>
            <p:nvPr/>
          </p:nvSpPr>
          <p:spPr>
            <a:xfrm>
              <a:off x="-47417075" y="4061375"/>
              <a:ext cx="15775" cy="15775"/>
            </a:xfrm>
            <a:custGeom>
              <a:avLst/>
              <a:gdLst/>
              <a:ahLst/>
              <a:cxnLst/>
              <a:rect l="l" t="t" r="r" b="b"/>
              <a:pathLst>
                <a:path w="631" h="631" extrusionOk="0">
                  <a:moveTo>
                    <a:pt x="0" y="0"/>
                  </a:moveTo>
                  <a:lnTo>
                    <a:pt x="0" y="630"/>
                  </a:lnTo>
                  <a:cubicBezTo>
                    <a:pt x="284" y="536"/>
                    <a:pt x="504" y="315"/>
                    <a:pt x="6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5046;p66">
              <a:extLst>
                <a:ext uri="{FF2B5EF4-FFF2-40B4-BE49-F238E27FC236}">
                  <a16:creationId xmlns:a16="http://schemas.microsoft.com/office/drawing/2014/main" id="{0A54DB56-7EA8-07FD-B03F-F2592DE2AA8F}"/>
                </a:ext>
              </a:extLst>
            </p:cNvPr>
            <p:cNvSpPr/>
            <p:nvPr/>
          </p:nvSpPr>
          <p:spPr>
            <a:xfrm>
              <a:off x="-47417875" y="4061375"/>
              <a:ext cx="52800" cy="52775"/>
            </a:xfrm>
            <a:custGeom>
              <a:avLst/>
              <a:gdLst/>
              <a:ahLst/>
              <a:cxnLst/>
              <a:rect l="l" t="t" r="r" b="b"/>
              <a:pathLst>
                <a:path w="2112" h="2111" extrusionOk="0">
                  <a:moveTo>
                    <a:pt x="1356" y="0"/>
                  </a:moveTo>
                  <a:cubicBezTo>
                    <a:pt x="1261" y="693"/>
                    <a:pt x="694" y="1260"/>
                    <a:pt x="1" y="1386"/>
                  </a:cubicBezTo>
                  <a:lnTo>
                    <a:pt x="1" y="2111"/>
                  </a:lnTo>
                  <a:lnTo>
                    <a:pt x="2112" y="2111"/>
                  </a:lnTo>
                  <a:lnTo>
                    <a:pt x="21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047;p66">
              <a:extLst>
                <a:ext uri="{FF2B5EF4-FFF2-40B4-BE49-F238E27FC236}">
                  <a16:creationId xmlns:a16="http://schemas.microsoft.com/office/drawing/2014/main" id="{5B105AA5-845C-CB18-414F-C8811460879B}"/>
                </a:ext>
              </a:extLst>
            </p:cNvPr>
            <p:cNvSpPr/>
            <p:nvPr/>
          </p:nvSpPr>
          <p:spPr>
            <a:xfrm>
              <a:off x="-47453300" y="4026700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71" y="1"/>
                  </a:moveTo>
                  <a:cubicBezTo>
                    <a:pt x="473" y="1"/>
                    <a:pt x="0" y="473"/>
                    <a:pt x="0" y="1072"/>
                  </a:cubicBezTo>
                  <a:cubicBezTo>
                    <a:pt x="0" y="1545"/>
                    <a:pt x="284" y="1891"/>
                    <a:pt x="693" y="2049"/>
                  </a:cubicBezTo>
                  <a:lnTo>
                    <a:pt x="693" y="1072"/>
                  </a:lnTo>
                  <a:cubicBezTo>
                    <a:pt x="693" y="883"/>
                    <a:pt x="851" y="725"/>
                    <a:pt x="1071" y="725"/>
                  </a:cubicBezTo>
                  <a:lnTo>
                    <a:pt x="2048" y="725"/>
                  </a:lnTo>
                  <a:cubicBezTo>
                    <a:pt x="1922" y="284"/>
                    <a:pt x="151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048;p66">
              <a:extLst>
                <a:ext uri="{FF2B5EF4-FFF2-40B4-BE49-F238E27FC236}">
                  <a16:creationId xmlns:a16="http://schemas.microsoft.com/office/drawing/2014/main" id="{54D5D139-EC9F-75AB-5C44-89059849CA6D}"/>
                </a:ext>
              </a:extLst>
            </p:cNvPr>
            <p:cNvSpPr/>
            <p:nvPr/>
          </p:nvSpPr>
          <p:spPr>
            <a:xfrm>
              <a:off x="-47506875" y="3973950"/>
              <a:ext cx="264675" cy="174875"/>
            </a:xfrm>
            <a:custGeom>
              <a:avLst/>
              <a:gdLst/>
              <a:ahLst/>
              <a:cxnLst/>
              <a:rect l="l" t="t" r="r" b="b"/>
              <a:pathLst>
                <a:path w="10587" h="6995" extrusionOk="0">
                  <a:moveTo>
                    <a:pt x="8854" y="1418"/>
                  </a:moveTo>
                  <a:cubicBezTo>
                    <a:pt x="9074" y="1418"/>
                    <a:pt x="9232" y="1575"/>
                    <a:pt x="9232" y="1764"/>
                  </a:cubicBezTo>
                  <a:cubicBezTo>
                    <a:pt x="9232" y="1953"/>
                    <a:pt x="9074" y="2111"/>
                    <a:pt x="8854" y="2111"/>
                  </a:cubicBezTo>
                  <a:lnTo>
                    <a:pt x="7436" y="2111"/>
                  </a:lnTo>
                  <a:cubicBezTo>
                    <a:pt x="7247" y="2111"/>
                    <a:pt x="7089" y="1953"/>
                    <a:pt x="7089" y="1764"/>
                  </a:cubicBezTo>
                  <a:cubicBezTo>
                    <a:pt x="7089" y="1575"/>
                    <a:pt x="7247" y="1418"/>
                    <a:pt x="7436" y="1418"/>
                  </a:cubicBezTo>
                  <a:close/>
                  <a:moveTo>
                    <a:pt x="8854" y="2772"/>
                  </a:moveTo>
                  <a:cubicBezTo>
                    <a:pt x="9074" y="2772"/>
                    <a:pt x="9232" y="2930"/>
                    <a:pt x="9232" y="3151"/>
                  </a:cubicBezTo>
                  <a:cubicBezTo>
                    <a:pt x="9232" y="3340"/>
                    <a:pt x="9074" y="3497"/>
                    <a:pt x="8854" y="3497"/>
                  </a:cubicBezTo>
                  <a:lnTo>
                    <a:pt x="7436" y="3497"/>
                  </a:lnTo>
                  <a:cubicBezTo>
                    <a:pt x="7247" y="3497"/>
                    <a:pt x="7089" y="3340"/>
                    <a:pt x="7089" y="3151"/>
                  </a:cubicBezTo>
                  <a:cubicBezTo>
                    <a:pt x="7089" y="2930"/>
                    <a:pt x="7247" y="2772"/>
                    <a:pt x="7436" y="2772"/>
                  </a:cubicBezTo>
                  <a:close/>
                  <a:moveTo>
                    <a:pt x="8854" y="4190"/>
                  </a:moveTo>
                  <a:cubicBezTo>
                    <a:pt x="9074" y="4190"/>
                    <a:pt x="9232" y="4348"/>
                    <a:pt x="9232" y="4568"/>
                  </a:cubicBezTo>
                  <a:cubicBezTo>
                    <a:pt x="9232" y="4757"/>
                    <a:pt x="9074" y="4915"/>
                    <a:pt x="8854" y="4915"/>
                  </a:cubicBezTo>
                  <a:lnTo>
                    <a:pt x="7436" y="4915"/>
                  </a:lnTo>
                  <a:cubicBezTo>
                    <a:pt x="7247" y="4915"/>
                    <a:pt x="7089" y="4757"/>
                    <a:pt x="7089" y="4568"/>
                  </a:cubicBezTo>
                  <a:cubicBezTo>
                    <a:pt x="7089" y="4348"/>
                    <a:pt x="7247" y="4190"/>
                    <a:pt x="7436" y="4190"/>
                  </a:cubicBezTo>
                  <a:close/>
                  <a:moveTo>
                    <a:pt x="3246" y="1355"/>
                  </a:moveTo>
                  <a:cubicBezTo>
                    <a:pt x="4096" y="1355"/>
                    <a:pt x="4821" y="1953"/>
                    <a:pt x="4979" y="2772"/>
                  </a:cubicBezTo>
                  <a:lnTo>
                    <a:pt x="6081" y="2772"/>
                  </a:lnTo>
                  <a:cubicBezTo>
                    <a:pt x="6270" y="2772"/>
                    <a:pt x="6428" y="2930"/>
                    <a:pt x="6428" y="3151"/>
                  </a:cubicBezTo>
                  <a:lnTo>
                    <a:pt x="6428" y="5986"/>
                  </a:lnTo>
                  <a:lnTo>
                    <a:pt x="6396" y="5986"/>
                  </a:lnTo>
                  <a:cubicBezTo>
                    <a:pt x="6396" y="6175"/>
                    <a:pt x="6239" y="6333"/>
                    <a:pt x="6018" y="6333"/>
                  </a:cubicBezTo>
                  <a:lnTo>
                    <a:pt x="3246" y="6333"/>
                  </a:lnTo>
                  <a:cubicBezTo>
                    <a:pt x="3025" y="6333"/>
                    <a:pt x="2868" y="6175"/>
                    <a:pt x="2868" y="5986"/>
                  </a:cubicBezTo>
                  <a:lnTo>
                    <a:pt x="2868" y="4883"/>
                  </a:lnTo>
                  <a:cubicBezTo>
                    <a:pt x="2080" y="4726"/>
                    <a:pt x="1450" y="4001"/>
                    <a:pt x="1450" y="3151"/>
                  </a:cubicBezTo>
                  <a:cubicBezTo>
                    <a:pt x="1450" y="2142"/>
                    <a:pt x="2238" y="1355"/>
                    <a:pt x="3246" y="1355"/>
                  </a:cubicBezTo>
                  <a:close/>
                  <a:moveTo>
                    <a:pt x="8854" y="5608"/>
                  </a:moveTo>
                  <a:cubicBezTo>
                    <a:pt x="9074" y="5608"/>
                    <a:pt x="9232" y="5765"/>
                    <a:pt x="9232" y="5986"/>
                  </a:cubicBezTo>
                  <a:cubicBezTo>
                    <a:pt x="9232" y="6175"/>
                    <a:pt x="9074" y="6333"/>
                    <a:pt x="8854" y="6333"/>
                  </a:cubicBezTo>
                  <a:lnTo>
                    <a:pt x="7436" y="6333"/>
                  </a:lnTo>
                  <a:cubicBezTo>
                    <a:pt x="7247" y="6333"/>
                    <a:pt x="7089" y="6175"/>
                    <a:pt x="7089" y="5986"/>
                  </a:cubicBezTo>
                  <a:cubicBezTo>
                    <a:pt x="7089" y="5765"/>
                    <a:pt x="7247" y="5608"/>
                    <a:pt x="7436" y="5608"/>
                  </a:cubicBez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6994"/>
                  </a:lnTo>
                  <a:lnTo>
                    <a:pt x="10586" y="6994"/>
                  </a:lnTo>
                  <a:lnTo>
                    <a:pt x="10586" y="347"/>
                  </a:lnTo>
                  <a:cubicBezTo>
                    <a:pt x="10586" y="158"/>
                    <a:pt x="10429" y="0"/>
                    <a:pt x="10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049;p66">
              <a:extLst>
                <a:ext uri="{FF2B5EF4-FFF2-40B4-BE49-F238E27FC236}">
                  <a16:creationId xmlns:a16="http://schemas.microsoft.com/office/drawing/2014/main" id="{19930B65-B139-2007-CD81-1088B963E53A}"/>
                </a:ext>
              </a:extLst>
            </p:cNvPr>
            <p:cNvSpPr/>
            <p:nvPr/>
          </p:nvSpPr>
          <p:spPr>
            <a:xfrm>
              <a:off x="-47523400" y="4166900"/>
              <a:ext cx="300100" cy="35475"/>
            </a:xfrm>
            <a:custGeom>
              <a:avLst/>
              <a:gdLst/>
              <a:ahLst/>
              <a:cxnLst/>
              <a:rect l="l" t="t" r="r" b="b"/>
              <a:pathLst>
                <a:path w="12004" h="1419" extrusionOk="0">
                  <a:moveTo>
                    <a:pt x="0" y="1"/>
                  </a:moveTo>
                  <a:lnTo>
                    <a:pt x="0" y="1040"/>
                  </a:lnTo>
                  <a:cubicBezTo>
                    <a:pt x="0" y="1261"/>
                    <a:pt x="158" y="1418"/>
                    <a:pt x="347" y="1418"/>
                  </a:cubicBezTo>
                  <a:lnTo>
                    <a:pt x="11657" y="1418"/>
                  </a:lnTo>
                  <a:cubicBezTo>
                    <a:pt x="11846" y="1418"/>
                    <a:pt x="12004" y="1261"/>
                    <a:pt x="12004" y="1040"/>
                  </a:cubicBezTo>
                  <a:lnTo>
                    <a:pt x="120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33;p43">
            <a:extLst>
              <a:ext uri="{FF2B5EF4-FFF2-40B4-BE49-F238E27FC236}">
                <a16:creationId xmlns:a16="http://schemas.microsoft.com/office/drawing/2014/main" id="{7773D948-A06C-533E-BA81-15A6F4E2FC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6354" y="354121"/>
            <a:ext cx="7704000" cy="7641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Project Proposal &amp; Approach</a:t>
            </a:r>
          </a:p>
        </p:txBody>
      </p:sp>
      <p:sp>
        <p:nvSpPr>
          <p:cNvPr id="7" name="Google Shape;399;p32">
            <a:extLst>
              <a:ext uri="{FF2B5EF4-FFF2-40B4-BE49-F238E27FC236}">
                <a16:creationId xmlns:a16="http://schemas.microsoft.com/office/drawing/2014/main" id="{AC412652-F0DC-D1BE-9F3F-ED6F8BBC1BC6}"/>
              </a:ext>
            </a:extLst>
          </p:cNvPr>
          <p:cNvSpPr txBox="1">
            <a:spLocks/>
          </p:cNvSpPr>
          <p:nvPr/>
        </p:nvSpPr>
        <p:spPr>
          <a:xfrm>
            <a:off x="5314950" y="1325819"/>
            <a:ext cx="3438874" cy="31727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b="1" dirty="0">
                <a:solidFill>
                  <a:schemeClr val="dk1"/>
                </a:solidFill>
                <a:latin typeface="Maven Pro" panose="020B0604020202020204" charset="0"/>
              </a:rPr>
              <a:t>Core Objective: </a:t>
            </a:r>
            <a:r>
              <a:rPr lang="en-GB" dirty="0">
                <a:solidFill>
                  <a:schemeClr val="dk1"/>
                </a:solidFill>
                <a:latin typeface="Maven Pro" panose="020B0604020202020204" charset="0"/>
              </a:rPr>
              <a:t>To </a:t>
            </a:r>
            <a:r>
              <a:rPr lang="en-GB" dirty="0" err="1">
                <a:solidFill>
                  <a:schemeClr val="dk1"/>
                </a:solidFill>
                <a:latin typeface="Maven Pro" panose="020B0604020202020204" charset="0"/>
              </a:rPr>
              <a:t>analyze</a:t>
            </a:r>
            <a:r>
              <a:rPr lang="en-GB" dirty="0">
                <a:solidFill>
                  <a:schemeClr val="dk1"/>
                </a:solidFill>
                <a:latin typeface="Maven Pro" panose="020B0604020202020204" charset="0"/>
              </a:rPr>
              <a:t> loan risk and customer </a:t>
            </a:r>
            <a:r>
              <a:rPr lang="en-GB" dirty="0" err="1">
                <a:solidFill>
                  <a:schemeClr val="dk1"/>
                </a:solidFill>
                <a:latin typeface="Maven Pro" panose="020B0604020202020204" charset="0"/>
              </a:rPr>
              <a:t>behavior</a:t>
            </a:r>
            <a:r>
              <a:rPr lang="en-GB" dirty="0">
                <a:solidFill>
                  <a:schemeClr val="dk1"/>
                </a:solidFill>
                <a:latin typeface="Maven Pro" panose="020B0604020202020204" charset="0"/>
              </a:rPr>
              <a:t> related to loan acquisition, exploring the underlying reasons driving financial decisions.</a:t>
            </a:r>
          </a:p>
          <a:p>
            <a:endParaRPr lang="en-GB" b="1" dirty="0">
              <a:solidFill>
                <a:schemeClr val="dk1"/>
              </a:solidFill>
              <a:latin typeface="Maven Pro" panose="020B0604020202020204" charset="0"/>
            </a:endParaRPr>
          </a:p>
          <a:p>
            <a:r>
              <a:rPr lang="en-GB" b="1" dirty="0">
                <a:solidFill>
                  <a:schemeClr val="dk1"/>
                </a:solidFill>
                <a:latin typeface="Maven Pro" panose="020B0604020202020204" charset="0"/>
              </a:rPr>
              <a:t>The Purpose: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dk1"/>
                </a:solidFill>
                <a:latin typeface="Maven Pro" panose="020B0604020202020204" charset="0"/>
              </a:rPr>
              <a:t>Extract meaningful, data-driven insights.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dk1"/>
                </a:solidFill>
                <a:latin typeface="Maven Pro" panose="020B0604020202020204" charset="0"/>
              </a:rPr>
              <a:t>Empower the bank to systematically identify high-risk or unreliable customers.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dk1"/>
                </a:solidFill>
                <a:latin typeface="Maven Pro" panose="020B0604020202020204" charset="0"/>
              </a:rPr>
              <a:t>Structurally improve financial decision-making and minimize credit losses across the portfolio.</a:t>
            </a:r>
            <a:endParaRPr lang="en-GB" sz="1600" dirty="0">
              <a:solidFill>
                <a:schemeClr val="dk1"/>
              </a:solidFill>
              <a:latin typeface="Maven Pro" panose="020B060402020202020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7D70EC-F511-4890-D8EF-D3560C6D9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-257175" y="906383"/>
            <a:ext cx="5853794" cy="39025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4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Data Origins &amp; Key Beneficiaries</a:t>
            </a:r>
            <a:endParaRPr dirty="0"/>
          </a:p>
        </p:txBody>
      </p:sp>
      <p:sp>
        <p:nvSpPr>
          <p:cNvPr id="458" name="Google Shape;458;p34"/>
          <p:cNvSpPr txBox="1">
            <a:spLocks noGrp="1"/>
          </p:cNvSpPr>
          <p:nvPr>
            <p:ph type="subTitle" idx="1"/>
          </p:nvPr>
        </p:nvSpPr>
        <p:spPr>
          <a:xfrm>
            <a:off x="5327528" y="3588887"/>
            <a:ext cx="2510101" cy="9081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Audit macro-level risk exposure and assess portfolio stability prior to capital allocation.</a:t>
            </a:r>
            <a:endParaRPr dirty="0"/>
          </a:p>
        </p:txBody>
      </p:sp>
      <p:sp>
        <p:nvSpPr>
          <p:cNvPr id="459" name="Google Shape;459;p34"/>
          <p:cNvSpPr txBox="1">
            <a:spLocks noGrp="1"/>
          </p:cNvSpPr>
          <p:nvPr>
            <p:ph type="subTitle" idx="2"/>
          </p:nvPr>
        </p:nvSpPr>
        <p:spPr>
          <a:xfrm>
            <a:off x="1762953" y="3588887"/>
            <a:ext cx="2443804" cy="13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Utilize the models to objectively evaluate loan applications, lower default rates, and establish optimized lending governance.</a:t>
            </a:r>
            <a:endParaRPr dirty="0"/>
          </a:p>
        </p:txBody>
      </p:sp>
      <p:sp>
        <p:nvSpPr>
          <p:cNvPr id="460" name="Google Shape;460;p34"/>
          <p:cNvSpPr txBox="1">
            <a:spLocks noGrp="1"/>
          </p:cNvSpPr>
          <p:nvPr>
            <p:ph type="subTitle" idx="3"/>
          </p:nvPr>
        </p:nvSpPr>
        <p:spPr>
          <a:xfrm>
            <a:off x="1762954" y="2943188"/>
            <a:ext cx="1755854" cy="73327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 dirty="0"/>
              <a:t>Primary (Lenders)</a:t>
            </a:r>
            <a:endParaRPr dirty="0"/>
          </a:p>
        </p:txBody>
      </p:sp>
      <p:sp>
        <p:nvSpPr>
          <p:cNvPr id="461" name="Google Shape;461;p34"/>
          <p:cNvSpPr txBox="1">
            <a:spLocks noGrp="1"/>
          </p:cNvSpPr>
          <p:nvPr>
            <p:ph type="subTitle" idx="4"/>
          </p:nvPr>
        </p:nvSpPr>
        <p:spPr>
          <a:xfrm>
            <a:off x="5327535" y="2911180"/>
            <a:ext cx="2061144" cy="7652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 dirty="0"/>
              <a:t>Indirect (Investors)</a:t>
            </a:r>
            <a:endParaRPr dirty="0"/>
          </a:p>
        </p:txBody>
      </p:sp>
      <p:sp>
        <p:nvSpPr>
          <p:cNvPr id="462" name="Google Shape;462;p34"/>
          <p:cNvSpPr/>
          <p:nvPr/>
        </p:nvSpPr>
        <p:spPr>
          <a:xfrm>
            <a:off x="993455" y="3293821"/>
            <a:ext cx="769498" cy="765282"/>
          </a:xfrm>
          <a:prstGeom prst="ellipse">
            <a:avLst/>
          </a:prstGeom>
          <a:gradFill>
            <a:gsLst>
              <a:gs pos="0">
                <a:srgbClr val="E7ECFF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4" name="Google Shape;464;p34"/>
          <p:cNvGrpSpPr/>
          <p:nvPr/>
        </p:nvGrpSpPr>
        <p:grpSpPr>
          <a:xfrm>
            <a:off x="1156953" y="3405197"/>
            <a:ext cx="460470" cy="528009"/>
            <a:chOff x="1146624" y="1548605"/>
            <a:chExt cx="425921" cy="487457"/>
          </a:xfrm>
        </p:grpSpPr>
        <p:sp>
          <p:nvSpPr>
            <p:cNvPr id="465" name="Google Shape;465;p34"/>
            <p:cNvSpPr/>
            <p:nvPr/>
          </p:nvSpPr>
          <p:spPr>
            <a:xfrm>
              <a:off x="1262043" y="1663175"/>
              <a:ext cx="142999" cy="143003"/>
            </a:xfrm>
            <a:custGeom>
              <a:avLst/>
              <a:gdLst/>
              <a:ahLst/>
              <a:cxnLst/>
              <a:rect l="l" t="t" r="r" b="b"/>
              <a:pathLst>
                <a:path w="1348" h="1348" extrusionOk="0">
                  <a:moveTo>
                    <a:pt x="669" y="268"/>
                  </a:moveTo>
                  <a:cubicBezTo>
                    <a:pt x="892" y="268"/>
                    <a:pt x="1071" y="446"/>
                    <a:pt x="1071" y="669"/>
                  </a:cubicBezTo>
                  <a:cubicBezTo>
                    <a:pt x="1071" y="892"/>
                    <a:pt x="892" y="1071"/>
                    <a:pt x="669" y="1071"/>
                  </a:cubicBezTo>
                  <a:cubicBezTo>
                    <a:pt x="446" y="1071"/>
                    <a:pt x="268" y="892"/>
                    <a:pt x="268" y="669"/>
                  </a:cubicBezTo>
                  <a:cubicBezTo>
                    <a:pt x="268" y="446"/>
                    <a:pt x="446" y="268"/>
                    <a:pt x="669" y="268"/>
                  </a:cubicBezTo>
                  <a:close/>
                  <a:moveTo>
                    <a:pt x="669" y="1347"/>
                  </a:moveTo>
                  <a:cubicBezTo>
                    <a:pt x="1044" y="1347"/>
                    <a:pt x="1347" y="1044"/>
                    <a:pt x="1347" y="669"/>
                  </a:cubicBezTo>
                  <a:cubicBezTo>
                    <a:pt x="1347" y="295"/>
                    <a:pt x="1044" y="0"/>
                    <a:pt x="669" y="0"/>
                  </a:cubicBezTo>
                  <a:cubicBezTo>
                    <a:pt x="295" y="0"/>
                    <a:pt x="0" y="295"/>
                    <a:pt x="0" y="669"/>
                  </a:cubicBezTo>
                  <a:cubicBezTo>
                    <a:pt x="0" y="1044"/>
                    <a:pt x="295" y="1347"/>
                    <a:pt x="669" y="13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4"/>
            <p:cNvSpPr/>
            <p:nvPr/>
          </p:nvSpPr>
          <p:spPr>
            <a:xfrm>
              <a:off x="1318798" y="1719929"/>
              <a:ext cx="28536" cy="28537"/>
            </a:xfrm>
            <a:custGeom>
              <a:avLst/>
              <a:gdLst/>
              <a:ahLst/>
              <a:cxnLst/>
              <a:rect l="l" t="t" r="r" b="b"/>
              <a:pathLst>
                <a:path w="269" h="269" extrusionOk="0">
                  <a:moveTo>
                    <a:pt x="134" y="0"/>
                  </a:moveTo>
                  <a:cubicBezTo>
                    <a:pt x="206" y="0"/>
                    <a:pt x="268" y="63"/>
                    <a:pt x="268" y="134"/>
                  </a:cubicBezTo>
                  <a:cubicBezTo>
                    <a:pt x="268" y="206"/>
                    <a:pt x="206" y="268"/>
                    <a:pt x="134" y="268"/>
                  </a:cubicBezTo>
                  <a:cubicBezTo>
                    <a:pt x="63" y="268"/>
                    <a:pt x="1" y="206"/>
                    <a:pt x="1" y="134"/>
                  </a:cubicBezTo>
                  <a:cubicBezTo>
                    <a:pt x="1" y="63"/>
                    <a:pt x="63" y="0"/>
                    <a:pt x="1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4"/>
            <p:cNvSpPr/>
            <p:nvPr/>
          </p:nvSpPr>
          <p:spPr>
            <a:xfrm>
              <a:off x="1147473" y="1748359"/>
              <a:ext cx="425073" cy="287703"/>
            </a:xfrm>
            <a:custGeom>
              <a:avLst/>
              <a:gdLst/>
              <a:ahLst/>
              <a:cxnLst/>
              <a:rect l="l" t="t" r="r" b="b"/>
              <a:pathLst>
                <a:path w="4007" h="2712" extrusionOk="0">
                  <a:moveTo>
                    <a:pt x="3560" y="0"/>
                  </a:moveTo>
                  <a:lnTo>
                    <a:pt x="2686" y="0"/>
                  </a:lnTo>
                  <a:cubicBezTo>
                    <a:pt x="2615" y="455"/>
                    <a:pt x="2222" y="812"/>
                    <a:pt x="1749" y="812"/>
                  </a:cubicBezTo>
                  <a:cubicBezTo>
                    <a:pt x="1277" y="812"/>
                    <a:pt x="884" y="455"/>
                    <a:pt x="813" y="0"/>
                  </a:cubicBezTo>
                  <a:lnTo>
                    <a:pt x="1" y="0"/>
                  </a:lnTo>
                  <a:cubicBezTo>
                    <a:pt x="28" y="428"/>
                    <a:pt x="224" y="839"/>
                    <a:pt x="536" y="1133"/>
                  </a:cubicBezTo>
                  <a:lnTo>
                    <a:pt x="536" y="2712"/>
                  </a:lnTo>
                  <a:lnTo>
                    <a:pt x="2695" y="2712"/>
                  </a:lnTo>
                  <a:lnTo>
                    <a:pt x="2695" y="1900"/>
                  </a:lnTo>
                  <a:lnTo>
                    <a:pt x="3507" y="1900"/>
                  </a:lnTo>
                  <a:lnTo>
                    <a:pt x="3507" y="1240"/>
                  </a:lnTo>
                  <a:lnTo>
                    <a:pt x="4006" y="124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4"/>
            <p:cNvSpPr/>
            <p:nvPr/>
          </p:nvSpPr>
          <p:spPr>
            <a:xfrm>
              <a:off x="1146624" y="1548605"/>
              <a:ext cx="172278" cy="171433"/>
            </a:xfrm>
            <a:custGeom>
              <a:avLst/>
              <a:gdLst/>
              <a:ahLst/>
              <a:cxnLst/>
              <a:rect l="l" t="t" r="r" b="b"/>
              <a:pathLst>
                <a:path w="1624" h="1616" extrusionOk="0">
                  <a:moveTo>
                    <a:pt x="821" y="1615"/>
                  </a:moveTo>
                  <a:cubicBezTo>
                    <a:pt x="883" y="1205"/>
                    <a:pt x="1204" y="875"/>
                    <a:pt x="1624" y="821"/>
                  </a:cubicBezTo>
                  <a:lnTo>
                    <a:pt x="1624" y="1"/>
                  </a:lnTo>
                  <a:cubicBezTo>
                    <a:pt x="758" y="63"/>
                    <a:pt x="71" y="759"/>
                    <a:pt x="0" y="16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4"/>
            <p:cNvSpPr/>
            <p:nvPr/>
          </p:nvSpPr>
          <p:spPr>
            <a:xfrm>
              <a:off x="1347228" y="1548605"/>
              <a:ext cx="171323" cy="171433"/>
            </a:xfrm>
            <a:custGeom>
              <a:avLst/>
              <a:gdLst/>
              <a:ahLst/>
              <a:cxnLst/>
              <a:rect l="l" t="t" r="r" b="b"/>
              <a:pathLst>
                <a:path w="1615" h="1616" extrusionOk="0">
                  <a:moveTo>
                    <a:pt x="0" y="821"/>
                  </a:moveTo>
                  <a:cubicBezTo>
                    <a:pt x="411" y="875"/>
                    <a:pt x="741" y="1205"/>
                    <a:pt x="794" y="1615"/>
                  </a:cubicBezTo>
                  <a:lnTo>
                    <a:pt x="1615" y="1615"/>
                  </a:lnTo>
                  <a:cubicBezTo>
                    <a:pt x="1544" y="759"/>
                    <a:pt x="857" y="63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459;p34">
            <a:extLst>
              <a:ext uri="{FF2B5EF4-FFF2-40B4-BE49-F238E27FC236}">
                <a16:creationId xmlns:a16="http://schemas.microsoft.com/office/drawing/2014/main" id="{D2CA71B9-ECD5-7D3F-F0F4-D3CBDBB5C464}"/>
              </a:ext>
            </a:extLst>
          </p:cNvPr>
          <p:cNvSpPr txBox="1">
            <a:spLocks/>
          </p:cNvSpPr>
          <p:nvPr/>
        </p:nvSpPr>
        <p:spPr>
          <a:xfrm>
            <a:off x="1003675" y="1751876"/>
            <a:ext cx="6564618" cy="66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r>
              <a:rPr lang="en-GB" dirty="0"/>
              <a:t>Extracted from an established banking and credit repository hosted on Kaggle.</a:t>
            </a:r>
          </a:p>
          <a:p>
            <a:r>
              <a:rPr lang="en-GB" i="1" dirty="0"/>
              <a:t>https://www.kaggle.com/datasets/zaurbegiev/my-dataset</a:t>
            </a:r>
          </a:p>
        </p:txBody>
      </p:sp>
      <p:sp>
        <p:nvSpPr>
          <p:cNvPr id="3" name="Google Shape;460;p34">
            <a:extLst>
              <a:ext uri="{FF2B5EF4-FFF2-40B4-BE49-F238E27FC236}">
                <a16:creationId xmlns:a16="http://schemas.microsoft.com/office/drawing/2014/main" id="{D89E8CFB-FB20-4627-948A-2885EF7A2120}"/>
              </a:ext>
            </a:extLst>
          </p:cNvPr>
          <p:cNvSpPr txBox="1">
            <a:spLocks/>
          </p:cNvSpPr>
          <p:nvPr/>
        </p:nvSpPr>
        <p:spPr>
          <a:xfrm>
            <a:off x="1091681" y="1406636"/>
            <a:ext cx="30984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pPr marL="0" indent="0"/>
            <a:r>
              <a:rPr lang="en-GB" dirty="0"/>
              <a:t>Data Source:</a:t>
            </a:r>
          </a:p>
        </p:txBody>
      </p:sp>
      <p:sp>
        <p:nvSpPr>
          <p:cNvPr id="4" name="Google Shape;462;p34">
            <a:extLst>
              <a:ext uri="{FF2B5EF4-FFF2-40B4-BE49-F238E27FC236}">
                <a16:creationId xmlns:a16="http://schemas.microsoft.com/office/drawing/2014/main" id="{749AC526-9DF5-13FE-14E5-A43C29C4C42C}"/>
              </a:ext>
            </a:extLst>
          </p:cNvPr>
          <p:cNvSpPr/>
          <p:nvPr/>
        </p:nvSpPr>
        <p:spPr>
          <a:xfrm>
            <a:off x="4558030" y="3293821"/>
            <a:ext cx="769498" cy="765282"/>
          </a:xfrm>
          <a:prstGeom prst="ellipse">
            <a:avLst/>
          </a:prstGeom>
          <a:gradFill>
            <a:gsLst>
              <a:gs pos="0">
                <a:srgbClr val="E7ECFF">
                  <a:alpha val="5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460;p34">
            <a:extLst>
              <a:ext uri="{FF2B5EF4-FFF2-40B4-BE49-F238E27FC236}">
                <a16:creationId xmlns:a16="http://schemas.microsoft.com/office/drawing/2014/main" id="{A35C207C-A0E0-18E0-FBBA-EFF69B82CD1B}"/>
              </a:ext>
            </a:extLst>
          </p:cNvPr>
          <p:cNvSpPr txBox="1">
            <a:spLocks/>
          </p:cNvSpPr>
          <p:nvPr/>
        </p:nvSpPr>
        <p:spPr>
          <a:xfrm>
            <a:off x="1003675" y="2486208"/>
            <a:ext cx="2637596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pPr marL="0" indent="0"/>
            <a:r>
              <a:rPr lang="en-GB" dirty="0"/>
              <a:t>Stakeholders:</a:t>
            </a:r>
          </a:p>
        </p:txBody>
      </p:sp>
      <p:grpSp>
        <p:nvGrpSpPr>
          <p:cNvPr id="12" name="Google Shape;945;p49">
            <a:extLst>
              <a:ext uri="{FF2B5EF4-FFF2-40B4-BE49-F238E27FC236}">
                <a16:creationId xmlns:a16="http://schemas.microsoft.com/office/drawing/2014/main" id="{B61EC2C4-0249-AE48-E335-F8758A6B31AF}"/>
              </a:ext>
            </a:extLst>
          </p:cNvPr>
          <p:cNvGrpSpPr/>
          <p:nvPr/>
        </p:nvGrpSpPr>
        <p:grpSpPr>
          <a:xfrm>
            <a:off x="4736758" y="3405198"/>
            <a:ext cx="446338" cy="522989"/>
            <a:chOff x="1861096" y="1549559"/>
            <a:chExt cx="425921" cy="485657"/>
          </a:xfrm>
        </p:grpSpPr>
        <p:sp>
          <p:nvSpPr>
            <p:cNvPr id="13" name="Google Shape;946;p49">
              <a:extLst>
                <a:ext uri="{FF2B5EF4-FFF2-40B4-BE49-F238E27FC236}">
                  <a16:creationId xmlns:a16="http://schemas.microsoft.com/office/drawing/2014/main" id="{5D977964-63DF-E83B-81D7-9D9B602579F5}"/>
                </a:ext>
              </a:extLst>
            </p:cNvPr>
            <p:cNvSpPr/>
            <p:nvPr/>
          </p:nvSpPr>
          <p:spPr>
            <a:xfrm>
              <a:off x="1947235" y="1633789"/>
              <a:ext cx="198799" cy="86247"/>
            </a:xfrm>
            <a:custGeom>
              <a:avLst/>
              <a:gdLst/>
              <a:ahLst/>
              <a:cxnLst/>
              <a:rect l="l" t="t" r="r" b="b"/>
              <a:pathLst>
                <a:path w="1874" h="813" extrusionOk="0">
                  <a:moveTo>
                    <a:pt x="937" y="1"/>
                  </a:moveTo>
                  <a:cubicBezTo>
                    <a:pt x="464" y="1"/>
                    <a:pt x="72" y="357"/>
                    <a:pt x="0" y="812"/>
                  </a:cubicBezTo>
                  <a:lnTo>
                    <a:pt x="1874" y="812"/>
                  </a:lnTo>
                  <a:cubicBezTo>
                    <a:pt x="1811" y="357"/>
                    <a:pt x="1419" y="1"/>
                    <a:pt x="9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47;p49">
              <a:extLst>
                <a:ext uri="{FF2B5EF4-FFF2-40B4-BE49-F238E27FC236}">
                  <a16:creationId xmlns:a16="http://schemas.microsoft.com/office/drawing/2014/main" id="{CE0F4FFF-11AE-8AAB-1D31-07A221A8C4E1}"/>
                </a:ext>
              </a:extLst>
            </p:cNvPr>
            <p:cNvSpPr/>
            <p:nvPr/>
          </p:nvSpPr>
          <p:spPr>
            <a:xfrm>
              <a:off x="1861096" y="1549559"/>
              <a:ext cx="425921" cy="485657"/>
            </a:xfrm>
            <a:custGeom>
              <a:avLst/>
              <a:gdLst/>
              <a:ahLst/>
              <a:cxnLst/>
              <a:rect l="l" t="t" r="r" b="b"/>
              <a:pathLst>
                <a:path w="4015" h="4578" extrusionOk="0">
                  <a:moveTo>
                    <a:pt x="3506" y="1722"/>
                  </a:moveTo>
                  <a:cubicBezTo>
                    <a:pt x="3497" y="768"/>
                    <a:pt x="2712" y="1"/>
                    <a:pt x="1749" y="1"/>
                  </a:cubicBezTo>
                  <a:cubicBezTo>
                    <a:pt x="785" y="1"/>
                    <a:pt x="0" y="786"/>
                    <a:pt x="0" y="1749"/>
                  </a:cubicBezTo>
                  <a:cubicBezTo>
                    <a:pt x="0" y="2222"/>
                    <a:pt x="197" y="2677"/>
                    <a:pt x="536" y="3007"/>
                  </a:cubicBezTo>
                  <a:lnTo>
                    <a:pt x="536" y="4577"/>
                  </a:lnTo>
                  <a:lnTo>
                    <a:pt x="1615" y="4577"/>
                  </a:lnTo>
                  <a:lnTo>
                    <a:pt x="1615" y="1865"/>
                  </a:lnTo>
                  <a:lnTo>
                    <a:pt x="536" y="1865"/>
                  </a:lnTo>
                  <a:lnTo>
                    <a:pt x="536" y="1749"/>
                  </a:lnTo>
                  <a:cubicBezTo>
                    <a:pt x="536" y="1089"/>
                    <a:pt x="1062" y="536"/>
                    <a:pt x="1722" y="518"/>
                  </a:cubicBezTo>
                  <a:cubicBezTo>
                    <a:pt x="2409" y="500"/>
                    <a:pt x="2971" y="1053"/>
                    <a:pt x="2971" y="1731"/>
                  </a:cubicBezTo>
                  <a:lnTo>
                    <a:pt x="2971" y="1874"/>
                  </a:lnTo>
                  <a:lnTo>
                    <a:pt x="1883" y="1874"/>
                  </a:lnTo>
                  <a:lnTo>
                    <a:pt x="1883" y="4577"/>
                  </a:lnTo>
                  <a:lnTo>
                    <a:pt x="2695" y="4577"/>
                  </a:lnTo>
                  <a:lnTo>
                    <a:pt x="2695" y="3765"/>
                  </a:lnTo>
                  <a:lnTo>
                    <a:pt x="3506" y="3765"/>
                  </a:lnTo>
                  <a:lnTo>
                    <a:pt x="3506" y="3114"/>
                  </a:lnTo>
                  <a:lnTo>
                    <a:pt x="4015" y="311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2"/>
          <p:cNvSpPr txBox="1">
            <a:spLocks noGrp="1"/>
          </p:cNvSpPr>
          <p:nvPr>
            <p:ph type="title"/>
          </p:nvPr>
        </p:nvSpPr>
        <p:spPr>
          <a:xfrm>
            <a:off x="713100" y="906236"/>
            <a:ext cx="6381665" cy="60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Project Scope &amp; Boundaries</a:t>
            </a:r>
            <a:endParaRPr dirty="0"/>
          </a:p>
        </p:txBody>
      </p:sp>
      <p:sp>
        <p:nvSpPr>
          <p:cNvPr id="399" name="Google Shape;399;p32"/>
          <p:cNvSpPr txBox="1">
            <a:spLocks noGrp="1"/>
          </p:cNvSpPr>
          <p:nvPr>
            <p:ph type="body" idx="1"/>
          </p:nvPr>
        </p:nvSpPr>
        <p:spPr>
          <a:xfrm>
            <a:off x="713100" y="1703143"/>
            <a:ext cx="5744850" cy="23871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GB" b="1" dirty="0"/>
              <a:t>In-Scope (What we focused on):</a:t>
            </a:r>
            <a:r>
              <a:rPr lang="en-GB" dirty="0"/>
              <a:t> </a:t>
            </a:r>
          </a:p>
          <a:p>
            <a:r>
              <a:rPr lang="en-GB" dirty="0" err="1"/>
              <a:t>Analyzing</a:t>
            </a:r>
            <a:r>
              <a:rPr lang="en-GB" dirty="0"/>
              <a:t> historical loan records to map out default patterns.</a:t>
            </a:r>
          </a:p>
          <a:p>
            <a:r>
              <a:rPr lang="en-GB" dirty="0"/>
              <a:t>Evaluating key demographic and financial risk factors (e.g., Credit Score, Annual Income, Debt-to-Income ratio, Employment Length).</a:t>
            </a:r>
          </a:p>
          <a:p>
            <a:r>
              <a:rPr lang="en-GB" dirty="0"/>
              <a:t>Designing an interactive, multi-page Power BI dashboard for retrospective portfolio analysis.</a:t>
            </a:r>
          </a:p>
          <a:p>
            <a:pPr marL="139700" indent="0">
              <a:buNone/>
            </a:pPr>
            <a:r>
              <a:rPr lang="en-GB" b="1" dirty="0"/>
              <a:t>Out-of-Scope (Setting expectations):</a:t>
            </a:r>
            <a:endParaRPr lang="en-GB" dirty="0"/>
          </a:p>
          <a:p>
            <a:r>
              <a:rPr lang="en-GB" dirty="0"/>
              <a:t>Real-time live data integration (analysis is based on a static historical snapshot).</a:t>
            </a:r>
          </a:p>
          <a:p>
            <a:r>
              <a:rPr lang="en-GB" dirty="0"/>
              <a:t>Predictive machine learning algorithms (focus is strictly on descriptive and diagnostic analytics via DAX).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>
          <a:extLst>
            <a:ext uri="{FF2B5EF4-FFF2-40B4-BE49-F238E27FC236}">
              <a16:creationId xmlns:a16="http://schemas.microsoft.com/office/drawing/2014/main" id="{BD54ACC5-24E8-5823-3C5B-EC28DB978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6">
            <a:extLst>
              <a:ext uri="{FF2B5EF4-FFF2-40B4-BE49-F238E27FC236}">
                <a16:creationId xmlns:a16="http://schemas.microsoft.com/office/drawing/2014/main" id="{EBB157FD-3556-9E6E-D0EC-DD63E96E49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The Questions We Answered</a:t>
            </a:r>
          </a:p>
        </p:txBody>
      </p:sp>
      <p:sp>
        <p:nvSpPr>
          <p:cNvPr id="506" name="Google Shape;506;p36">
            <a:extLst>
              <a:ext uri="{FF2B5EF4-FFF2-40B4-BE49-F238E27FC236}">
                <a16:creationId xmlns:a16="http://schemas.microsoft.com/office/drawing/2014/main" id="{05326440-2EA7-4434-724A-0E1C5D8487C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602635" y="2056753"/>
            <a:ext cx="2561002" cy="70713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dirty="0"/>
              <a:t>How do varying credit score tiers directly correlate with loan default rates?</a:t>
            </a:r>
          </a:p>
        </p:txBody>
      </p:sp>
      <p:sp>
        <p:nvSpPr>
          <p:cNvPr id="507" name="Google Shape;507;p36">
            <a:extLst>
              <a:ext uri="{FF2B5EF4-FFF2-40B4-BE49-F238E27FC236}">
                <a16:creationId xmlns:a16="http://schemas.microsoft.com/office/drawing/2014/main" id="{05358439-909A-255E-1072-0247A4A6959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330954" y="2056753"/>
            <a:ext cx="2928481" cy="72451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dirty="0"/>
              <a:t>What is the exact tipping point where the Debt-to-Income (DTI) ratio makes a loan "high risk"?</a:t>
            </a:r>
          </a:p>
        </p:txBody>
      </p:sp>
      <p:sp>
        <p:nvSpPr>
          <p:cNvPr id="508" name="Google Shape;508;p36">
            <a:extLst>
              <a:ext uri="{FF2B5EF4-FFF2-40B4-BE49-F238E27FC236}">
                <a16:creationId xmlns:a16="http://schemas.microsoft.com/office/drawing/2014/main" id="{0C0708A4-2282-05E9-0305-72012251739E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643608" y="3493859"/>
            <a:ext cx="2561001" cy="73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dirty="0"/>
              <a:t>Does employment longevity significantly impact a borrower's likelihood of repayment?</a:t>
            </a:r>
          </a:p>
        </p:txBody>
      </p:sp>
      <p:sp>
        <p:nvSpPr>
          <p:cNvPr id="509" name="Google Shape;509;p36">
            <a:extLst>
              <a:ext uri="{FF2B5EF4-FFF2-40B4-BE49-F238E27FC236}">
                <a16:creationId xmlns:a16="http://schemas.microsoft.com/office/drawing/2014/main" id="{7BAE94DA-BDFB-0627-D0CF-AC8157267365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330954" y="3552624"/>
            <a:ext cx="3162565" cy="72451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dirty="0"/>
              <a:t>Which specific loan purposes (e.g., small business, debt consolidation, home improvement) carry the highest financial liability?</a:t>
            </a:r>
          </a:p>
        </p:txBody>
      </p:sp>
      <p:sp>
        <p:nvSpPr>
          <p:cNvPr id="510" name="Google Shape;510;p36">
            <a:extLst>
              <a:ext uri="{FF2B5EF4-FFF2-40B4-BE49-F238E27FC236}">
                <a16:creationId xmlns:a16="http://schemas.microsoft.com/office/drawing/2014/main" id="{DF262A93-62B2-C2BA-E6C9-4D5FB57B82E5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1602635" y="1361259"/>
            <a:ext cx="2273439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600" b="1" dirty="0"/>
              <a:t>Credit Health</a:t>
            </a:r>
          </a:p>
        </p:txBody>
      </p:sp>
      <p:sp>
        <p:nvSpPr>
          <p:cNvPr id="514" name="Google Shape;514;p36">
            <a:extLst>
              <a:ext uri="{FF2B5EF4-FFF2-40B4-BE49-F238E27FC236}">
                <a16:creationId xmlns:a16="http://schemas.microsoft.com/office/drawing/2014/main" id="{C1C26FAB-638C-F46D-4186-289989CA1002}"/>
              </a:ext>
            </a:extLst>
          </p:cNvPr>
          <p:cNvSpPr/>
          <p:nvPr/>
        </p:nvSpPr>
        <p:spPr>
          <a:xfrm>
            <a:off x="866437" y="1323063"/>
            <a:ext cx="736200" cy="736200"/>
          </a:xfrm>
          <a:prstGeom prst="ellipse">
            <a:avLst/>
          </a:prstGeom>
          <a:gradFill>
            <a:gsLst>
              <a:gs pos="0">
                <a:srgbClr val="4B6EF8">
                  <a:alpha val="7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36">
            <a:extLst>
              <a:ext uri="{FF2B5EF4-FFF2-40B4-BE49-F238E27FC236}">
                <a16:creationId xmlns:a16="http://schemas.microsoft.com/office/drawing/2014/main" id="{121191AE-AD11-F64E-5B78-BDBBA3E1D1E9}"/>
              </a:ext>
            </a:extLst>
          </p:cNvPr>
          <p:cNvSpPr/>
          <p:nvPr/>
        </p:nvSpPr>
        <p:spPr>
          <a:xfrm>
            <a:off x="4595501" y="1357805"/>
            <a:ext cx="736200" cy="736200"/>
          </a:xfrm>
          <a:prstGeom prst="ellipse">
            <a:avLst/>
          </a:prstGeom>
          <a:gradFill>
            <a:gsLst>
              <a:gs pos="0">
                <a:srgbClr val="4B6EF8">
                  <a:alpha val="7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36">
            <a:extLst>
              <a:ext uri="{FF2B5EF4-FFF2-40B4-BE49-F238E27FC236}">
                <a16:creationId xmlns:a16="http://schemas.microsoft.com/office/drawing/2014/main" id="{8DDFF701-576F-CF46-23CE-ED3723729E6A}"/>
              </a:ext>
            </a:extLst>
          </p:cNvPr>
          <p:cNvSpPr/>
          <p:nvPr/>
        </p:nvSpPr>
        <p:spPr>
          <a:xfrm>
            <a:off x="850897" y="2806529"/>
            <a:ext cx="736200" cy="736200"/>
          </a:xfrm>
          <a:prstGeom prst="ellipse">
            <a:avLst/>
          </a:prstGeom>
          <a:gradFill>
            <a:gsLst>
              <a:gs pos="0">
                <a:srgbClr val="4B6EF8">
                  <a:alpha val="7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36">
            <a:extLst>
              <a:ext uri="{FF2B5EF4-FFF2-40B4-BE49-F238E27FC236}">
                <a16:creationId xmlns:a16="http://schemas.microsoft.com/office/drawing/2014/main" id="{653E5DA2-FEF3-9B65-D89E-1AF428C8DB1D}"/>
              </a:ext>
            </a:extLst>
          </p:cNvPr>
          <p:cNvSpPr/>
          <p:nvPr/>
        </p:nvSpPr>
        <p:spPr>
          <a:xfrm>
            <a:off x="4594757" y="2865359"/>
            <a:ext cx="736200" cy="736200"/>
          </a:xfrm>
          <a:prstGeom prst="ellipse">
            <a:avLst/>
          </a:prstGeom>
          <a:gradFill>
            <a:gsLst>
              <a:gs pos="0">
                <a:srgbClr val="4B6EF8">
                  <a:alpha val="7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8" name="Google Shape;518;p36">
            <a:extLst>
              <a:ext uri="{FF2B5EF4-FFF2-40B4-BE49-F238E27FC236}">
                <a16:creationId xmlns:a16="http://schemas.microsoft.com/office/drawing/2014/main" id="{33BBA6FF-6054-4125-2460-4275434D1B87}"/>
              </a:ext>
            </a:extLst>
          </p:cNvPr>
          <p:cNvGrpSpPr/>
          <p:nvPr/>
        </p:nvGrpSpPr>
        <p:grpSpPr>
          <a:xfrm>
            <a:off x="1067135" y="1501113"/>
            <a:ext cx="335729" cy="380054"/>
            <a:chOff x="1144715" y="2144793"/>
            <a:chExt cx="430698" cy="487561"/>
          </a:xfrm>
        </p:grpSpPr>
        <p:sp>
          <p:nvSpPr>
            <p:cNvPr id="519" name="Google Shape;519;p36">
              <a:extLst>
                <a:ext uri="{FF2B5EF4-FFF2-40B4-BE49-F238E27FC236}">
                  <a16:creationId xmlns:a16="http://schemas.microsoft.com/office/drawing/2014/main" id="{495575BD-2F81-C2C9-5ACD-8A96EA85E381}"/>
                </a:ext>
              </a:extLst>
            </p:cNvPr>
            <p:cNvSpPr/>
            <p:nvPr/>
          </p:nvSpPr>
          <p:spPr>
            <a:xfrm>
              <a:off x="1273394" y="2144793"/>
              <a:ext cx="72030" cy="199864"/>
            </a:xfrm>
            <a:custGeom>
              <a:avLst/>
              <a:gdLst/>
              <a:ahLst/>
              <a:cxnLst/>
              <a:rect l="l" t="t" r="r" b="b"/>
              <a:pathLst>
                <a:path w="679" h="1884" extrusionOk="0">
                  <a:moveTo>
                    <a:pt x="678" y="1883"/>
                  </a:moveTo>
                  <a:lnTo>
                    <a:pt x="678" y="1"/>
                  </a:lnTo>
                  <a:cubicBezTo>
                    <a:pt x="295" y="72"/>
                    <a:pt x="0" y="402"/>
                    <a:pt x="0" y="813"/>
                  </a:cubicBezTo>
                  <a:lnTo>
                    <a:pt x="0" y="1080"/>
                  </a:lnTo>
                  <a:cubicBezTo>
                    <a:pt x="0" y="1482"/>
                    <a:pt x="295" y="1821"/>
                    <a:pt x="678" y="18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6">
              <a:extLst>
                <a:ext uri="{FF2B5EF4-FFF2-40B4-BE49-F238E27FC236}">
                  <a16:creationId xmlns:a16="http://schemas.microsoft.com/office/drawing/2014/main" id="{9988783E-D2E4-3DCA-B475-7B0FB7A49B52}"/>
                </a:ext>
              </a:extLst>
            </p:cNvPr>
            <p:cNvSpPr/>
            <p:nvPr/>
          </p:nvSpPr>
          <p:spPr>
            <a:xfrm>
              <a:off x="1373749" y="2144793"/>
              <a:ext cx="72879" cy="199864"/>
            </a:xfrm>
            <a:custGeom>
              <a:avLst/>
              <a:gdLst/>
              <a:ahLst/>
              <a:cxnLst/>
              <a:rect l="l" t="t" r="r" b="b"/>
              <a:pathLst>
                <a:path w="687" h="1884" extrusionOk="0">
                  <a:moveTo>
                    <a:pt x="0" y="1883"/>
                  </a:moveTo>
                  <a:cubicBezTo>
                    <a:pt x="393" y="1821"/>
                    <a:pt x="687" y="1482"/>
                    <a:pt x="687" y="1080"/>
                  </a:cubicBezTo>
                  <a:lnTo>
                    <a:pt x="687" y="813"/>
                  </a:lnTo>
                  <a:cubicBezTo>
                    <a:pt x="687" y="402"/>
                    <a:pt x="393" y="72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6">
              <a:extLst>
                <a:ext uri="{FF2B5EF4-FFF2-40B4-BE49-F238E27FC236}">
                  <a16:creationId xmlns:a16="http://schemas.microsoft.com/office/drawing/2014/main" id="{100D84DF-3FB9-829B-9F1B-E8E0361E3412}"/>
                </a:ext>
              </a:extLst>
            </p:cNvPr>
            <p:cNvSpPr/>
            <p:nvPr/>
          </p:nvSpPr>
          <p:spPr>
            <a:xfrm>
              <a:off x="1173039" y="2374782"/>
              <a:ext cx="373941" cy="114678"/>
            </a:xfrm>
            <a:custGeom>
              <a:avLst/>
              <a:gdLst/>
              <a:ahLst/>
              <a:cxnLst/>
              <a:rect l="l" t="t" r="r" b="b"/>
              <a:pathLst>
                <a:path w="3525" h="1081" extrusionOk="0">
                  <a:moveTo>
                    <a:pt x="2989" y="679"/>
                  </a:moveTo>
                  <a:lnTo>
                    <a:pt x="2722" y="679"/>
                  </a:lnTo>
                  <a:lnTo>
                    <a:pt x="2722" y="402"/>
                  </a:lnTo>
                  <a:lnTo>
                    <a:pt x="2989" y="402"/>
                  </a:lnTo>
                  <a:close/>
                  <a:moveTo>
                    <a:pt x="2445" y="679"/>
                  </a:moveTo>
                  <a:lnTo>
                    <a:pt x="2169" y="679"/>
                  </a:lnTo>
                  <a:lnTo>
                    <a:pt x="2169" y="402"/>
                  </a:lnTo>
                  <a:lnTo>
                    <a:pt x="2445" y="402"/>
                  </a:lnTo>
                  <a:close/>
                  <a:moveTo>
                    <a:pt x="1348" y="679"/>
                  </a:moveTo>
                  <a:lnTo>
                    <a:pt x="1080" y="679"/>
                  </a:lnTo>
                  <a:lnTo>
                    <a:pt x="1080" y="402"/>
                  </a:lnTo>
                  <a:lnTo>
                    <a:pt x="1348" y="402"/>
                  </a:lnTo>
                  <a:close/>
                  <a:moveTo>
                    <a:pt x="813" y="679"/>
                  </a:moveTo>
                  <a:lnTo>
                    <a:pt x="536" y="679"/>
                  </a:lnTo>
                  <a:lnTo>
                    <a:pt x="536" y="402"/>
                  </a:lnTo>
                  <a:lnTo>
                    <a:pt x="813" y="402"/>
                  </a:lnTo>
                  <a:close/>
                  <a:moveTo>
                    <a:pt x="3525" y="1"/>
                  </a:moveTo>
                  <a:lnTo>
                    <a:pt x="1" y="1"/>
                  </a:lnTo>
                  <a:lnTo>
                    <a:pt x="1" y="1080"/>
                  </a:lnTo>
                  <a:lnTo>
                    <a:pt x="3525" y="108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6">
              <a:extLst>
                <a:ext uri="{FF2B5EF4-FFF2-40B4-BE49-F238E27FC236}">
                  <a16:creationId xmlns:a16="http://schemas.microsoft.com/office/drawing/2014/main" id="{829575EC-FDD8-8308-E11F-A7413EC4B9F9}"/>
                </a:ext>
              </a:extLst>
            </p:cNvPr>
            <p:cNvSpPr/>
            <p:nvPr/>
          </p:nvSpPr>
          <p:spPr>
            <a:xfrm>
              <a:off x="1173039" y="2517676"/>
              <a:ext cx="373941" cy="114678"/>
            </a:xfrm>
            <a:custGeom>
              <a:avLst/>
              <a:gdLst/>
              <a:ahLst/>
              <a:cxnLst/>
              <a:rect l="l" t="t" r="r" b="b"/>
              <a:pathLst>
                <a:path w="3525" h="1081" extrusionOk="0">
                  <a:moveTo>
                    <a:pt x="536" y="402"/>
                  </a:moveTo>
                  <a:lnTo>
                    <a:pt x="813" y="402"/>
                  </a:lnTo>
                  <a:lnTo>
                    <a:pt x="813" y="670"/>
                  </a:lnTo>
                  <a:lnTo>
                    <a:pt x="536" y="670"/>
                  </a:lnTo>
                  <a:close/>
                  <a:moveTo>
                    <a:pt x="1080" y="402"/>
                  </a:moveTo>
                  <a:lnTo>
                    <a:pt x="1348" y="402"/>
                  </a:lnTo>
                  <a:lnTo>
                    <a:pt x="1348" y="670"/>
                  </a:lnTo>
                  <a:lnTo>
                    <a:pt x="1080" y="670"/>
                  </a:lnTo>
                  <a:close/>
                  <a:moveTo>
                    <a:pt x="2169" y="402"/>
                  </a:moveTo>
                  <a:lnTo>
                    <a:pt x="2445" y="402"/>
                  </a:lnTo>
                  <a:lnTo>
                    <a:pt x="2445" y="670"/>
                  </a:lnTo>
                  <a:lnTo>
                    <a:pt x="2169" y="670"/>
                  </a:lnTo>
                  <a:close/>
                  <a:moveTo>
                    <a:pt x="2722" y="402"/>
                  </a:moveTo>
                  <a:lnTo>
                    <a:pt x="2989" y="402"/>
                  </a:lnTo>
                  <a:lnTo>
                    <a:pt x="2989" y="670"/>
                  </a:lnTo>
                  <a:lnTo>
                    <a:pt x="2722" y="670"/>
                  </a:lnTo>
                  <a:close/>
                  <a:moveTo>
                    <a:pt x="1" y="1080"/>
                  </a:moveTo>
                  <a:lnTo>
                    <a:pt x="3525" y="1080"/>
                  </a:lnTo>
                  <a:lnTo>
                    <a:pt x="3525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6">
              <a:extLst>
                <a:ext uri="{FF2B5EF4-FFF2-40B4-BE49-F238E27FC236}">
                  <a16:creationId xmlns:a16="http://schemas.microsoft.com/office/drawing/2014/main" id="{7DFA9B70-2E89-DB13-FA67-AF1C4B401630}"/>
                </a:ext>
              </a:extLst>
            </p:cNvPr>
            <p:cNvSpPr/>
            <p:nvPr/>
          </p:nvSpPr>
          <p:spPr>
            <a:xfrm>
              <a:off x="1479726" y="2184574"/>
              <a:ext cx="38826" cy="122210"/>
            </a:xfrm>
            <a:custGeom>
              <a:avLst/>
              <a:gdLst/>
              <a:ahLst/>
              <a:cxnLst/>
              <a:rect l="l" t="t" r="r" b="b"/>
              <a:pathLst>
                <a:path w="366" h="1152" extrusionOk="0">
                  <a:moveTo>
                    <a:pt x="241" y="1151"/>
                  </a:moveTo>
                  <a:cubicBezTo>
                    <a:pt x="321" y="964"/>
                    <a:pt x="366" y="768"/>
                    <a:pt x="366" y="572"/>
                  </a:cubicBezTo>
                  <a:cubicBezTo>
                    <a:pt x="366" y="375"/>
                    <a:pt x="321" y="179"/>
                    <a:pt x="250" y="1"/>
                  </a:cubicBezTo>
                  <a:lnTo>
                    <a:pt x="0" y="99"/>
                  </a:lnTo>
                  <a:cubicBezTo>
                    <a:pt x="63" y="250"/>
                    <a:pt x="89" y="411"/>
                    <a:pt x="89" y="572"/>
                  </a:cubicBezTo>
                  <a:cubicBezTo>
                    <a:pt x="89" y="732"/>
                    <a:pt x="63" y="893"/>
                    <a:pt x="0" y="10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6">
              <a:extLst>
                <a:ext uri="{FF2B5EF4-FFF2-40B4-BE49-F238E27FC236}">
                  <a16:creationId xmlns:a16="http://schemas.microsoft.com/office/drawing/2014/main" id="{C749D62A-0821-55C5-F949-E381B87B4A0D}"/>
                </a:ext>
              </a:extLst>
            </p:cNvPr>
            <p:cNvSpPr/>
            <p:nvPr/>
          </p:nvSpPr>
          <p:spPr>
            <a:xfrm>
              <a:off x="1531707" y="2162827"/>
              <a:ext cx="43706" cy="165705"/>
            </a:xfrm>
            <a:custGeom>
              <a:avLst/>
              <a:gdLst/>
              <a:ahLst/>
              <a:cxnLst/>
              <a:rect l="l" t="t" r="r" b="b"/>
              <a:pathLst>
                <a:path w="412" h="1562" extrusionOk="0">
                  <a:moveTo>
                    <a:pt x="251" y="1562"/>
                  </a:moveTo>
                  <a:cubicBezTo>
                    <a:pt x="358" y="1312"/>
                    <a:pt x="411" y="1053"/>
                    <a:pt x="411" y="777"/>
                  </a:cubicBezTo>
                  <a:cubicBezTo>
                    <a:pt x="411" y="509"/>
                    <a:pt x="358" y="241"/>
                    <a:pt x="260" y="0"/>
                  </a:cubicBezTo>
                  <a:lnTo>
                    <a:pt x="10" y="99"/>
                  </a:lnTo>
                  <a:cubicBezTo>
                    <a:pt x="99" y="313"/>
                    <a:pt x="144" y="545"/>
                    <a:pt x="144" y="777"/>
                  </a:cubicBezTo>
                  <a:cubicBezTo>
                    <a:pt x="144" y="1008"/>
                    <a:pt x="99" y="1240"/>
                    <a:pt x="1" y="14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6">
              <a:extLst>
                <a:ext uri="{FF2B5EF4-FFF2-40B4-BE49-F238E27FC236}">
                  <a16:creationId xmlns:a16="http://schemas.microsoft.com/office/drawing/2014/main" id="{B517DA4C-E81E-9346-37C1-7DBFE52BBD1C}"/>
                </a:ext>
              </a:extLst>
            </p:cNvPr>
            <p:cNvSpPr/>
            <p:nvPr/>
          </p:nvSpPr>
          <p:spPr>
            <a:xfrm>
              <a:off x="1201470" y="2183619"/>
              <a:ext cx="38932" cy="122210"/>
            </a:xfrm>
            <a:custGeom>
              <a:avLst/>
              <a:gdLst/>
              <a:ahLst/>
              <a:cxnLst/>
              <a:rect l="l" t="t" r="r" b="b"/>
              <a:pathLst>
                <a:path w="367" h="1152" extrusionOk="0">
                  <a:moveTo>
                    <a:pt x="366" y="1044"/>
                  </a:moveTo>
                  <a:cubicBezTo>
                    <a:pt x="304" y="902"/>
                    <a:pt x="268" y="741"/>
                    <a:pt x="268" y="581"/>
                  </a:cubicBezTo>
                  <a:cubicBezTo>
                    <a:pt x="268" y="411"/>
                    <a:pt x="304" y="250"/>
                    <a:pt x="366" y="99"/>
                  </a:cubicBezTo>
                  <a:lnTo>
                    <a:pt x="116" y="1"/>
                  </a:lnTo>
                  <a:cubicBezTo>
                    <a:pt x="36" y="179"/>
                    <a:pt x="0" y="375"/>
                    <a:pt x="0" y="581"/>
                  </a:cubicBezTo>
                  <a:cubicBezTo>
                    <a:pt x="0" y="777"/>
                    <a:pt x="36" y="973"/>
                    <a:pt x="116" y="115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6">
              <a:extLst>
                <a:ext uri="{FF2B5EF4-FFF2-40B4-BE49-F238E27FC236}">
                  <a16:creationId xmlns:a16="http://schemas.microsoft.com/office/drawing/2014/main" id="{C22E5FA9-8247-93F4-7E03-8A03CC063307}"/>
                </a:ext>
              </a:extLst>
            </p:cNvPr>
            <p:cNvSpPr/>
            <p:nvPr/>
          </p:nvSpPr>
          <p:spPr>
            <a:xfrm>
              <a:off x="1144715" y="2160918"/>
              <a:ext cx="42645" cy="166660"/>
            </a:xfrm>
            <a:custGeom>
              <a:avLst/>
              <a:gdLst/>
              <a:ahLst/>
              <a:cxnLst/>
              <a:rect l="l" t="t" r="r" b="b"/>
              <a:pathLst>
                <a:path w="402" h="1571" extrusionOk="0">
                  <a:moveTo>
                    <a:pt x="402" y="1464"/>
                  </a:moveTo>
                  <a:cubicBezTo>
                    <a:pt x="312" y="1250"/>
                    <a:pt x="268" y="1026"/>
                    <a:pt x="268" y="795"/>
                  </a:cubicBezTo>
                  <a:cubicBezTo>
                    <a:pt x="268" y="554"/>
                    <a:pt x="312" y="322"/>
                    <a:pt x="402" y="108"/>
                  </a:cubicBezTo>
                  <a:lnTo>
                    <a:pt x="152" y="1"/>
                  </a:lnTo>
                  <a:cubicBezTo>
                    <a:pt x="54" y="250"/>
                    <a:pt x="0" y="518"/>
                    <a:pt x="0" y="795"/>
                  </a:cubicBezTo>
                  <a:cubicBezTo>
                    <a:pt x="0" y="1062"/>
                    <a:pt x="45" y="1321"/>
                    <a:pt x="152" y="15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7" name="Google Shape;527;p36">
            <a:extLst>
              <a:ext uri="{FF2B5EF4-FFF2-40B4-BE49-F238E27FC236}">
                <a16:creationId xmlns:a16="http://schemas.microsoft.com/office/drawing/2014/main" id="{6B5DF5AB-4D9A-2407-A92D-E5A3E5F31C7E}"/>
              </a:ext>
            </a:extLst>
          </p:cNvPr>
          <p:cNvGrpSpPr/>
          <p:nvPr/>
        </p:nvGrpSpPr>
        <p:grpSpPr>
          <a:xfrm>
            <a:off x="4774037" y="1535918"/>
            <a:ext cx="379967" cy="379976"/>
            <a:chOff x="1116285" y="2741087"/>
            <a:chExt cx="487449" cy="487461"/>
          </a:xfrm>
        </p:grpSpPr>
        <p:sp>
          <p:nvSpPr>
            <p:cNvPr id="528" name="Google Shape;528;p36">
              <a:extLst>
                <a:ext uri="{FF2B5EF4-FFF2-40B4-BE49-F238E27FC236}">
                  <a16:creationId xmlns:a16="http://schemas.microsoft.com/office/drawing/2014/main" id="{0E824803-7914-D03A-1166-37BBFA1A81CD}"/>
                </a:ext>
              </a:extLst>
            </p:cNvPr>
            <p:cNvSpPr/>
            <p:nvPr/>
          </p:nvSpPr>
          <p:spPr>
            <a:xfrm>
              <a:off x="1331103" y="2912306"/>
              <a:ext cx="56860" cy="57922"/>
            </a:xfrm>
            <a:custGeom>
              <a:avLst/>
              <a:gdLst/>
              <a:ahLst/>
              <a:cxnLst/>
              <a:rect l="l" t="t" r="r" b="b"/>
              <a:pathLst>
                <a:path w="536" h="546" extrusionOk="0">
                  <a:moveTo>
                    <a:pt x="268" y="1"/>
                  </a:moveTo>
                  <a:cubicBezTo>
                    <a:pt x="420" y="1"/>
                    <a:pt x="536" y="126"/>
                    <a:pt x="536" y="268"/>
                  </a:cubicBezTo>
                  <a:cubicBezTo>
                    <a:pt x="536" y="420"/>
                    <a:pt x="420" y="545"/>
                    <a:pt x="268" y="545"/>
                  </a:cubicBezTo>
                  <a:cubicBezTo>
                    <a:pt x="117" y="545"/>
                    <a:pt x="1" y="420"/>
                    <a:pt x="1" y="268"/>
                  </a:cubicBezTo>
                  <a:cubicBezTo>
                    <a:pt x="1" y="126"/>
                    <a:pt x="117" y="1"/>
                    <a:pt x="2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6">
              <a:extLst>
                <a:ext uri="{FF2B5EF4-FFF2-40B4-BE49-F238E27FC236}">
                  <a16:creationId xmlns:a16="http://schemas.microsoft.com/office/drawing/2014/main" id="{66126433-AB47-B044-9DFB-BD160DA012E2}"/>
                </a:ext>
              </a:extLst>
            </p:cNvPr>
            <p:cNvSpPr/>
            <p:nvPr/>
          </p:nvSpPr>
          <p:spPr>
            <a:xfrm>
              <a:off x="1315933" y="2996536"/>
              <a:ext cx="88155" cy="60681"/>
            </a:xfrm>
            <a:custGeom>
              <a:avLst/>
              <a:gdLst/>
              <a:ahLst/>
              <a:cxnLst/>
              <a:rect l="l" t="t" r="r" b="b"/>
              <a:pathLst>
                <a:path w="831" h="572" extrusionOk="0">
                  <a:moveTo>
                    <a:pt x="1" y="438"/>
                  </a:moveTo>
                  <a:lnTo>
                    <a:pt x="1" y="572"/>
                  </a:lnTo>
                  <a:lnTo>
                    <a:pt x="831" y="572"/>
                  </a:lnTo>
                  <a:lnTo>
                    <a:pt x="831" y="429"/>
                  </a:lnTo>
                  <a:cubicBezTo>
                    <a:pt x="831" y="197"/>
                    <a:pt x="625" y="1"/>
                    <a:pt x="393" y="19"/>
                  </a:cubicBezTo>
                  <a:cubicBezTo>
                    <a:pt x="170" y="28"/>
                    <a:pt x="1" y="215"/>
                    <a:pt x="1" y="4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6">
              <a:extLst>
                <a:ext uri="{FF2B5EF4-FFF2-40B4-BE49-F238E27FC236}">
                  <a16:creationId xmlns:a16="http://schemas.microsoft.com/office/drawing/2014/main" id="{CCD99172-145A-0CCA-9878-F90DE0286AC8}"/>
                </a:ext>
              </a:extLst>
            </p:cNvPr>
            <p:cNvSpPr/>
            <p:nvPr/>
          </p:nvSpPr>
          <p:spPr>
            <a:xfrm>
              <a:off x="1230749" y="2855551"/>
              <a:ext cx="258523" cy="258529"/>
            </a:xfrm>
            <a:custGeom>
              <a:avLst/>
              <a:gdLst/>
              <a:ahLst/>
              <a:cxnLst/>
              <a:rect l="l" t="t" r="r" b="b"/>
              <a:pathLst>
                <a:path w="2437" h="2437" extrusionOk="0">
                  <a:moveTo>
                    <a:pt x="1901" y="2168"/>
                  </a:moveTo>
                  <a:lnTo>
                    <a:pt x="536" y="2168"/>
                  </a:lnTo>
                  <a:lnTo>
                    <a:pt x="536" y="1758"/>
                  </a:lnTo>
                  <a:cubicBezTo>
                    <a:pt x="536" y="1517"/>
                    <a:pt x="661" y="1312"/>
                    <a:pt x="840" y="1187"/>
                  </a:cubicBezTo>
                  <a:cubicBezTo>
                    <a:pt x="733" y="1089"/>
                    <a:pt x="670" y="937"/>
                    <a:pt x="679" y="777"/>
                  </a:cubicBezTo>
                  <a:cubicBezTo>
                    <a:pt x="697" y="500"/>
                    <a:pt x="920" y="286"/>
                    <a:pt x="1187" y="268"/>
                  </a:cubicBezTo>
                  <a:cubicBezTo>
                    <a:pt x="1500" y="250"/>
                    <a:pt x="1758" y="500"/>
                    <a:pt x="1758" y="803"/>
                  </a:cubicBezTo>
                  <a:cubicBezTo>
                    <a:pt x="1758" y="955"/>
                    <a:pt x="1696" y="1089"/>
                    <a:pt x="1598" y="1187"/>
                  </a:cubicBezTo>
                  <a:cubicBezTo>
                    <a:pt x="1776" y="1312"/>
                    <a:pt x="1901" y="1517"/>
                    <a:pt x="1901" y="1758"/>
                  </a:cubicBezTo>
                  <a:close/>
                  <a:moveTo>
                    <a:pt x="2436" y="1"/>
                  </a:moveTo>
                  <a:lnTo>
                    <a:pt x="1" y="1"/>
                  </a:lnTo>
                  <a:lnTo>
                    <a:pt x="1" y="2436"/>
                  </a:lnTo>
                  <a:lnTo>
                    <a:pt x="2436" y="243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6">
              <a:extLst>
                <a:ext uri="{FF2B5EF4-FFF2-40B4-BE49-F238E27FC236}">
                  <a16:creationId xmlns:a16="http://schemas.microsoft.com/office/drawing/2014/main" id="{820F6A0F-AD9B-F991-A688-D5CB5998C86A}"/>
                </a:ext>
              </a:extLst>
            </p:cNvPr>
            <p:cNvSpPr/>
            <p:nvPr/>
          </p:nvSpPr>
          <p:spPr>
            <a:xfrm>
              <a:off x="1116285" y="2741087"/>
              <a:ext cx="487449" cy="487461"/>
            </a:xfrm>
            <a:custGeom>
              <a:avLst/>
              <a:gdLst/>
              <a:ahLst/>
              <a:cxnLst/>
              <a:rect l="l" t="t" r="r" b="b"/>
              <a:pathLst>
                <a:path w="4595" h="4595" extrusionOk="0">
                  <a:moveTo>
                    <a:pt x="3783" y="3792"/>
                  </a:moveTo>
                  <a:lnTo>
                    <a:pt x="803" y="3792"/>
                  </a:lnTo>
                  <a:lnTo>
                    <a:pt x="803" y="812"/>
                  </a:lnTo>
                  <a:lnTo>
                    <a:pt x="3783" y="812"/>
                  </a:lnTo>
                  <a:close/>
                  <a:moveTo>
                    <a:pt x="4595" y="812"/>
                  </a:moveTo>
                  <a:lnTo>
                    <a:pt x="4595" y="544"/>
                  </a:lnTo>
                  <a:lnTo>
                    <a:pt x="4327" y="544"/>
                  </a:lnTo>
                  <a:lnTo>
                    <a:pt x="4327" y="268"/>
                  </a:lnTo>
                  <a:lnTo>
                    <a:pt x="4051" y="268"/>
                  </a:lnTo>
                  <a:lnTo>
                    <a:pt x="4051" y="0"/>
                  </a:lnTo>
                  <a:lnTo>
                    <a:pt x="3783" y="0"/>
                  </a:lnTo>
                  <a:lnTo>
                    <a:pt x="3783" y="268"/>
                  </a:lnTo>
                  <a:lnTo>
                    <a:pt x="3507" y="268"/>
                  </a:lnTo>
                  <a:lnTo>
                    <a:pt x="3507" y="0"/>
                  </a:lnTo>
                  <a:lnTo>
                    <a:pt x="3239" y="0"/>
                  </a:lnTo>
                  <a:lnTo>
                    <a:pt x="3239" y="268"/>
                  </a:lnTo>
                  <a:lnTo>
                    <a:pt x="2971" y="268"/>
                  </a:lnTo>
                  <a:lnTo>
                    <a:pt x="2971" y="0"/>
                  </a:lnTo>
                  <a:lnTo>
                    <a:pt x="2704" y="0"/>
                  </a:lnTo>
                  <a:lnTo>
                    <a:pt x="2704" y="268"/>
                  </a:lnTo>
                  <a:lnTo>
                    <a:pt x="2427" y="268"/>
                  </a:lnTo>
                  <a:lnTo>
                    <a:pt x="2427" y="0"/>
                  </a:lnTo>
                  <a:lnTo>
                    <a:pt x="2159" y="0"/>
                  </a:lnTo>
                  <a:lnTo>
                    <a:pt x="2159" y="268"/>
                  </a:lnTo>
                  <a:lnTo>
                    <a:pt x="1883" y="268"/>
                  </a:lnTo>
                  <a:lnTo>
                    <a:pt x="1883" y="0"/>
                  </a:lnTo>
                  <a:lnTo>
                    <a:pt x="1615" y="0"/>
                  </a:lnTo>
                  <a:lnTo>
                    <a:pt x="1615" y="268"/>
                  </a:lnTo>
                  <a:lnTo>
                    <a:pt x="1348" y="268"/>
                  </a:lnTo>
                  <a:lnTo>
                    <a:pt x="1348" y="0"/>
                  </a:lnTo>
                  <a:lnTo>
                    <a:pt x="1080" y="0"/>
                  </a:lnTo>
                  <a:lnTo>
                    <a:pt x="1080" y="268"/>
                  </a:lnTo>
                  <a:lnTo>
                    <a:pt x="803" y="268"/>
                  </a:lnTo>
                  <a:lnTo>
                    <a:pt x="803" y="0"/>
                  </a:lnTo>
                  <a:lnTo>
                    <a:pt x="536" y="0"/>
                  </a:lnTo>
                  <a:lnTo>
                    <a:pt x="536" y="268"/>
                  </a:lnTo>
                  <a:lnTo>
                    <a:pt x="268" y="268"/>
                  </a:lnTo>
                  <a:lnTo>
                    <a:pt x="268" y="544"/>
                  </a:lnTo>
                  <a:lnTo>
                    <a:pt x="1" y="544"/>
                  </a:lnTo>
                  <a:lnTo>
                    <a:pt x="1" y="812"/>
                  </a:lnTo>
                  <a:lnTo>
                    <a:pt x="268" y="812"/>
                  </a:lnTo>
                  <a:lnTo>
                    <a:pt x="268" y="1080"/>
                  </a:lnTo>
                  <a:lnTo>
                    <a:pt x="1" y="1080"/>
                  </a:lnTo>
                  <a:lnTo>
                    <a:pt x="1" y="1356"/>
                  </a:lnTo>
                  <a:lnTo>
                    <a:pt x="268" y="1356"/>
                  </a:lnTo>
                  <a:lnTo>
                    <a:pt x="268" y="1624"/>
                  </a:lnTo>
                  <a:lnTo>
                    <a:pt x="1" y="1624"/>
                  </a:lnTo>
                  <a:lnTo>
                    <a:pt x="1" y="1891"/>
                  </a:lnTo>
                  <a:lnTo>
                    <a:pt x="268" y="1891"/>
                  </a:lnTo>
                  <a:lnTo>
                    <a:pt x="268" y="2168"/>
                  </a:lnTo>
                  <a:lnTo>
                    <a:pt x="1" y="2168"/>
                  </a:lnTo>
                  <a:lnTo>
                    <a:pt x="1" y="2436"/>
                  </a:lnTo>
                  <a:lnTo>
                    <a:pt x="268" y="2436"/>
                  </a:lnTo>
                  <a:lnTo>
                    <a:pt x="268" y="2703"/>
                  </a:lnTo>
                  <a:lnTo>
                    <a:pt x="1" y="2703"/>
                  </a:lnTo>
                  <a:lnTo>
                    <a:pt x="1" y="2980"/>
                  </a:lnTo>
                  <a:lnTo>
                    <a:pt x="268" y="2980"/>
                  </a:lnTo>
                  <a:lnTo>
                    <a:pt x="268" y="3247"/>
                  </a:lnTo>
                  <a:lnTo>
                    <a:pt x="1" y="3247"/>
                  </a:lnTo>
                  <a:lnTo>
                    <a:pt x="1" y="3515"/>
                  </a:lnTo>
                  <a:lnTo>
                    <a:pt x="268" y="3515"/>
                  </a:lnTo>
                  <a:lnTo>
                    <a:pt x="268" y="3792"/>
                  </a:lnTo>
                  <a:lnTo>
                    <a:pt x="1" y="3792"/>
                  </a:lnTo>
                  <a:lnTo>
                    <a:pt x="1" y="4059"/>
                  </a:lnTo>
                  <a:lnTo>
                    <a:pt x="268" y="4059"/>
                  </a:lnTo>
                  <a:lnTo>
                    <a:pt x="268" y="4327"/>
                  </a:lnTo>
                  <a:lnTo>
                    <a:pt x="536" y="4327"/>
                  </a:lnTo>
                  <a:lnTo>
                    <a:pt x="536" y="4594"/>
                  </a:lnTo>
                  <a:lnTo>
                    <a:pt x="803" y="4594"/>
                  </a:lnTo>
                  <a:lnTo>
                    <a:pt x="803" y="4327"/>
                  </a:lnTo>
                  <a:lnTo>
                    <a:pt x="1080" y="4327"/>
                  </a:lnTo>
                  <a:lnTo>
                    <a:pt x="1080" y="4594"/>
                  </a:lnTo>
                  <a:lnTo>
                    <a:pt x="1348" y="4594"/>
                  </a:lnTo>
                  <a:lnTo>
                    <a:pt x="1348" y="4327"/>
                  </a:lnTo>
                  <a:lnTo>
                    <a:pt x="1615" y="4327"/>
                  </a:lnTo>
                  <a:lnTo>
                    <a:pt x="1615" y="4594"/>
                  </a:lnTo>
                  <a:lnTo>
                    <a:pt x="1883" y="4594"/>
                  </a:lnTo>
                  <a:lnTo>
                    <a:pt x="1883" y="4327"/>
                  </a:lnTo>
                  <a:lnTo>
                    <a:pt x="2159" y="4327"/>
                  </a:lnTo>
                  <a:lnTo>
                    <a:pt x="2159" y="4594"/>
                  </a:lnTo>
                  <a:lnTo>
                    <a:pt x="2427" y="4594"/>
                  </a:lnTo>
                  <a:lnTo>
                    <a:pt x="2427" y="4327"/>
                  </a:lnTo>
                  <a:lnTo>
                    <a:pt x="2704" y="4327"/>
                  </a:lnTo>
                  <a:lnTo>
                    <a:pt x="2704" y="4594"/>
                  </a:lnTo>
                  <a:lnTo>
                    <a:pt x="2971" y="4594"/>
                  </a:lnTo>
                  <a:lnTo>
                    <a:pt x="2971" y="4327"/>
                  </a:lnTo>
                  <a:lnTo>
                    <a:pt x="3239" y="4327"/>
                  </a:lnTo>
                  <a:lnTo>
                    <a:pt x="3239" y="4594"/>
                  </a:lnTo>
                  <a:lnTo>
                    <a:pt x="3507" y="4594"/>
                  </a:lnTo>
                  <a:lnTo>
                    <a:pt x="3507" y="4327"/>
                  </a:lnTo>
                  <a:lnTo>
                    <a:pt x="3783" y="4327"/>
                  </a:lnTo>
                  <a:lnTo>
                    <a:pt x="3783" y="4594"/>
                  </a:lnTo>
                  <a:lnTo>
                    <a:pt x="4051" y="4594"/>
                  </a:lnTo>
                  <a:lnTo>
                    <a:pt x="4051" y="4327"/>
                  </a:lnTo>
                  <a:lnTo>
                    <a:pt x="4327" y="4327"/>
                  </a:lnTo>
                  <a:lnTo>
                    <a:pt x="4327" y="4059"/>
                  </a:lnTo>
                  <a:lnTo>
                    <a:pt x="4595" y="4059"/>
                  </a:lnTo>
                  <a:lnTo>
                    <a:pt x="4595" y="3792"/>
                  </a:lnTo>
                  <a:lnTo>
                    <a:pt x="4327" y="3792"/>
                  </a:lnTo>
                  <a:lnTo>
                    <a:pt x="4327" y="3515"/>
                  </a:lnTo>
                  <a:lnTo>
                    <a:pt x="4595" y="3515"/>
                  </a:lnTo>
                  <a:lnTo>
                    <a:pt x="4595" y="3247"/>
                  </a:lnTo>
                  <a:lnTo>
                    <a:pt x="4327" y="3247"/>
                  </a:lnTo>
                  <a:lnTo>
                    <a:pt x="4327" y="2980"/>
                  </a:lnTo>
                  <a:lnTo>
                    <a:pt x="4595" y="2980"/>
                  </a:lnTo>
                  <a:lnTo>
                    <a:pt x="4595" y="2703"/>
                  </a:lnTo>
                  <a:lnTo>
                    <a:pt x="4327" y="2703"/>
                  </a:lnTo>
                  <a:lnTo>
                    <a:pt x="4327" y="2436"/>
                  </a:lnTo>
                  <a:lnTo>
                    <a:pt x="4595" y="2436"/>
                  </a:lnTo>
                  <a:lnTo>
                    <a:pt x="4595" y="2168"/>
                  </a:lnTo>
                  <a:lnTo>
                    <a:pt x="4327" y="2168"/>
                  </a:lnTo>
                  <a:lnTo>
                    <a:pt x="4327" y="1891"/>
                  </a:lnTo>
                  <a:lnTo>
                    <a:pt x="4595" y="1891"/>
                  </a:lnTo>
                  <a:lnTo>
                    <a:pt x="4595" y="1624"/>
                  </a:lnTo>
                  <a:lnTo>
                    <a:pt x="4327" y="1624"/>
                  </a:lnTo>
                  <a:lnTo>
                    <a:pt x="4327" y="1356"/>
                  </a:lnTo>
                  <a:lnTo>
                    <a:pt x="4595" y="1356"/>
                  </a:lnTo>
                  <a:lnTo>
                    <a:pt x="4595" y="1080"/>
                  </a:lnTo>
                  <a:lnTo>
                    <a:pt x="4327" y="1080"/>
                  </a:lnTo>
                  <a:lnTo>
                    <a:pt x="4327" y="81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2" name="Google Shape;532;p36">
            <a:extLst>
              <a:ext uri="{FF2B5EF4-FFF2-40B4-BE49-F238E27FC236}">
                <a16:creationId xmlns:a16="http://schemas.microsoft.com/office/drawing/2014/main" id="{DE72B9CC-97D8-982F-927E-9B52BFC1C503}"/>
              </a:ext>
            </a:extLst>
          </p:cNvPr>
          <p:cNvGrpSpPr/>
          <p:nvPr/>
        </p:nvGrpSpPr>
        <p:grpSpPr>
          <a:xfrm>
            <a:off x="1030922" y="2984645"/>
            <a:ext cx="377072" cy="379976"/>
            <a:chOff x="1118194" y="3337276"/>
            <a:chExt cx="483736" cy="487461"/>
          </a:xfrm>
        </p:grpSpPr>
        <p:sp>
          <p:nvSpPr>
            <p:cNvPr id="533" name="Google Shape;533;p36">
              <a:extLst>
                <a:ext uri="{FF2B5EF4-FFF2-40B4-BE49-F238E27FC236}">
                  <a16:creationId xmlns:a16="http://schemas.microsoft.com/office/drawing/2014/main" id="{4604ACB7-3405-7C6A-A76E-486B338016E7}"/>
                </a:ext>
              </a:extLst>
            </p:cNvPr>
            <p:cNvSpPr/>
            <p:nvPr/>
          </p:nvSpPr>
          <p:spPr>
            <a:xfrm>
              <a:off x="1245918" y="3466909"/>
              <a:ext cx="228183" cy="229144"/>
            </a:xfrm>
            <a:custGeom>
              <a:avLst/>
              <a:gdLst/>
              <a:ahLst/>
              <a:cxnLst/>
              <a:rect l="l" t="t" r="r" b="b"/>
              <a:pathLst>
                <a:path w="2151" h="2160" extrusionOk="0">
                  <a:moveTo>
                    <a:pt x="1749" y="1615"/>
                  </a:moveTo>
                  <a:lnTo>
                    <a:pt x="1482" y="1615"/>
                  </a:lnTo>
                  <a:lnTo>
                    <a:pt x="1482" y="536"/>
                  </a:lnTo>
                  <a:lnTo>
                    <a:pt x="1749" y="536"/>
                  </a:lnTo>
                  <a:close/>
                  <a:moveTo>
                    <a:pt x="1214" y="1615"/>
                  </a:moveTo>
                  <a:lnTo>
                    <a:pt x="937" y="1615"/>
                  </a:lnTo>
                  <a:lnTo>
                    <a:pt x="937" y="1348"/>
                  </a:lnTo>
                  <a:lnTo>
                    <a:pt x="670" y="1348"/>
                  </a:lnTo>
                  <a:lnTo>
                    <a:pt x="670" y="1615"/>
                  </a:lnTo>
                  <a:lnTo>
                    <a:pt x="402" y="1615"/>
                  </a:lnTo>
                  <a:lnTo>
                    <a:pt x="402" y="536"/>
                  </a:lnTo>
                  <a:lnTo>
                    <a:pt x="1214" y="536"/>
                  </a:lnTo>
                  <a:close/>
                  <a:moveTo>
                    <a:pt x="1071" y="1"/>
                  </a:moveTo>
                  <a:cubicBezTo>
                    <a:pt x="482" y="1"/>
                    <a:pt x="1" y="491"/>
                    <a:pt x="1" y="1080"/>
                  </a:cubicBezTo>
                  <a:cubicBezTo>
                    <a:pt x="1" y="1678"/>
                    <a:pt x="482" y="2159"/>
                    <a:pt x="1071" y="2159"/>
                  </a:cubicBezTo>
                  <a:cubicBezTo>
                    <a:pt x="1669" y="2159"/>
                    <a:pt x="2151" y="1678"/>
                    <a:pt x="2151" y="1080"/>
                  </a:cubicBezTo>
                  <a:cubicBezTo>
                    <a:pt x="2151" y="491"/>
                    <a:pt x="1669" y="1"/>
                    <a:pt x="1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6">
              <a:extLst>
                <a:ext uri="{FF2B5EF4-FFF2-40B4-BE49-F238E27FC236}">
                  <a16:creationId xmlns:a16="http://schemas.microsoft.com/office/drawing/2014/main" id="{B0FB1C3F-565D-24D5-F06B-514BF7D79BF7}"/>
                </a:ext>
              </a:extLst>
            </p:cNvPr>
            <p:cNvSpPr/>
            <p:nvPr/>
          </p:nvSpPr>
          <p:spPr>
            <a:xfrm>
              <a:off x="1316888" y="3553049"/>
              <a:ext cx="28536" cy="28431"/>
            </a:xfrm>
            <a:custGeom>
              <a:avLst/>
              <a:gdLst/>
              <a:ahLst/>
              <a:cxnLst/>
              <a:rect l="l" t="t" r="r" b="b"/>
              <a:pathLst>
                <a:path w="269" h="268" extrusionOk="0">
                  <a:moveTo>
                    <a:pt x="1" y="0"/>
                  </a:moveTo>
                  <a:lnTo>
                    <a:pt x="268" y="0"/>
                  </a:lnTo>
                  <a:lnTo>
                    <a:pt x="268" y="268"/>
                  </a:lnTo>
                  <a:lnTo>
                    <a:pt x="1" y="26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6">
              <a:extLst>
                <a:ext uri="{FF2B5EF4-FFF2-40B4-BE49-F238E27FC236}">
                  <a16:creationId xmlns:a16="http://schemas.microsoft.com/office/drawing/2014/main" id="{F12029C2-94EC-22D5-7733-ECA2F7AFC6F3}"/>
                </a:ext>
              </a:extLst>
            </p:cNvPr>
            <p:cNvSpPr/>
            <p:nvPr/>
          </p:nvSpPr>
          <p:spPr>
            <a:xfrm>
              <a:off x="1118194" y="3337276"/>
              <a:ext cx="483736" cy="487461"/>
            </a:xfrm>
            <a:custGeom>
              <a:avLst/>
              <a:gdLst/>
              <a:ahLst/>
              <a:cxnLst/>
              <a:rect l="l" t="t" r="r" b="b"/>
              <a:pathLst>
                <a:path w="4560" h="4595" extrusionOk="0">
                  <a:moveTo>
                    <a:pt x="3622" y="2302"/>
                  </a:moveTo>
                  <a:cubicBezTo>
                    <a:pt x="3622" y="3042"/>
                    <a:pt x="3025" y="3649"/>
                    <a:pt x="2275" y="3649"/>
                  </a:cubicBezTo>
                  <a:cubicBezTo>
                    <a:pt x="1535" y="3649"/>
                    <a:pt x="937" y="3042"/>
                    <a:pt x="937" y="2302"/>
                  </a:cubicBezTo>
                  <a:cubicBezTo>
                    <a:pt x="937" y="1562"/>
                    <a:pt x="1535" y="955"/>
                    <a:pt x="2275" y="955"/>
                  </a:cubicBezTo>
                  <a:cubicBezTo>
                    <a:pt x="3025" y="955"/>
                    <a:pt x="3622" y="1562"/>
                    <a:pt x="3622" y="2302"/>
                  </a:cubicBezTo>
                  <a:close/>
                  <a:moveTo>
                    <a:pt x="4158" y="2302"/>
                  </a:moveTo>
                  <a:cubicBezTo>
                    <a:pt x="4158" y="2213"/>
                    <a:pt x="4158" y="2132"/>
                    <a:pt x="4149" y="2043"/>
                  </a:cubicBezTo>
                  <a:lnTo>
                    <a:pt x="4559" y="1651"/>
                  </a:lnTo>
                  <a:lnTo>
                    <a:pt x="3979" y="652"/>
                  </a:lnTo>
                  <a:lnTo>
                    <a:pt x="3435" y="812"/>
                  </a:lnTo>
                  <a:cubicBezTo>
                    <a:pt x="3292" y="705"/>
                    <a:pt x="3150" y="616"/>
                    <a:pt x="2989" y="553"/>
                  </a:cubicBezTo>
                  <a:lnTo>
                    <a:pt x="2855" y="0"/>
                  </a:lnTo>
                  <a:lnTo>
                    <a:pt x="1704" y="0"/>
                  </a:lnTo>
                  <a:lnTo>
                    <a:pt x="1562" y="553"/>
                  </a:lnTo>
                  <a:cubicBezTo>
                    <a:pt x="1410" y="616"/>
                    <a:pt x="1258" y="705"/>
                    <a:pt x="1124" y="812"/>
                  </a:cubicBezTo>
                  <a:lnTo>
                    <a:pt x="580" y="652"/>
                  </a:lnTo>
                  <a:lnTo>
                    <a:pt x="0" y="1651"/>
                  </a:lnTo>
                  <a:lnTo>
                    <a:pt x="411" y="2043"/>
                  </a:lnTo>
                  <a:cubicBezTo>
                    <a:pt x="402" y="2132"/>
                    <a:pt x="393" y="2213"/>
                    <a:pt x="393" y="2302"/>
                  </a:cubicBezTo>
                  <a:cubicBezTo>
                    <a:pt x="393" y="2382"/>
                    <a:pt x="402" y="2471"/>
                    <a:pt x="411" y="2552"/>
                  </a:cubicBezTo>
                  <a:lnTo>
                    <a:pt x="0" y="2944"/>
                  </a:lnTo>
                  <a:lnTo>
                    <a:pt x="580" y="3943"/>
                  </a:lnTo>
                  <a:lnTo>
                    <a:pt x="1124" y="3792"/>
                  </a:lnTo>
                  <a:cubicBezTo>
                    <a:pt x="1258" y="3890"/>
                    <a:pt x="1410" y="3979"/>
                    <a:pt x="1562" y="4042"/>
                  </a:cubicBezTo>
                  <a:lnTo>
                    <a:pt x="1704" y="4595"/>
                  </a:lnTo>
                  <a:lnTo>
                    <a:pt x="2855" y="4595"/>
                  </a:lnTo>
                  <a:lnTo>
                    <a:pt x="2989" y="4042"/>
                  </a:lnTo>
                  <a:cubicBezTo>
                    <a:pt x="3150" y="3979"/>
                    <a:pt x="3292" y="3890"/>
                    <a:pt x="3435" y="3792"/>
                  </a:cubicBezTo>
                  <a:lnTo>
                    <a:pt x="3979" y="3943"/>
                  </a:lnTo>
                  <a:lnTo>
                    <a:pt x="4559" y="2944"/>
                  </a:lnTo>
                  <a:lnTo>
                    <a:pt x="4149" y="2552"/>
                  </a:lnTo>
                  <a:cubicBezTo>
                    <a:pt x="4158" y="2471"/>
                    <a:pt x="4158" y="2382"/>
                    <a:pt x="4158" y="230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6" name="Google Shape;536;p36">
            <a:extLst>
              <a:ext uri="{FF2B5EF4-FFF2-40B4-BE49-F238E27FC236}">
                <a16:creationId xmlns:a16="http://schemas.microsoft.com/office/drawing/2014/main" id="{5A628D19-7072-D2FD-74BF-05BC8D32AE55}"/>
              </a:ext>
            </a:extLst>
          </p:cNvPr>
          <p:cNvGrpSpPr/>
          <p:nvPr/>
        </p:nvGrpSpPr>
        <p:grpSpPr>
          <a:xfrm>
            <a:off x="4771805" y="3043054"/>
            <a:ext cx="382199" cy="380717"/>
            <a:chOff x="1114375" y="3933464"/>
            <a:chExt cx="490313" cy="488412"/>
          </a:xfrm>
        </p:grpSpPr>
        <p:sp>
          <p:nvSpPr>
            <p:cNvPr id="537" name="Google Shape;537;p36">
              <a:extLst>
                <a:ext uri="{FF2B5EF4-FFF2-40B4-BE49-F238E27FC236}">
                  <a16:creationId xmlns:a16="http://schemas.microsoft.com/office/drawing/2014/main" id="{FB0B1071-0438-24DD-F492-9D3972DD5B4A}"/>
                </a:ext>
              </a:extLst>
            </p:cNvPr>
            <p:cNvSpPr/>
            <p:nvPr/>
          </p:nvSpPr>
          <p:spPr>
            <a:xfrm>
              <a:off x="1316888" y="4019604"/>
              <a:ext cx="28536" cy="28537"/>
            </a:xfrm>
            <a:custGeom>
              <a:avLst/>
              <a:gdLst/>
              <a:ahLst/>
              <a:cxnLst/>
              <a:rect l="l" t="t" r="r" b="b"/>
              <a:pathLst>
                <a:path w="269" h="269" extrusionOk="0">
                  <a:moveTo>
                    <a:pt x="1" y="0"/>
                  </a:moveTo>
                  <a:lnTo>
                    <a:pt x="268" y="0"/>
                  </a:lnTo>
                  <a:lnTo>
                    <a:pt x="268" y="268"/>
                  </a:lnTo>
                  <a:lnTo>
                    <a:pt x="1" y="26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6">
              <a:extLst>
                <a:ext uri="{FF2B5EF4-FFF2-40B4-BE49-F238E27FC236}">
                  <a16:creationId xmlns:a16="http://schemas.microsoft.com/office/drawing/2014/main" id="{69F6979E-1BFE-1C9F-BF77-C7D60D9C7FEF}"/>
                </a:ext>
              </a:extLst>
            </p:cNvPr>
            <p:cNvSpPr/>
            <p:nvPr/>
          </p:nvSpPr>
          <p:spPr>
            <a:xfrm>
              <a:off x="1187254" y="3933464"/>
              <a:ext cx="344556" cy="202622"/>
            </a:xfrm>
            <a:custGeom>
              <a:avLst/>
              <a:gdLst/>
              <a:ahLst/>
              <a:cxnLst/>
              <a:rect l="l" t="t" r="r" b="b"/>
              <a:pathLst>
                <a:path w="3248" h="1910" extrusionOk="0">
                  <a:moveTo>
                    <a:pt x="2302" y="1615"/>
                  </a:moveTo>
                  <a:lnTo>
                    <a:pt x="2035" y="1615"/>
                  </a:lnTo>
                  <a:lnTo>
                    <a:pt x="2035" y="545"/>
                  </a:lnTo>
                  <a:lnTo>
                    <a:pt x="2302" y="545"/>
                  </a:lnTo>
                  <a:close/>
                  <a:moveTo>
                    <a:pt x="1758" y="1615"/>
                  </a:moveTo>
                  <a:lnTo>
                    <a:pt x="1490" y="1615"/>
                  </a:lnTo>
                  <a:lnTo>
                    <a:pt x="1490" y="1348"/>
                  </a:lnTo>
                  <a:lnTo>
                    <a:pt x="1223" y="1348"/>
                  </a:lnTo>
                  <a:lnTo>
                    <a:pt x="1223" y="1615"/>
                  </a:lnTo>
                  <a:lnTo>
                    <a:pt x="955" y="1615"/>
                  </a:lnTo>
                  <a:lnTo>
                    <a:pt x="955" y="545"/>
                  </a:lnTo>
                  <a:lnTo>
                    <a:pt x="1758" y="545"/>
                  </a:lnTo>
                  <a:close/>
                  <a:moveTo>
                    <a:pt x="3248" y="1"/>
                  </a:moveTo>
                  <a:lnTo>
                    <a:pt x="1" y="1"/>
                  </a:lnTo>
                  <a:lnTo>
                    <a:pt x="1" y="1910"/>
                  </a:lnTo>
                  <a:lnTo>
                    <a:pt x="3248" y="191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6">
              <a:extLst>
                <a:ext uri="{FF2B5EF4-FFF2-40B4-BE49-F238E27FC236}">
                  <a16:creationId xmlns:a16="http://schemas.microsoft.com/office/drawing/2014/main" id="{1634D878-5467-D8AF-A768-831309CF6E0A}"/>
                </a:ext>
              </a:extLst>
            </p:cNvPr>
            <p:cNvSpPr/>
            <p:nvPr/>
          </p:nvSpPr>
          <p:spPr>
            <a:xfrm>
              <a:off x="1114375" y="4164407"/>
              <a:ext cx="490313" cy="257468"/>
            </a:xfrm>
            <a:custGeom>
              <a:avLst/>
              <a:gdLst/>
              <a:ahLst/>
              <a:cxnLst/>
              <a:rect l="l" t="t" r="r" b="b"/>
              <a:pathLst>
                <a:path w="4622" h="2427" extrusionOk="0">
                  <a:moveTo>
                    <a:pt x="4069" y="1338"/>
                  </a:moveTo>
                  <a:cubicBezTo>
                    <a:pt x="3819" y="1338"/>
                    <a:pt x="3614" y="1517"/>
                    <a:pt x="3551" y="1749"/>
                  </a:cubicBezTo>
                  <a:lnTo>
                    <a:pt x="2838" y="1749"/>
                  </a:lnTo>
                  <a:cubicBezTo>
                    <a:pt x="2784" y="1561"/>
                    <a:pt x="2641" y="1410"/>
                    <a:pt x="2445" y="1356"/>
                  </a:cubicBezTo>
                  <a:lnTo>
                    <a:pt x="2445" y="536"/>
                  </a:lnTo>
                  <a:lnTo>
                    <a:pt x="4203" y="536"/>
                  </a:lnTo>
                  <a:lnTo>
                    <a:pt x="4203" y="0"/>
                  </a:lnTo>
                  <a:lnTo>
                    <a:pt x="420" y="0"/>
                  </a:lnTo>
                  <a:lnTo>
                    <a:pt x="420" y="536"/>
                  </a:lnTo>
                  <a:lnTo>
                    <a:pt x="2177" y="536"/>
                  </a:lnTo>
                  <a:lnTo>
                    <a:pt x="2177" y="1356"/>
                  </a:lnTo>
                  <a:cubicBezTo>
                    <a:pt x="1990" y="1410"/>
                    <a:pt x="1838" y="1561"/>
                    <a:pt x="1794" y="1749"/>
                  </a:cubicBezTo>
                  <a:lnTo>
                    <a:pt x="1080" y="1749"/>
                  </a:lnTo>
                  <a:cubicBezTo>
                    <a:pt x="1018" y="1508"/>
                    <a:pt x="795" y="1330"/>
                    <a:pt x="527" y="1347"/>
                  </a:cubicBezTo>
                  <a:cubicBezTo>
                    <a:pt x="259" y="1356"/>
                    <a:pt x="36" y="1579"/>
                    <a:pt x="19" y="1856"/>
                  </a:cubicBezTo>
                  <a:cubicBezTo>
                    <a:pt x="1" y="2159"/>
                    <a:pt x="250" y="2418"/>
                    <a:pt x="554" y="2418"/>
                  </a:cubicBezTo>
                  <a:cubicBezTo>
                    <a:pt x="804" y="2418"/>
                    <a:pt x="1018" y="2248"/>
                    <a:pt x="1080" y="2016"/>
                  </a:cubicBezTo>
                  <a:lnTo>
                    <a:pt x="1794" y="2016"/>
                  </a:lnTo>
                  <a:cubicBezTo>
                    <a:pt x="1856" y="2248"/>
                    <a:pt x="2061" y="2418"/>
                    <a:pt x="2311" y="2418"/>
                  </a:cubicBezTo>
                  <a:cubicBezTo>
                    <a:pt x="2561" y="2418"/>
                    <a:pt x="2775" y="2248"/>
                    <a:pt x="2838" y="2016"/>
                  </a:cubicBezTo>
                  <a:lnTo>
                    <a:pt x="3551" y="2016"/>
                  </a:lnTo>
                  <a:cubicBezTo>
                    <a:pt x="3614" y="2257"/>
                    <a:pt x="3837" y="2427"/>
                    <a:pt x="4095" y="2418"/>
                  </a:cubicBezTo>
                  <a:cubicBezTo>
                    <a:pt x="4372" y="2409"/>
                    <a:pt x="4595" y="2186"/>
                    <a:pt x="4613" y="1909"/>
                  </a:cubicBezTo>
                  <a:cubicBezTo>
                    <a:pt x="4622" y="1597"/>
                    <a:pt x="4381" y="1338"/>
                    <a:pt x="4069" y="13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Google Shape;510;p36">
            <a:extLst>
              <a:ext uri="{FF2B5EF4-FFF2-40B4-BE49-F238E27FC236}">
                <a16:creationId xmlns:a16="http://schemas.microsoft.com/office/drawing/2014/main" id="{848B2E02-6A12-2D3B-058E-C507EB55A1DF}"/>
              </a:ext>
            </a:extLst>
          </p:cNvPr>
          <p:cNvSpPr txBox="1">
            <a:spLocks/>
          </p:cNvSpPr>
          <p:nvPr/>
        </p:nvSpPr>
        <p:spPr>
          <a:xfrm>
            <a:off x="5331699" y="1406651"/>
            <a:ext cx="2566634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r>
              <a:rPr lang="en-GB" sz="1600" b="1" dirty="0"/>
              <a:t>Financial Capacity</a:t>
            </a:r>
          </a:p>
        </p:txBody>
      </p:sp>
      <p:sp>
        <p:nvSpPr>
          <p:cNvPr id="9" name="Google Shape;510;p36">
            <a:extLst>
              <a:ext uri="{FF2B5EF4-FFF2-40B4-BE49-F238E27FC236}">
                <a16:creationId xmlns:a16="http://schemas.microsoft.com/office/drawing/2014/main" id="{F63C0441-20E9-6251-6296-3C811B4DF5D3}"/>
              </a:ext>
            </a:extLst>
          </p:cNvPr>
          <p:cNvSpPr txBox="1">
            <a:spLocks/>
          </p:cNvSpPr>
          <p:nvPr/>
        </p:nvSpPr>
        <p:spPr>
          <a:xfrm>
            <a:off x="1587095" y="2865359"/>
            <a:ext cx="2446062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r>
              <a:rPr lang="en-GB" sz="1600" b="1" dirty="0"/>
              <a:t>Career Stability</a:t>
            </a:r>
          </a:p>
        </p:txBody>
      </p:sp>
      <p:sp>
        <p:nvSpPr>
          <p:cNvPr id="10" name="Google Shape;510;p36">
            <a:extLst>
              <a:ext uri="{FF2B5EF4-FFF2-40B4-BE49-F238E27FC236}">
                <a16:creationId xmlns:a16="http://schemas.microsoft.com/office/drawing/2014/main" id="{1D01B3F6-CB19-EDEF-F95C-4B45D479E791}"/>
              </a:ext>
            </a:extLst>
          </p:cNvPr>
          <p:cNvSpPr txBox="1">
            <a:spLocks/>
          </p:cNvSpPr>
          <p:nvPr/>
        </p:nvSpPr>
        <p:spPr>
          <a:xfrm>
            <a:off x="5330955" y="2919172"/>
            <a:ext cx="2928481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r>
              <a:rPr lang="en-GB" sz="1600" b="1" dirty="0"/>
              <a:t>Capital Allocation</a:t>
            </a:r>
          </a:p>
        </p:txBody>
      </p:sp>
    </p:spTree>
    <p:extLst>
      <p:ext uri="{BB962C8B-B14F-4D97-AF65-F5344CB8AC3E}">
        <p14:creationId xmlns:p14="http://schemas.microsoft.com/office/powerpoint/2010/main" val="2241430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>
          <a:extLst>
            <a:ext uri="{FF2B5EF4-FFF2-40B4-BE49-F238E27FC236}">
              <a16:creationId xmlns:a16="http://schemas.microsoft.com/office/drawing/2014/main" id="{095E53EC-9645-85BA-4EB2-638EE8676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43">
            <a:extLst>
              <a:ext uri="{FF2B5EF4-FFF2-40B4-BE49-F238E27FC236}">
                <a16:creationId xmlns:a16="http://schemas.microsoft.com/office/drawing/2014/main" id="{2153280E-91B9-4822-E391-47765EE690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Our Implementation Journey</a:t>
            </a:r>
            <a:endParaRPr lang="en-GB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45" name="Google Shape;745;p43">
            <a:extLst>
              <a:ext uri="{FF2B5EF4-FFF2-40B4-BE49-F238E27FC236}">
                <a16:creationId xmlns:a16="http://schemas.microsoft.com/office/drawing/2014/main" id="{E44ACE95-56D7-D5CB-8436-41BF6A5F0666}"/>
              </a:ext>
            </a:extLst>
          </p:cNvPr>
          <p:cNvSpPr txBox="1"/>
          <p:nvPr/>
        </p:nvSpPr>
        <p:spPr>
          <a:xfrm>
            <a:off x="1144544" y="1982131"/>
            <a:ext cx="1997400" cy="792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Safely importing raw, unstructured dataset files (CSV/Excel) into the Power BI environment.</a:t>
            </a:r>
            <a:endParaRPr sz="1200"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746" name="Google Shape;746;p43">
            <a:extLst>
              <a:ext uri="{FF2B5EF4-FFF2-40B4-BE49-F238E27FC236}">
                <a16:creationId xmlns:a16="http://schemas.microsoft.com/office/drawing/2014/main" id="{8B07C357-F36C-E258-28AB-1736E90DD07F}"/>
              </a:ext>
            </a:extLst>
          </p:cNvPr>
          <p:cNvSpPr/>
          <p:nvPr/>
        </p:nvSpPr>
        <p:spPr>
          <a:xfrm>
            <a:off x="3142687" y="1863899"/>
            <a:ext cx="711600" cy="711600"/>
          </a:xfrm>
          <a:prstGeom prst="ellipse">
            <a:avLst/>
          </a:prstGeom>
          <a:gradFill>
            <a:gsLst>
              <a:gs pos="0">
                <a:srgbClr val="E7ECFF">
                  <a:alpha val="50196"/>
                </a:srgbClr>
              </a:gs>
              <a:gs pos="7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43">
            <a:extLst>
              <a:ext uri="{FF2B5EF4-FFF2-40B4-BE49-F238E27FC236}">
                <a16:creationId xmlns:a16="http://schemas.microsoft.com/office/drawing/2014/main" id="{9B6DD914-2704-01B6-A744-29B88E3B10A1}"/>
              </a:ext>
            </a:extLst>
          </p:cNvPr>
          <p:cNvSpPr/>
          <p:nvPr/>
        </p:nvSpPr>
        <p:spPr>
          <a:xfrm flipH="1">
            <a:off x="5289750" y="1863926"/>
            <a:ext cx="711600" cy="711600"/>
          </a:xfrm>
          <a:prstGeom prst="ellipse">
            <a:avLst/>
          </a:prstGeom>
          <a:gradFill>
            <a:gsLst>
              <a:gs pos="0">
                <a:srgbClr val="E7ECFF">
                  <a:alpha val="50196"/>
                </a:srgbClr>
              </a:gs>
              <a:gs pos="7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49" name="Google Shape;749;p43">
            <a:extLst>
              <a:ext uri="{FF2B5EF4-FFF2-40B4-BE49-F238E27FC236}">
                <a16:creationId xmlns:a16="http://schemas.microsoft.com/office/drawing/2014/main" id="{3CE58F60-5AF6-4048-89B0-A9B8FDEFAD2B}"/>
              </a:ext>
            </a:extLst>
          </p:cNvPr>
          <p:cNvCxnSpPr>
            <a:cxnSpLocks/>
            <a:stCxn id="746" idx="6"/>
            <a:endCxn id="748" idx="6"/>
          </p:cNvCxnSpPr>
          <p:nvPr/>
        </p:nvCxnSpPr>
        <p:spPr>
          <a:xfrm>
            <a:off x="3854287" y="2219699"/>
            <a:ext cx="1435463" cy="27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51" name="Google Shape;751;p43">
            <a:extLst>
              <a:ext uri="{FF2B5EF4-FFF2-40B4-BE49-F238E27FC236}">
                <a16:creationId xmlns:a16="http://schemas.microsoft.com/office/drawing/2014/main" id="{D309BB88-3AD1-C45D-8588-5F585F818A00}"/>
              </a:ext>
            </a:extLst>
          </p:cNvPr>
          <p:cNvSpPr/>
          <p:nvPr/>
        </p:nvSpPr>
        <p:spPr>
          <a:xfrm>
            <a:off x="3142687" y="3192362"/>
            <a:ext cx="711600" cy="711600"/>
          </a:xfrm>
          <a:prstGeom prst="ellipse">
            <a:avLst/>
          </a:prstGeom>
          <a:gradFill>
            <a:gsLst>
              <a:gs pos="0">
                <a:srgbClr val="E7ECFF">
                  <a:alpha val="50196"/>
                </a:srgbClr>
              </a:gs>
              <a:gs pos="7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43">
            <a:extLst>
              <a:ext uri="{FF2B5EF4-FFF2-40B4-BE49-F238E27FC236}">
                <a16:creationId xmlns:a16="http://schemas.microsoft.com/office/drawing/2014/main" id="{C1E37CC9-690A-80F2-B0EC-9C762C0B6538}"/>
              </a:ext>
            </a:extLst>
          </p:cNvPr>
          <p:cNvSpPr/>
          <p:nvPr/>
        </p:nvSpPr>
        <p:spPr>
          <a:xfrm flipH="1">
            <a:off x="5289750" y="3192385"/>
            <a:ext cx="711600" cy="711600"/>
          </a:xfrm>
          <a:prstGeom prst="ellipse">
            <a:avLst/>
          </a:prstGeom>
          <a:gradFill>
            <a:gsLst>
              <a:gs pos="0">
                <a:srgbClr val="E7ECFF">
                  <a:alpha val="50196"/>
                </a:srgbClr>
              </a:gs>
              <a:gs pos="7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54" name="Google Shape;754;p43">
            <a:extLst>
              <a:ext uri="{FF2B5EF4-FFF2-40B4-BE49-F238E27FC236}">
                <a16:creationId xmlns:a16="http://schemas.microsoft.com/office/drawing/2014/main" id="{5B05760E-0080-3B1C-CC84-6DA5E5583D75}"/>
              </a:ext>
            </a:extLst>
          </p:cNvPr>
          <p:cNvCxnSpPr>
            <a:stCxn id="751" idx="6"/>
            <a:endCxn id="753" idx="6"/>
          </p:cNvCxnSpPr>
          <p:nvPr/>
        </p:nvCxnSpPr>
        <p:spPr>
          <a:xfrm>
            <a:off x="3854287" y="3548162"/>
            <a:ext cx="1435500" cy="6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6" name="Google Shape;756;p43">
            <a:extLst>
              <a:ext uri="{FF2B5EF4-FFF2-40B4-BE49-F238E27FC236}">
                <a16:creationId xmlns:a16="http://schemas.microsoft.com/office/drawing/2014/main" id="{E076FDD9-6C06-83F3-6A96-8DB6DA1B630F}"/>
              </a:ext>
            </a:extLst>
          </p:cNvPr>
          <p:cNvCxnSpPr>
            <a:cxnSpLocks/>
            <a:stCxn id="748" idx="5"/>
            <a:endCxn id="751" idx="7"/>
          </p:cNvCxnSpPr>
          <p:nvPr/>
        </p:nvCxnSpPr>
        <p:spPr>
          <a:xfrm rot="5400000">
            <a:off x="4159390" y="2062002"/>
            <a:ext cx="825258" cy="164388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" name="Google Shape;745;p43">
            <a:extLst>
              <a:ext uri="{FF2B5EF4-FFF2-40B4-BE49-F238E27FC236}">
                <a16:creationId xmlns:a16="http://schemas.microsoft.com/office/drawing/2014/main" id="{2DD996DF-9FDD-228C-1277-3E4037ED82C4}"/>
              </a:ext>
            </a:extLst>
          </p:cNvPr>
          <p:cNvSpPr txBox="1"/>
          <p:nvPr/>
        </p:nvSpPr>
        <p:spPr>
          <a:xfrm>
            <a:off x="1152618" y="1665109"/>
            <a:ext cx="2300700" cy="218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Extraction</a:t>
            </a:r>
            <a:endParaRPr sz="1600" b="1"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9" name="Google Shape;745;p43">
            <a:extLst>
              <a:ext uri="{FF2B5EF4-FFF2-40B4-BE49-F238E27FC236}">
                <a16:creationId xmlns:a16="http://schemas.microsoft.com/office/drawing/2014/main" id="{3FB7DEFD-DD63-C1DD-789F-ED944A41E9B7}"/>
              </a:ext>
            </a:extLst>
          </p:cNvPr>
          <p:cNvSpPr txBox="1"/>
          <p:nvPr/>
        </p:nvSpPr>
        <p:spPr>
          <a:xfrm>
            <a:off x="1152618" y="3325496"/>
            <a:ext cx="2055968" cy="75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Building the relational schema and programming custom DAX measures.</a:t>
            </a:r>
            <a:endParaRPr sz="1200"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0" name="Google Shape;745;p43">
            <a:extLst>
              <a:ext uri="{FF2B5EF4-FFF2-40B4-BE49-F238E27FC236}">
                <a16:creationId xmlns:a16="http://schemas.microsoft.com/office/drawing/2014/main" id="{48FDEDBC-1797-8F7E-3BA2-3D08BB7F1701}"/>
              </a:ext>
            </a:extLst>
          </p:cNvPr>
          <p:cNvSpPr txBox="1"/>
          <p:nvPr/>
        </p:nvSpPr>
        <p:spPr>
          <a:xfrm>
            <a:off x="1152618" y="2992919"/>
            <a:ext cx="2300700" cy="218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 err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Modeling</a:t>
            </a:r>
            <a:endParaRPr sz="1600" b="1"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3" name="Google Shape;745;p43">
            <a:extLst>
              <a:ext uri="{FF2B5EF4-FFF2-40B4-BE49-F238E27FC236}">
                <a16:creationId xmlns:a16="http://schemas.microsoft.com/office/drawing/2014/main" id="{71A0ED88-4EEC-7031-399C-8FA319216728}"/>
              </a:ext>
            </a:extLst>
          </p:cNvPr>
          <p:cNvSpPr txBox="1"/>
          <p:nvPr/>
        </p:nvSpPr>
        <p:spPr>
          <a:xfrm>
            <a:off x="6001235" y="3296574"/>
            <a:ext cx="2300700" cy="787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Designing the front-end user experience to present the insights clearly.</a:t>
            </a:r>
            <a:endParaRPr sz="1200"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4" name="Google Shape;745;p43">
            <a:extLst>
              <a:ext uri="{FF2B5EF4-FFF2-40B4-BE49-F238E27FC236}">
                <a16:creationId xmlns:a16="http://schemas.microsoft.com/office/drawing/2014/main" id="{AF56F393-0F9E-AF5C-8D3C-E4E6AA4AA2D4}"/>
              </a:ext>
            </a:extLst>
          </p:cNvPr>
          <p:cNvSpPr txBox="1"/>
          <p:nvPr/>
        </p:nvSpPr>
        <p:spPr>
          <a:xfrm>
            <a:off x="5988522" y="2998098"/>
            <a:ext cx="2300700" cy="218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Visualization</a:t>
            </a:r>
            <a:endParaRPr sz="1600" b="1"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5" name="Google Shape;745;p43">
            <a:extLst>
              <a:ext uri="{FF2B5EF4-FFF2-40B4-BE49-F238E27FC236}">
                <a16:creationId xmlns:a16="http://schemas.microsoft.com/office/drawing/2014/main" id="{B6274EC1-6C9D-CA1F-AB0A-453DCB85401B}"/>
              </a:ext>
            </a:extLst>
          </p:cNvPr>
          <p:cNvSpPr txBox="1"/>
          <p:nvPr/>
        </p:nvSpPr>
        <p:spPr>
          <a:xfrm>
            <a:off x="5988522" y="1982131"/>
            <a:ext cx="2326126" cy="787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Utilizing Power Query to clean, format, and structure the data for analysis.</a:t>
            </a:r>
            <a:endParaRPr sz="1200"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6" name="Google Shape;745;p43">
            <a:extLst>
              <a:ext uri="{FF2B5EF4-FFF2-40B4-BE49-F238E27FC236}">
                <a16:creationId xmlns:a16="http://schemas.microsoft.com/office/drawing/2014/main" id="{73E99E93-5D8A-E8AA-551B-FED960EFD241}"/>
              </a:ext>
            </a:extLst>
          </p:cNvPr>
          <p:cNvSpPr txBox="1"/>
          <p:nvPr/>
        </p:nvSpPr>
        <p:spPr>
          <a:xfrm>
            <a:off x="6001235" y="1665109"/>
            <a:ext cx="2300700" cy="218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Transformation</a:t>
            </a:r>
            <a:endParaRPr sz="1600" b="1"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26" name="Google Shape;5050;p66">
            <a:extLst>
              <a:ext uri="{FF2B5EF4-FFF2-40B4-BE49-F238E27FC236}">
                <a16:creationId xmlns:a16="http://schemas.microsoft.com/office/drawing/2014/main" id="{73D8DC49-1A9B-0380-2831-8B9EE49CCE49}"/>
              </a:ext>
            </a:extLst>
          </p:cNvPr>
          <p:cNvGrpSpPr/>
          <p:nvPr/>
        </p:nvGrpSpPr>
        <p:grpSpPr>
          <a:xfrm>
            <a:off x="3343266" y="2102105"/>
            <a:ext cx="278333" cy="280868"/>
            <a:chOff x="-45673275" y="3199326"/>
            <a:chExt cx="299347" cy="302074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27" name="Google Shape;5051;p66">
              <a:extLst>
                <a:ext uri="{FF2B5EF4-FFF2-40B4-BE49-F238E27FC236}">
                  <a16:creationId xmlns:a16="http://schemas.microsoft.com/office/drawing/2014/main" id="{10ACEF07-2859-7C47-D3B7-140E0E22514B}"/>
                </a:ext>
              </a:extLst>
            </p:cNvPr>
            <p:cNvSpPr/>
            <p:nvPr/>
          </p:nvSpPr>
          <p:spPr>
            <a:xfrm>
              <a:off x="-45672478" y="3199326"/>
              <a:ext cx="298550" cy="194175"/>
            </a:xfrm>
            <a:custGeom>
              <a:avLst/>
              <a:gdLst/>
              <a:ahLst/>
              <a:cxnLst/>
              <a:rect l="l" t="t" r="r" b="b"/>
              <a:pathLst>
                <a:path w="11942" h="7767" extrusionOk="0">
                  <a:moveTo>
                    <a:pt x="5947" y="0"/>
                  </a:moveTo>
                  <a:cubicBezTo>
                    <a:pt x="5884" y="0"/>
                    <a:pt x="5829" y="16"/>
                    <a:pt x="5798" y="47"/>
                  </a:cubicBezTo>
                  <a:lnTo>
                    <a:pt x="158" y="3607"/>
                  </a:lnTo>
                  <a:cubicBezTo>
                    <a:pt x="32" y="3670"/>
                    <a:pt x="1" y="3765"/>
                    <a:pt x="1" y="3922"/>
                  </a:cubicBezTo>
                  <a:cubicBezTo>
                    <a:pt x="1" y="4017"/>
                    <a:pt x="64" y="4143"/>
                    <a:pt x="158" y="4237"/>
                  </a:cubicBezTo>
                  <a:lnTo>
                    <a:pt x="5735" y="7735"/>
                  </a:lnTo>
                  <a:cubicBezTo>
                    <a:pt x="5798" y="7766"/>
                    <a:pt x="5861" y="7766"/>
                    <a:pt x="5955" y="7766"/>
                  </a:cubicBezTo>
                  <a:cubicBezTo>
                    <a:pt x="6018" y="7766"/>
                    <a:pt x="6050" y="7766"/>
                    <a:pt x="6144" y="7735"/>
                  </a:cubicBezTo>
                  <a:lnTo>
                    <a:pt x="11784" y="4237"/>
                  </a:lnTo>
                  <a:cubicBezTo>
                    <a:pt x="11878" y="4143"/>
                    <a:pt x="11941" y="4080"/>
                    <a:pt x="11941" y="3922"/>
                  </a:cubicBezTo>
                  <a:cubicBezTo>
                    <a:pt x="11941" y="3796"/>
                    <a:pt x="11847" y="3670"/>
                    <a:pt x="11784" y="3607"/>
                  </a:cubicBezTo>
                  <a:lnTo>
                    <a:pt x="6144" y="47"/>
                  </a:lnTo>
                  <a:cubicBezTo>
                    <a:pt x="6081" y="16"/>
                    <a:pt x="6010" y="0"/>
                    <a:pt x="59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n>
                  <a:solidFill>
                    <a:schemeClr val="tx2">
                      <a:lumMod val="20000"/>
                      <a:lumOff val="80000"/>
                    </a:schemeClr>
                  </a:solidFill>
                </a:ln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28" name="Google Shape;5052;p66">
              <a:extLst>
                <a:ext uri="{FF2B5EF4-FFF2-40B4-BE49-F238E27FC236}">
                  <a16:creationId xmlns:a16="http://schemas.microsoft.com/office/drawing/2014/main" id="{EC1788EF-9595-BAFD-6CA9-8FCEB812009B}"/>
                </a:ext>
              </a:extLst>
            </p:cNvPr>
            <p:cNvSpPr/>
            <p:nvPr/>
          </p:nvSpPr>
          <p:spPr>
            <a:xfrm>
              <a:off x="-45673275" y="3387150"/>
              <a:ext cx="299325" cy="114250"/>
            </a:xfrm>
            <a:custGeom>
              <a:avLst/>
              <a:gdLst/>
              <a:ahLst/>
              <a:cxnLst/>
              <a:rect l="l" t="t" r="r" b="b"/>
              <a:pathLst>
                <a:path w="11973" h="4570" extrusionOk="0">
                  <a:moveTo>
                    <a:pt x="693" y="1"/>
                  </a:moveTo>
                  <a:lnTo>
                    <a:pt x="158" y="348"/>
                  </a:lnTo>
                  <a:cubicBezTo>
                    <a:pt x="32" y="411"/>
                    <a:pt x="0" y="505"/>
                    <a:pt x="0" y="663"/>
                  </a:cubicBezTo>
                  <a:cubicBezTo>
                    <a:pt x="0" y="789"/>
                    <a:pt x="63" y="883"/>
                    <a:pt x="158" y="978"/>
                  </a:cubicBezTo>
                  <a:lnTo>
                    <a:pt x="5797" y="4506"/>
                  </a:lnTo>
                  <a:cubicBezTo>
                    <a:pt x="5829" y="4569"/>
                    <a:pt x="5892" y="4569"/>
                    <a:pt x="5986" y="4569"/>
                  </a:cubicBezTo>
                  <a:cubicBezTo>
                    <a:pt x="6049" y="4569"/>
                    <a:pt x="6112" y="4569"/>
                    <a:pt x="6175" y="4506"/>
                  </a:cubicBezTo>
                  <a:lnTo>
                    <a:pt x="11815" y="978"/>
                  </a:lnTo>
                  <a:cubicBezTo>
                    <a:pt x="11941" y="883"/>
                    <a:pt x="11972" y="820"/>
                    <a:pt x="11972" y="663"/>
                  </a:cubicBezTo>
                  <a:cubicBezTo>
                    <a:pt x="11972" y="537"/>
                    <a:pt x="11878" y="411"/>
                    <a:pt x="11815" y="348"/>
                  </a:cubicBezTo>
                  <a:lnTo>
                    <a:pt x="11248" y="1"/>
                  </a:lnTo>
                  <a:lnTo>
                    <a:pt x="6175" y="3151"/>
                  </a:lnTo>
                  <a:cubicBezTo>
                    <a:pt x="6144" y="3183"/>
                    <a:pt x="6049" y="3183"/>
                    <a:pt x="5986" y="3183"/>
                  </a:cubicBezTo>
                  <a:cubicBezTo>
                    <a:pt x="5892" y="3183"/>
                    <a:pt x="5860" y="3183"/>
                    <a:pt x="5797" y="3151"/>
                  </a:cubicBezTo>
                  <a:lnTo>
                    <a:pt x="6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n>
                  <a:solidFill>
                    <a:schemeClr val="tx2">
                      <a:lumMod val="20000"/>
                      <a:lumOff val="80000"/>
                    </a:schemeClr>
                  </a:solidFill>
                </a:ln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29" name="Google Shape;5053;p66">
              <a:extLst>
                <a:ext uri="{FF2B5EF4-FFF2-40B4-BE49-F238E27FC236}">
                  <a16:creationId xmlns:a16="http://schemas.microsoft.com/office/drawing/2014/main" id="{57031A01-96CE-6C12-79D0-67076EC6F426}"/>
                </a:ext>
              </a:extLst>
            </p:cNvPr>
            <p:cNvSpPr/>
            <p:nvPr/>
          </p:nvSpPr>
          <p:spPr>
            <a:xfrm>
              <a:off x="-45673275" y="3334400"/>
              <a:ext cx="299325" cy="113425"/>
            </a:xfrm>
            <a:custGeom>
              <a:avLst/>
              <a:gdLst/>
              <a:ahLst/>
              <a:cxnLst/>
              <a:rect l="l" t="t" r="r" b="b"/>
              <a:pathLst>
                <a:path w="11973" h="4537" extrusionOk="0">
                  <a:moveTo>
                    <a:pt x="693" y="0"/>
                  </a:moveTo>
                  <a:lnTo>
                    <a:pt x="158" y="378"/>
                  </a:lnTo>
                  <a:cubicBezTo>
                    <a:pt x="32" y="441"/>
                    <a:pt x="0" y="536"/>
                    <a:pt x="0" y="693"/>
                  </a:cubicBezTo>
                  <a:cubicBezTo>
                    <a:pt x="0" y="851"/>
                    <a:pt x="63" y="914"/>
                    <a:pt x="158" y="1008"/>
                  </a:cubicBezTo>
                  <a:lnTo>
                    <a:pt x="5797" y="4505"/>
                  </a:lnTo>
                  <a:cubicBezTo>
                    <a:pt x="5829" y="4537"/>
                    <a:pt x="5892" y="4537"/>
                    <a:pt x="5986" y="4537"/>
                  </a:cubicBezTo>
                  <a:cubicBezTo>
                    <a:pt x="6049" y="4537"/>
                    <a:pt x="6112" y="4537"/>
                    <a:pt x="6175" y="4505"/>
                  </a:cubicBezTo>
                  <a:lnTo>
                    <a:pt x="11815" y="1008"/>
                  </a:lnTo>
                  <a:cubicBezTo>
                    <a:pt x="11941" y="914"/>
                    <a:pt x="11972" y="851"/>
                    <a:pt x="11972" y="693"/>
                  </a:cubicBezTo>
                  <a:cubicBezTo>
                    <a:pt x="11972" y="536"/>
                    <a:pt x="11878" y="441"/>
                    <a:pt x="11815" y="378"/>
                  </a:cubicBezTo>
                  <a:lnTo>
                    <a:pt x="11248" y="0"/>
                  </a:lnTo>
                  <a:lnTo>
                    <a:pt x="6175" y="3214"/>
                  </a:lnTo>
                  <a:cubicBezTo>
                    <a:pt x="6144" y="3245"/>
                    <a:pt x="6049" y="3245"/>
                    <a:pt x="5986" y="3245"/>
                  </a:cubicBezTo>
                  <a:cubicBezTo>
                    <a:pt x="5892" y="3245"/>
                    <a:pt x="5860" y="3245"/>
                    <a:pt x="5797" y="3214"/>
                  </a:cubicBezTo>
                  <a:lnTo>
                    <a:pt x="6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n>
                  <a:solidFill>
                    <a:schemeClr val="tx2">
                      <a:lumMod val="20000"/>
                      <a:lumOff val="80000"/>
                    </a:schemeClr>
                  </a:solidFill>
                </a:ln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30" name="Google Shape;4916;p66">
            <a:extLst>
              <a:ext uri="{FF2B5EF4-FFF2-40B4-BE49-F238E27FC236}">
                <a16:creationId xmlns:a16="http://schemas.microsoft.com/office/drawing/2014/main" id="{769D2D3D-259C-C325-4663-E4592E0F28FC}"/>
              </a:ext>
            </a:extLst>
          </p:cNvPr>
          <p:cNvGrpSpPr/>
          <p:nvPr/>
        </p:nvGrpSpPr>
        <p:grpSpPr>
          <a:xfrm>
            <a:off x="3359342" y="3404700"/>
            <a:ext cx="278289" cy="278126"/>
            <a:chOff x="-49764975" y="3183375"/>
            <a:chExt cx="299300" cy="299125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31" name="Google Shape;4917;p66">
              <a:extLst>
                <a:ext uri="{FF2B5EF4-FFF2-40B4-BE49-F238E27FC236}">
                  <a16:creationId xmlns:a16="http://schemas.microsoft.com/office/drawing/2014/main" id="{21619F0C-AAF1-837F-E4BE-657DC456D96D}"/>
                </a:ext>
              </a:extLst>
            </p:cNvPr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4918;p66">
              <a:extLst>
                <a:ext uri="{FF2B5EF4-FFF2-40B4-BE49-F238E27FC236}">
                  <a16:creationId xmlns:a16="http://schemas.microsoft.com/office/drawing/2014/main" id="{68449A6F-32E8-9627-5AC3-BCC7D723CC45}"/>
                </a:ext>
              </a:extLst>
            </p:cNvPr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4919;p66">
              <a:extLst>
                <a:ext uri="{FF2B5EF4-FFF2-40B4-BE49-F238E27FC236}">
                  <a16:creationId xmlns:a16="http://schemas.microsoft.com/office/drawing/2014/main" id="{E523A626-01E5-04BD-49B9-F75E011C53F8}"/>
                </a:ext>
              </a:extLst>
            </p:cNvPr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4920;p66">
              <a:extLst>
                <a:ext uri="{FF2B5EF4-FFF2-40B4-BE49-F238E27FC236}">
                  <a16:creationId xmlns:a16="http://schemas.microsoft.com/office/drawing/2014/main" id="{B9D44081-CD97-821D-26E0-E82468DEB244}"/>
                </a:ext>
              </a:extLst>
            </p:cNvPr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4921;p66">
              <a:extLst>
                <a:ext uri="{FF2B5EF4-FFF2-40B4-BE49-F238E27FC236}">
                  <a16:creationId xmlns:a16="http://schemas.microsoft.com/office/drawing/2014/main" id="{F9A730F8-0B04-22C6-BA90-03944699C129}"/>
                </a:ext>
              </a:extLst>
            </p:cNvPr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4922;p66">
              <a:extLst>
                <a:ext uri="{FF2B5EF4-FFF2-40B4-BE49-F238E27FC236}">
                  <a16:creationId xmlns:a16="http://schemas.microsoft.com/office/drawing/2014/main" id="{50254D41-92F2-0FCF-93EF-611348E3028F}"/>
                </a:ext>
              </a:extLst>
            </p:cNvPr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4923;p66">
              <a:extLst>
                <a:ext uri="{FF2B5EF4-FFF2-40B4-BE49-F238E27FC236}">
                  <a16:creationId xmlns:a16="http://schemas.microsoft.com/office/drawing/2014/main" id="{90B07550-F959-3512-C7DF-39D48376A035}"/>
                </a:ext>
              </a:extLst>
            </p:cNvPr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924;p66">
              <a:extLst>
                <a:ext uri="{FF2B5EF4-FFF2-40B4-BE49-F238E27FC236}">
                  <a16:creationId xmlns:a16="http://schemas.microsoft.com/office/drawing/2014/main" id="{024A6FFE-46DA-E382-0CA9-C41CE3CFA384}"/>
                </a:ext>
              </a:extLst>
            </p:cNvPr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4925;p66">
              <a:extLst>
                <a:ext uri="{FF2B5EF4-FFF2-40B4-BE49-F238E27FC236}">
                  <a16:creationId xmlns:a16="http://schemas.microsoft.com/office/drawing/2014/main" id="{0E42DC67-DE0E-35C6-6511-948647004B45}"/>
                </a:ext>
              </a:extLst>
            </p:cNvPr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" name="Google Shape;3818;p64">
            <a:extLst>
              <a:ext uri="{FF2B5EF4-FFF2-40B4-BE49-F238E27FC236}">
                <a16:creationId xmlns:a16="http://schemas.microsoft.com/office/drawing/2014/main" id="{2D016438-C8F6-C2BB-4E55-CB07A5640355}"/>
              </a:ext>
            </a:extLst>
          </p:cNvPr>
          <p:cNvGrpSpPr/>
          <p:nvPr/>
        </p:nvGrpSpPr>
        <p:grpSpPr>
          <a:xfrm>
            <a:off x="5505642" y="3408116"/>
            <a:ext cx="279815" cy="278430"/>
            <a:chOff x="-62151950" y="4111775"/>
            <a:chExt cx="318225" cy="316650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41" name="Google Shape;3819;p64">
              <a:extLst>
                <a:ext uri="{FF2B5EF4-FFF2-40B4-BE49-F238E27FC236}">
                  <a16:creationId xmlns:a16="http://schemas.microsoft.com/office/drawing/2014/main" id="{24B3FBB2-52DE-82D5-A885-D884928F635E}"/>
                </a:ext>
              </a:extLst>
            </p:cNvPr>
            <p:cNvSpPr/>
            <p:nvPr/>
          </p:nvSpPr>
          <p:spPr>
            <a:xfrm>
              <a:off x="-62151950" y="4407925"/>
              <a:ext cx="318225" cy="20500"/>
            </a:xfrm>
            <a:custGeom>
              <a:avLst/>
              <a:gdLst/>
              <a:ahLst/>
              <a:cxnLst/>
              <a:rect l="l" t="t" r="r" b="b"/>
              <a:pathLst>
                <a:path w="12729" h="820" extrusionOk="0"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cubicBezTo>
                    <a:pt x="1" y="662"/>
                    <a:pt x="221" y="819"/>
                    <a:pt x="442" y="819"/>
                  </a:cubicBezTo>
                  <a:lnTo>
                    <a:pt x="12288" y="819"/>
                  </a:lnTo>
                  <a:cubicBezTo>
                    <a:pt x="12540" y="819"/>
                    <a:pt x="12697" y="630"/>
                    <a:pt x="12697" y="441"/>
                  </a:cubicBezTo>
                  <a:cubicBezTo>
                    <a:pt x="12729" y="158"/>
                    <a:pt x="12540" y="0"/>
                    <a:pt x="122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820;p64">
              <a:extLst>
                <a:ext uri="{FF2B5EF4-FFF2-40B4-BE49-F238E27FC236}">
                  <a16:creationId xmlns:a16="http://schemas.microsoft.com/office/drawing/2014/main" id="{1CF1795E-6FA8-6770-2B8E-F2CA309230DA}"/>
                </a:ext>
              </a:extLst>
            </p:cNvPr>
            <p:cNvSpPr/>
            <p:nvPr/>
          </p:nvSpPr>
          <p:spPr>
            <a:xfrm>
              <a:off x="-62151950" y="4283475"/>
              <a:ext cx="84300" cy="104000"/>
            </a:xfrm>
            <a:custGeom>
              <a:avLst/>
              <a:gdLst/>
              <a:ahLst/>
              <a:cxnLst/>
              <a:rect l="l" t="t" r="r" b="b"/>
              <a:pathLst>
                <a:path w="3372" h="4160" extrusionOk="0">
                  <a:moveTo>
                    <a:pt x="1009" y="0"/>
                  </a:moveTo>
                  <a:cubicBezTo>
                    <a:pt x="442" y="0"/>
                    <a:pt x="1" y="442"/>
                    <a:pt x="1" y="1009"/>
                  </a:cubicBezTo>
                  <a:lnTo>
                    <a:pt x="1" y="3214"/>
                  </a:lnTo>
                  <a:cubicBezTo>
                    <a:pt x="64" y="3718"/>
                    <a:pt x="473" y="4159"/>
                    <a:pt x="1009" y="4159"/>
                  </a:cubicBezTo>
                  <a:lnTo>
                    <a:pt x="2363" y="4159"/>
                  </a:lnTo>
                  <a:cubicBezTo>
                    <a:pt x="2931" y="4159"/>
                    <a:pt x="3372" y="3718"/>
                    <a:pt x="3372" y="3214"/>
                  </a:cubicBezTo>
                  <a:lnTo>
                    <a:pt x="3372" y="1009"/>
                  </a:lnTo>
                  <a:cubicBezTo>
                    <a:pt x="3372" y="442"/>
                    <a:pt x="2931" y="0"/>
                    <a:pt x="23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821;p64">
              <a:extLst>
                <a:ext uri="{FF2B5EF4-FFF2-40B4-BE49-F238E27FC236}">
                  <a16:creationId xmlns:a16="http://schemas.microsoft.com/office/drawing/2014/main" id="{4A64F109-81D1-A934-4EC3-60D6A96AB0CD}"/>
                </a:ext>
              </a:extLst>
            </p:cNvPr>
            <p:cNvSpPr/>
            <p:nvPr/>
          </p:nvSpPr>
          <p:spPr>
            <a:xfrm>
              <a:off x="-62033800" y="4111775"/>
              <a:ext cx="82725" cy="275700"/>
            </a:xfrm>
            <a:custGeom>
              <a:avLst/>
              <a:gdLst/>
              <a:ahLst/>
              <a:cxnLst/>
              <a:rect l="l" t="t" r="r" b="b"/>
              <a:pathLst>
                <a:path w="3309" h="11028" extrusionOk="0">
                  <a:moveTo>
                    <a:pt x="946" y="0"/>
                  </a:moveTo>
                  <a:cubicBezTo>
                    <a:pt x="410" y="0"/>
                    <a:pt x="0" y="410"/>
                    <a:pt x="0" y="977"/>
                  </a:cubicBezTo>
                  <a:lnTo>
                    <a:pt x="0" y="10082"/>
                  </a:lnTo>
                  <a:cubicBezTo>
                    <a:pt x="0" y="10618"/>
                    <a:pt x="441" y="11027"/>
                    <a:pt x="946" y="11027"/>
                  </a:cubicBezTo>
                  <a:lnTo>
                    <a:pt x="2332" y="11027"/>
                  </a:lnTo>
                  <a:cubicBezTo>
                    <a:pt x="2899" y="11027"/>
                    <a:pt x="3308" y="10586"/>
                    <a:pt x="3308" y="10082"/>
                  </a:cubicBezTo>
                  <a:lnTo>
                    <a:pt x="3308" y="977"/>
                  </a:lnTo>
                  <a:cubicBezTo>
                    <a:pt x="3308" y="410"/>
                    <a:pt x="2899" y="0"/>
                    <a:pt x="23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822;p64">
              <a:extLst>
                <a:ext uri="{FF2B5EF4-FFF2-40B4-BE49-F238E27FC236}">
                  <a16:creationId xmlns:a16="http://schemas.microsoft.com/office/drawing/2014/main" id="{93F3A2F6-BA85-19A2-A9E7-91E5369ECAD0}"/>
                </a:ext>
              </a:extLst>
            </p:cNvPr>
            <p:cNvSpPr/>
            <p:nvPr/>
          </p:nvSpPr>
          <p:spPr>
            <a:xfrm>
              <a:off x="-61916450" y="4200775"/>
              <a:ext cx="82725" cy="186700"/>
            </a:xfrm>
            <a:custGeom>
              <a:avLst/>
              <a:gdLst/>
              <a:ahLst/>
              <a:cxnLst/>
              <a:rect l="l" t="t" r="r" b="b"/>
              <a:pathLst>
                <a:path w="3309" h="7468" extrusionOk="0">
                  <a:moveTo>
                    <a:pt x="946" y="0"/>
                  </a:moveTo>
                  <a:cubicBezTo>
                    <a:pt x="410" y="0"/>
                    <a:pt x="1" y="442"/>
                    <a:pt x="1" y="1009"/>
                  </a:cubicBezTo>
                  <a:lnTo>
                    <a:pt x="1" y="6522"/>
                  </a:lnTo>
                  <a:cubicBezTo>
                    <a:pt x="1" y="7058"/>
                    <a:pt x="442" y="7467"/>
                    <a:pt x="946" y="7467"/>
                  </a:cubicBezTo>
                  <a:lnTo>
                    <a:pt x="2332" y="7467"/>
                  </a:lnTo>
                  <a:cubicBezTo>
                    <a:pt x="2868" y="7467"/>
                    <a:pt x="3309" y="7026"/>
                    <a:pt x="3309" y="6522"/>
                  </a:cubicBezTo>
                  <a:lnTo>
                    <a:pt x="3309" y="1009"/>
                  </a:lnTo>
                  <a:cubicBezTo>
                    <a:pt x="3309" y="442"/>
                    <a:pt x="2868" y="0"/>
                    <a:pt x="23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" name="Google Shape;5044;p66">
            <a:extLst>
              <a:ext uri="{FF2B5EF4-FFF2-40B4-BE49-F238E27FC236}">
                <a16:creationId xmlns:a16="http://schemas.microsoft.com/office/drawing/2014/main" id="{36400CC3-76A6-DE9A-0B16-595B01CF7794}"/>
              </a:ext>
            </a:extLst>
          </p:cNvPr>
          <p:cNvGrpSpPr/>
          <p:nvPr/>
        </p:nvGrpSpPr>
        <p:grpSpPr>
          <a:xfrm>
            <a:off x="5505642" y="2113504"/>
            <a:ext cx="279033" cy="212390"/>
            <a:chOff x="-47523400" y="3973950"/>
            <a:chExt cx="300100" cy="228425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46" name="Google Shape;5045;p66">
              <a:extLst>
                <a:ext uri="{FF2B5EF4-FFF2-40B4-BE49-F238E27FC236}">
                  <a16:creationId xmlns:a16="http://schemas.microsoft.com/office/drawing/2014/main" id="{4A1F977C-84D4-0B0E-8EFA-DA321AA3F1EC}"/>
                </a:ext>
              </a:extLst>
            </p:cNvPr>
            <p:cNvSpPr/>
            <p:nvPr/>
          </p:nvSpPr>
          <p:spPr>
            <a:xfrm>
              <a:off x="-47417075" y="4061375"/>
              <a:ext cx="15775" cy="15775"/>
            </a:xfrm>
            <a:custGeom>
              <a:avLst/>
              <a:gdLst/>
              <a:ahLst/>
              <a:cxnLst/>
              <a:rect l="l" t="t" r="r" b="b"/>
              <a:pathLst>
                <a:path w="631" h="631" extrusionOk="0">
                  <a:moveTo>
                    <a:pt x="0" y="0"/>
                  </a:moveTo>
                  <a:lnTo>
                    <a:pt x="0" y="630"/>
                  </a:lnTo>
                  <a:cubicBezTo>
                    <a:pt x="284" y="536"/>
                    <a:pt x="504" y="315"/>
                    <a:pt x="6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046;p66">
              <a:extLst>
                <a:ext uri="{FF2B5EF4-FFF2-40B4-BE49-F238E27FC236}">
                  <a16:creationId xmlns:a16="http://schemas.microsoft.com/office/drawing/2014/main" id="{36AE5825-3181-4E98-63A0-80585484B830}"/>
                </a:ext>
              </a:extLst>
            </p:cNvPr>
            <p:cNvSpPr/>
            <p:nvPr/>
          </p:nvSpPr>
          <p:spPr>
            <a:xfrm>
              <a:off x="-47417875" y="4061375"/>
              <a:ext cx="52800" cy="52775"/>
            </a:xfrm>
            <a:custGeom>
              <a:avLst/>
              <a:gdLst/>
              <a:ahLst/>
              <a:cxnLst/>
              <a:rect l="l" t="t" r="r" b="b"/>
              <a:pathLst>
                <a:path w="2112" h="2111" extrusionOk="0">
                  <a:moveTo>
                    <a:pt x="1356" y="0"/>
                  </a:moveTo>
                  <a:cubicBezTo>
                    <a:pt x="1261" y="693"/>
                    <a:pt x="694" y="1260"/>
                    <a:pt x="1" y="1386"/>
                  </a:cubicBezTo>
                  <a:lnTo>
                    <a:pt x="1" y="2111"/>
                  </a:lnTo>
                  <a:lnTo>
                    <a:pt x="2112" y="2111"/>
                  </a:lnTo>
                  <a:lnTo>
                    <a:pt x="21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047;p66">
              <a:extLst>
                <a:ext uri="{FF2B5EF4-FFF2-40B4-BE49-F238E27FC236}">
                  <a16:creationId xmlns:a16="http://schemas.microsoft.com/office/drawing/2014/main" id="{9D01B8EE-605D-C55B-5BDA-49A4EC29A0BC}"/>
                </a:ext>
              </a:extLst>
            </p:cNvPr>
            <p:cNvSpPr/>
            <p:nvPr/>
          </p:nvSpPr>
          <p:spPr>
            <a:xfrm>
              <a:off x="-47453300" y="4026700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71" y="1"/>
                  </a:moveTo>
                  <a:cubicBezTo>
                    <a:pt x="473" y="1"/>
                    <a:pt x="0" y="473"/>
                    <a:pt x="0" y="1072"/>
                  </a:cubicBezTo>
                  <a:cubicBezTo>
                    <a:pt x="0" y="1545"/>
                    <a:pt x="284" y="1891"/>
                    <a:pt x="693" y="2049"/>
                  </a:cubicBezTo>
                  <a:lnTo>
                    <a:pt x="693" y="1072"/>
                  </a:lnTo>
                  <a:cubicBezTo>
                    <a:pt x="693" y="883"/>
                    <a:pt x="851" y="725"/>
                    <a:pt x="1071" y="725"/>
                  </a:cubicBezTo>
                  <a:lnTo>
                    <a:pt x="2048" y="725"/>
                  </a:lnTo>
                  <a:cubicBezTo>
                    <a:pt x="1922" y="284"/>
                    <a:pt x="151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048;p66">
              <a:extLst>
                <a:ext uri="{FF2B5EF4-FFF2-40B4-BE49-F238E27FC236}">
                  <a16:creationId xmlns:a16="http://schemas.microsoft.com/office/drawing/2014/main" id="{F7625D39-E576-6BF4-69AD-C547DA8FA4E7}"/>
                </a:ext>
              </a:extLst>
            </p:cNvPr>
            <p:cNvSpPr/>
            <p:nvPr/>
          </p:nvSpPr>
          <p:spPr>
            <a:xfrm>
              <a:off x="-47506875" y="3973950"/>
              <a:ext cx="264675" cy="174875"/>
            </a:xfrm>
            <a:custGeom>
              <a:avLst/>
              <a:gdLst/>
              <a:ahLst/>
              <a:cxnLst/>
              <a:rect l="l" t="t" r="r" b="b"/>
              <a:pathLst>
                <a:path w="10587" h="6995" extrusionOk="0">
                  <a:moveTo>
                    <a:pt x="8854" y="1418"/>
                  </a:moveTo>
                  <a:cubicBezTo>
                    <a:pt x="9074" y="1418"/>
                    <a:pt x="9232" y="1575"/>
                    <a:pt x="9232" y="1764"/>
                  </a:cubicBezTo>
                  <a:cubicBezTo>
                    <a:pt x="9232" y="1953"/>
                    <a:pt x="9074" y="2111"/>
                    <a:pt x="8854" y="2111"/>
                  </a:cubicBezTo>
                  <a:lnTo>
                    <a:pt x="7436" y="2111"/>
                  </a:lnTo>
                  <a:cubicBezTo>
                    <a:pt x="7247" y="2111"/>
                    <a:pt x="7089" y="1953"/>
                    <a:pt x="7089" y="1764"/>
                  </a:cubicBezTo>
                  <a:cubicBezTo>
                    <a:pt x="7089" y="1575"/>
                    <a:pt x="7247" y="1418"/>
                    <a:pt x="7436" y="1418"/>
                  </a:cubicBezTo>
                  <a:close/>
                  <a:moveTo>
                    <a:pt x="8854" y="2772"/>
                  </a:moveTo>
                  <a:cubicBezTo>
                    <a:pt x="9074" y="2772"/>
                    <a:pt x="9232" y="2930"/>
                    <a:pt x="9232" y="3151"/>
                  </a:cubicBezTo>
                  <a:cubicBezTo>
                    <a:pt x="9232" y="3340"/>
                    <a:pt x="9074" y="3497"/>
                    <a:pt x="8854" y="3497"/>
                  </a:cubicBezTo>
                  <a:lnTo>
                    <a:pt x="7436" y="3497"/>
                  </a:lnTo>
                  <a:cubicBezTo>
                    <a:pt x="7247" y="3497"/>
                    <a:pt x="7089" y="3340"/>
                    <a:pt x="7089" y="3151"/>
                  </a:cubicBezTo>
                  <a:cubicBezTo>
                    <a:pt x="7089" y="2930"/>
                    <a:pt x="7247" y="2772"/>
                    <a:pt x="7436" y="2772"/>
                  </a:cubicBezTo>
                  <a:close/>
                  <a:moveTo>
                    <a:pt x="8854" y="4190"/>
                  </a:moveTo>
                  <a:cubicBezTo>
                    <a:pt x="9074" y="4190"/>
                    <a:pt x="9232" y="4348"/>
                    <a:pt x="9232" y="4568"/>
                  </a:cubicBezTo>
                  <a:cubicBezTo>
                    <a:pt x="9232" y="4757"/>
                    <a:pt x="9074" y="4915"/>
                    <a:pt x="8854" y="4915"/>
                  </a:cubicBezTo>
                  <a:lnTo>
                    <a:pt x="7436" y="4915"/>
                  </a:lnTo>
                  <a:cubicBezTo>
                    <a:pt x="7247" y="4915"/>
                    <a:pt x="7089" y="4757"/>
                    <a:pt x="7089" y="4568"/>
                  </a:cubicBezTo>
                  <a:cubicBezTo>
                    <a:pt x="7089" y="4348"/>
                    <a:pt x="7247" y="4190"/>
                    <a:pt x="7436" y="4190"/>
                  </a:cubicBezTo>
                  <a:close/>
                  <a:moveTo>
                    <a:pt x="3246" y="1355"/>
                  </a:moveTo>
                  <a:cubicBezTo>
                    <a:pt x="4096" y="1355"/>
                    <a:pt x="4821" y="1953"/>
                    <a:pt x="4979" y="2772"/>
                  </a:cubicBezTo>
                  <a:lnTo>
                    <a:pt x="6081" y="2772"/>
                  </a:lnTo>
                  <a:cubicBezTo>
                    <a:pt x="6270" y="2772"/>
                    <a:pt x="6428" y="2930"/>
                    <a:pt x="6428" y="3151"/>
                  </a:cubicBezTo>
                  <a:lnTo>
                    <a:pt x="6428" y="5986"/>
                  </a:lnTo>
                  <a:lnTo>
                    <a:pt x="6396" y="5986"/>
                  </a:lnTo>
                  <a:cubicBezTo>
                    <a:pt x="6396" y="6175"/>
                    <a:pt x="6239" y="6333"/>
                    <a:pt x="6018" y="6333"/>
                  </a:cubicBezTo>
                  <a:lnTo>
                    <a:pt x="3246" y="6333"/>
                  </a:lnTo>
                  <a:cubicBezTo>
                    <a:pt x="3025" y="6333"/>
                    <a:pt x="2868" y="6175"/>
                    <a:pt x="2868" y="5986"/>
                  </a:cubicBezTo>
                  <a:lnTo>
                    <a:pt x="2868" y="4883"/>
                  </a:lnTo>
                  <a:cubicBezTo>
                    <a:pt x="2080" y="4726"/>
                    <a:pt x="1450" y="4001"/>
                    <a:pt x="1450" y="3151"/>
                  </a:cubicBezTo>
                  <a:cubicBezTo>
                    <a:pt x="1450" y="2142"/>
                    <a:pt x="2238" y="1355"/>
                    <a:pt x="3246" y="1355"/>
                  </a:cubicBezTo>
                  <a:close/>
                  <a:moveTo>
                    <a:pt x="8854" y="5608"/>
                  </a:moveTo>
                  <a:cubicBezTo>
                    <a:pt x="9074" y="5608"/>
                    <a:pt x="9232" y="5765"/>
                    <a:pt x="9232" y="5986"/>
                  </a:cubicBezTo>
                  <a:cubicBezTo>
                    <a:pt x="9232" y="6175"/>
                    <a:pt x="9074" y="6333"/>
                    <a:pt x="8854" y="6333"/>
                  </a:cubicBezTo>
                  <a:lnTo>
                    <a:pt x="7436" y="6333"/>
                  </a:lnTo>
                  <a:cubicBezTo>
                    <a:pt x="7247" y="6333"/>
                    <a:pt x="7089" y="6175"/>
                    <a:pt x="7089" y="5986"/>
                  </a:cubicBezTo>
                  <a:cubicBezTo>
                    <a:pt x="7089" y="5765"/>
                    <a:pt x="7247" y="5608"/>
                    <a:pt x="7436" y="5608"/>
                  </a:cubicBez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6994"/>
                  </a:lnTo>
                  <a:lnTo>
                    <a:pt x="10586" y="6994"/>
                  </a:lnTo>
                  <a:lnTo>
                    <a:pt x="10586" y="347"/>
                  </a:lnTo>
                  <a:cubicBezTo>
                    <a:pt x="10586" y="158"/>
                    <a:pt x="10429" y="0"/>
                    <a:pt x="10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49;p66">
              <a:extLst>
                <a:ext uri="{FF2B5EF4-FFF2-40B4-BE49-F238E27FC236}">
                  <a16:creationId xmlns:a16="http://schemas.microsoft.com/office/drawing/2014/main" id="{5F30F6A5-63C9-8287-8760-6913C2AE1FDB}"/>
                </a:ext>
              </a:extLst>
            </p:cNvPr>
            <p:cNvSpPr/>
            <p:nvPr/>
          </p:nvSpPr>
          <p:spPr>
            <a:xfrm>
              <a:off x="-47523400" y="4166900"/>
              <a:ext cx="300100" cy="35475"/>
            </a:xfrm>
            <a:custGeom>
              <a:avLst/>
              <a:gdLst/>
              <a:ahLst/>
              <a:cxnLst/>
              <a:rect l="l" t="t" r="r" b="b"/>
              <a:pathLst>
                <a:path w="12004" h="1419" extrusionOk="0">
                  <a:moveTo>
                    <a:pt x="0" y="1"/>
                  </a:moveTo>
                  <a:lnTo>
                    <a:pt x="0" y="1040"/>
                  </a:lnTo>
                  <a:cubicBezTo>
                    <a:pt x="0" y="1261"/>
                    <a:pt x="158" y="1418"/>
                    <a:pt x="347" y="1418"/>
                  </a:cubicBezTo>
                  <a:lnTo>
                    <a:pt x="11657" y="1418"/>
                  </a:lnTo>
                  <a:cubicBezTo>
                    <a:pt x="11846" y="1418"/>
                    <a:pt x="12004" y="1261"/>
                    <a:pt x="12004" y="1040"/>
                  </a:cubicBezTo>
                  <a:lnTo>
                    <a:pt x="120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71620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6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Data Cleaning &amp; Transformation</a:t>
            </a:r>
          </a:p>
        </p:txBody>
      </p:sp>
      <p:sp>
        <p:nvSpPr>
          <p:cNvPr id="506" name="Google Shape;506;p36"/>
          <p:cNvSpPr txBox="1">
            <a:spLocks noGrp="1"/>
          </p:cNvSpPr>
          <p:nvPr>
            <p:ph type="subTitle" idx="1"/>
          </p:nvPr>
        </p:nvSpPr>
        <p:spPr>
          <a:xfrm>
            <a:off x="1982622" y="1861088"/>
            <a:ext cx="2273439" cy="70713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dirty="0"/>
              <a:t>Promoted headers, unified column names, and corrected data types.</a:t>
            </a:r>
          </a:p>
        </p:txBody>
      </p:sp>
      <p:sp>
        <p:nvSpPr>
          <p:cNvPr id="507" name="Google Shape;507;p36"/>
          <p:cNvSpPr txBox="1">
            <a:spLocks noGrp="1"/>
          </p:cNvSpPr>
          <p:nvPr>
            <p:ph type="subTitle" idx="2"/>
          </p:nvPr>
        </p:nvSpPr>
        <p:spPr>
          <a:xfrm>
            <a:off x="5763475" y="1843705"/>
            <a:ext cx="2273439" cy="72451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dirty="0"/>
              <a:t>Filtered out irrelevant data and removed duplicate records.</a:t>
            </a:r>
          </a:p>
        </p:txBody>
      </p:sp>
      <p:sp>
        <p:nvSpPr>
          <p:cNvPr id="508" name="Google Shape;508;p36"/>
          <p:cNvSpPr txBox="1">
            <a:spLocks noGrp="1"/>
          </p:cNvSpPr>
          <p:nvPr>
            <p:ph type="subTitle" idx="3"/>
          </p:nvPr>
        </p:nvSpPr>
        <p:spPr>
          <a:xfrm>
            <a:off x="2018871" y="3350755"/>
            <a:ext cx="2221650" cy="73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dirty="0"/>
              <a:t>Addressed missing values by establishing clear categories.</a:t>
            </a:r>
          </a:p>
        </p:txBody>
      </p:sp>
      <p:sp>
        <p:nvSpPr>
          <p:cNvPr id="509" name="Google Shape;509;p36"/>
          <p:cNvSpPr txBox="1">
            <a:spLocks noGrp="1"/>
          </p:cNvSpPr>
          <p:nvPr>
            <p:ph type="subTitle" idx="4"/>
          </p:nvPr>
        </p:nvSpPr>
        <p:spPr>
          <a:xfrm>
            <a:off x="5875299" y="3376482"/>
            <a:ext cx="2160871" cy="72451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dirty="0"/>
              <a:t>Cleaned text fields for accurate DAX evaluations.</a:t>
            </a:r>
          </a:p>
        </p:txBody>
      </p:sp>
      <p:sp>
        <p:nvSpPr>
          <p:cNvPr id="510" name="Google Shape;510;p36"/>
          <p:cNvSpPr txBox="1">
            <a:spLocks noGrp="1"/>
          </p:cNvSpPr>
          <p:nvPr>
            <p:ph type="subTitle" idx="5"/>
          </p:nvPr>
        </p:nvSpPr>
        <p:spPr>
          <a:xfrm>
            <a:off x="1970026" y="1361259"/>
            <a:ext cx="2273439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600" b="1" dirty="0"/>
              <a:t>Standardization</a:t>
            </a:r>
            <a:endParaRPr lang="en-GB" sz="1600" dirty="0"/>
          </a:p>
        </p:txBody>
      </p:sp>
      <p:sp>
        <p:nvSpPr>
          <p:cNvPr id="514" name="Google Shape;514;p36"/>
          <p:cNvSpPr/>
          <p:nvPr/>
        </p:nvSpPr>
        <p:spPr>
          <a:xfrm>
            <a:off x="1233828" y="1323063"/>
            <a:ext cx="736200" cy="736200"/>
          </a:xfrm>
          <a:prstGeom prst="ellipse">
            <a:avLst/>
          </a:prstGeom>
          <a:gradFill>
            <a:gsLst>
              <a:gs pos="0">
                <a:srgbClr val="4B6EF8">
                  <a:alpha val="7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36"/>
          <p:cNvSpPr/>
          <p:nvPr/>
        </p:nvSpPr>
        <p:spPr>
          <a:xfrm>
            <a:off x="4962892" y="1357805"/>
            <a:ext cx="736200" cy="736200"/>
          </a:xfrm>
          <a:prstGeom prst="ellipse">
            <a:avLst/>
          </a:prstGeom>
          <a:gradFill>
            <a:gsLst>
              <a:gs pos="0">
                <a:srgbClr val="4B6EF8">
                  <a:alpha val="7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36"/>
          <p:cNvSpPr/>
          <p:nvPr/>
        </p:nvSpPr>
        <p:spPr>
          <a:xfrm>
            <a:off x="1218288" y="2806529"/>
            <a:ext cx="736200" cy="736200"/>
          </a:xfrm>
          <a:prstGeom prst="ellipse">
            <a:avLst/>
          </a:prstGeom>
          <a:gradFill>
            <a:gsLst>
              <a:gs pos="0">
                <a:srgbClr val="4B6EF8">
                  <a:alpha val="7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36"/>
          <p:cNvSpPr/>
          <p:nvPr/>
        </p:nvSpPr>
        <p:spPr>
          <a:xfrm>
            <a:off x="4962148" y="2865359"/>
            <a:ext cx="736200" cy="736200"/>
          </a:xfrm>
          <a:prstGeom prst="ellipse">
            <a:avLst/>
          </a:prstGeom>
          <a:gradFill>
            <a:gsLst>
              <a:gs pos="0">
                <a:srgbClr val="4B6EF8">
                  <a:alpha val="70196"/>
                  <a:alpha val="49380"/>
                </a:srgbClr>
              </a:gs>
              <a:gs pos="77000">
                <a:srgbClr val="FFFFFF">
                  <a:alpha val="0"/>
                  <a:alpha val="49380"/>
                </a:srgbClr>
              </a:gs>
              <a:gs pos="100000">
                <a:srgbClr val="FFFFFF">
                  <a:alpha val="0"/>
                  <a:alpha val="4938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8" name="Google Shape;518;p36"/>
          <p:cNvGrpSpPr/>
          <p:nvPr/>
        </p:nvGrpSpPr>
        <p:grpSpPr>
          <a:xfrm>
            <a:off x="1434526" y="1501113"/>
            <a:ext cx="335729" cy="380054"/>
            <a:chOff x="1144715" y="2144793"/>
            <a:chExt cx="430698" cy="487561"/>
          </a:xfrm>
        </p:grpSpPr>
        <p:sp>
          <p:nvSpPr>
            <p:cNvPr id="519" name="Google Shape;519;p36"/>
            <p:cNvSpPr/>
            <p:nvPr/>
          </p:nvSpPr>
          <p:spPr>
            <a:xfrm>
              <a:off x="1273394" y="2144793"/>
              <a:ext cx="72030" cy="199864"/>
            </a:xfrm>
            <a:custGeom>
              <a:avLst/>
              <a:gdLst/>
              <a:ahLst/>
              <a:cxnLst/>
              <a:rect l="l" t="t" r="r" b="b"/>
              <a:pathLst>
                <a:path w="679" h="1884" extrusionOk="0">
                  <a:moveTo>
                    <a:pt x="678" y="1883"/>
                  </a:moveTo>
                  <a:lnTo>
                    <a:pt x="678" y="1"/>
                  </a:lnTo>
                  <a:cubicBezTo>
                    <a:pt x="295" y="72"/>
                    <a:pt x="0" y="402"/>
                    <a:pt x="0" y="813"/>
                  </a:cubicBezTo>
                  <a:lnTo>
                    <a:pt x="0" y="1080"/>
                  </a:lnTo>
                  <a:cubicBezTo>
                    <a:pt x="0" y="1482"/>
                    <a:pt x="295" y="1821"/>
                    <a:pt x="678" y="18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6"/>
            <p:cNvSpPr/>
            <p:nvPr/>
          </p:nvSpPr>
          <p:spPr>
            <a:xfrm>
              <a:off x="1373749" y="2144793"/>
              <a:ext cx="72879" cy="199864"/>
            </a:xfrm>
            <a:custGeom>
              <a:avLst/>
              <a:gdLst/>
              <a:ahLst/>
              <a:cxnLst/>
              <a:rect l="l" t="t" r="r" b="b"/>
              <a:pathLst>
                <a:path w="687" h="1884" extrusionOk="0">
                  <a:moveTo>
                    <a:pt x="0" y="1883"/>
                  </a:moveTo>
                  <a:cubicBezTo>
                    <a:pt x="393" y="1821"/>
                    <a:pt x="687" y="1482"/>
                    <a:pt x="687" y="1080"/>
                  </a:cubicBezTo>
                  <a:lnTo>
                    <a:pt x="687" y="813"/>
                  </a:lnTo>
                  <a:cubicBezTo>
                    <a:pt x="687" y="402"/>
                    <a:pt x="393" y="72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6"/>
            <p:cNvSpPr/>
            <p:nvPr/>
          </p:nvSpPr>
          <p:spPr>
            <a:xfrm>
              <a:off x="1173039" y="2374782"/>
              <a:ext cx="373941" cy="114678"/>
            </a:xfrm>
            <a:custGeom>
              <a:avLst/>
              <a:gdLst/>
              <a:ahLst/>
              <a:cxnLst/>
              <a:rect l="l" t="t" r="r" b="b"/>
              <a:pathLst>
                <a:path w="3525" h="1081" extrusionOk="0">
                  <a:moveTo>
                    <a:pt x="2989" y="679"/>
                  </a:moveTo>
                  <a:lnTo>
                    <a:pt x="2722" y="679"/>
                  </a:lnTo>
                  <a:lnTo>
                    <a:pt x="2722" y="402"/>
                  </a:lnTo>
                  <a:lnTo>
                    <a:pt x="2989" y="402"/>
                  </a:lnTo>
                  <a:close/>
                  <a:moveTo>
                    <a:pt x="2445" y="679"/>
                  </a:moveTo>
                  <a:lnTo>
                    <a:pt x="2169" y="679"/>
                  </a:lnTo>
                  <a:lnTo>
                    <a:pt x="2169" y="402"/>
                  </a:lnTo>
                  <a:lnTo>
                    <a:pt x="2445" y="402"/>
                  </a:lnTo>
                  <a:close/>
                  <a:moveTo>
                    <a:pt x="1348" y="679"/>
                  </a:moveTo>
                  <a:lnTo>
                    <a:pt x="1080" y="679"/>
                  </a:lnTo>
                  <a:lnTo>
                    <a:pt x="1080" y="402"/>
                  </a:lnTo>
                  <a:lnTo>
                    <a:pt x="1348" y="402"/>
                  </a:lnTo>
                  <a:close/>
                  <a:moveTo>
                    <a:pt x="813" y="679"/>
                  </a:moveTo>
                  <a:lnTo>
                    <a:pt x="536" y="679"/>
                  </a:lnTo>
                  <a:lnTo>
                    <a:pt x="536" y="402"/>
                  </a:lnTo>
                  <a:lnTo>
                    <a:pt x="813" y="402"/>
                  </a:lnTo>
                  <a:close/>
                  <a:moveTo>
                    <a:pt x="3525" y="1"/>
                  </a:moveTo>
                  <a:lnTo>
                    <a:pt x="1" y="1"/>
                  </a:lnTo>
                  <a:lnTo>
                    <a:pt x="1" y="1080"/>
                  </a:lnTo>
                  <a:lnTo>
                    <a:pt x="3525" y="108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6"/>
            <p:cNvSpPr/>
            <p:nvPr/>
          </p:nvSpPr>
          <p:spPr>
            <a:xfrm>
              <a:off x="1173039" y="2517676"/>
              <a:ext cx="373941" cy="114678"/>
            </a:xfrm>
            <a:custGeom>
              <a:avLst/>
              <a:gdLst/>
              <a:ahLst/>
              <a:cxnLst/>
              <a:rect l="l" t="t" r="r" b="b"/>
              <a:pathLst>
                <a:path w="3525" h="1081" extrusionOk="0">
                  <a:moveTo>
                    <a:pt x="536" y="402"/>
                  </a:moveTo>
                  <a:lnTo>
                    <a:pt x="813" y="402"/>
                  </a:lnTo>
                  <a:lnTo>
                    <a:pt x="813" y="670"/>
                  </a:lnTo>
                  <a:lnTo>
                    <a:pt x="536" y="670"/>
                  </a:lnTo>
                  <a:close/>
                  <a:moveTo>
                    <a:pt x="1080" y="402"/>
                  </a:moveTo>
                  <a:lnTo>
                    <a:pt x="1348" y="402"/>
                  </a:lnTo>
                  <a:lnTo>
                    <a:pt x="1348" y="670"/>
                  </a:lnTo>
                  <a:lnTo>
                    <a:pt x="1080" y="670"/>
                  </a:lnTo>
                  <a:close/>
                  <a:moveTo>
                    <a:pt x="2169" y="402"/>
                  </a:moveTo>
                  <a:lnTo>
                    <a:pt x="2445" y="402"/>
                  </a:lnTo>
                  <a:lnTo>
                    <a:pt x="2445" y="670"/>
                  </a:lnTo>
                  <a:lnTo>
                    <a:pt x="2169" y="670"/>
                  </a:lnTo>
                  <a:close/>
                  <a:moveTo>
                    <a:pt x="2722" y="402"/>
                  </a:moveTo>
                  <a:lnTo>
                    <a:pt x="2989" y="402"/>
                  </a:lnTo>
                  <a:lnTo>
                    <a:pt x="2989" y="670"/>
                  </a:lnTo>
                  <a:lnTo>
                    <a:pt x="2722" y="670"/>
                  </a:lnTo>
                  <a:close/>
                  <a:moveTo>
                    <a:pt x="1" y="1080"/>
                  </a:moveTo>
                  <a:lnTo>
                    <a:pt x="3525" y="1080"/>
                  </a:lnTo>
                  <a:lnTo>
                    <a:pt x="3525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6"/>
            <p:cNvSpPr/>
            <p:nvPr/>
          </p:nvSpPr>
          <p:spPr>
            <a:xfrm>
              <a:off x="1479726" y="2184574"/>
              <a:ext cx="38826" cy="122210"/>
            </a:xfrm>
            <a:custGeom>
              <a:avLst/>
              <a:gdLst/>
              <a:ahLst/>
              <a:cxnLst/>
              <a:rect l="l" t="t" r="r" b="b"/>
              <a:pathLst>
                <a:path w="366" h="1152" extrusionOk="0">
                  <a:moveTo>
                    <a:pt x="241" y="1151"/>
                  </a:moveTo>
                  <a:cubicBezTo>
                    <a:pt x="321" y="964"/>
                    <a:pt x="366" y="768"/>
                    <a:pt x="366" y="572"/>
                  </a:cubicBezTo>
                  <a:cubicBezTo>
                    <a:pt x="366" y="375"/>
                    <a:pt x="321" y="179"/>
                    <a:pt x="250" y="1"/>
                  </a:cubicBezTo>
                  <a:lnTo>
                    <a:pt x="0" y="99"/>
                  </a:lnTo>
                  <a:cubicBezTo>
                    <a:pt x="63" y="250"/>
                    <a:pt x="89" y="411"/>
                    <a:pt x="89" y="572"/>
                  </a:cubicBezTo>
                  <a:cubicBezTo>
                    <a:pt x="89" y="732"/>
                    <a:pt x="63" y="893"/>
                    <a:pt x="0" y="104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6"/>
            <p:cNvSpPr/>
            <p:nvPr/>
          </p:nvSpPr>
          <p:spPr>
            <a:xfrm>
              <a:off x="1531707" y="2162827"/>
              <a:ext cx="43706" cy="165705"/>
            </a:xfrm>
            <a:custGeom>
              <a:avLst/>
              <a:gdLst/>
              <a:ahLst/>
              <a:cxnLst/>
              <a:rect l="l" t="t" r="r" b="b"/>
              <a:pathLst>
                <a:path w="412" h="1562" extrusionOk="0">
                  <a:moveTo>
                    <a:pt x="251" y="1562"/>
                  </a:moveTo>
                  <a:cubicBezTo>
                    <a:pt x="358" y="1312"/>
                    <a:pt x="411" y="1053"/>
                    <a:pt x="411" y="777"/>
                  </a:cubicBezTo>
                  <a:cubicBezTo>
                    <a:pt x="411" y="509"/>
                    <a:pt x="358" y="241"/>
                    <a:pt x="260" y="0"/>
                  </a:cubicBezTo>
                  <a:lnTo>
                    <a:pt x="10" y="99"/>
                  </a:lnTo>
                  <a:cubicBezTo>
                    <a:pt x="99" y="313"/>
                    <a:pt x="144" y="545"/>
                    <a:pt x="144" y="777"/>
                  </a:cubicBezTo>
                  <a:cubicBezTo>
                    <a:pt x="144" y="1008"/>
                    <a:pt x="99" y="1240"/>
                    <a:pt x="1" y="14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6"/>
            <p:cNvSpPr/>
            <p:nvPr/>
          </p:nvSpPr>
          <p:spPr>
            <a:xfrm>
              <a:off x="1201470" y="2183619"/>
              <a:ext cx="38932" cy="122210"/>
            </a:xfrm>
            <a:custGeom>
              <a:avLst/>
              <a:gdLst/>
              <a:ahLst/>
              <a:cxnLst/>
              <a:rect l="l" t="t" r="r" b="b"/>
              <a:pathLst>
                <a:path w="367" h="1152" extrusionOk="0">
                  <a:moveTo>
                    <a:pt x="366" y="1044"/>
                  </a:moveTo>
                  <a:cubicBezTo>
                    <a:pt x="304" y="902"/>
                    <a:pt x="268" y="741"/>
                    <a:pt x="268" y="581"/>
                  </a:cubicBezTo>
                  <a:cubicBezTo>
                    <a:pt x="268" y="411"/>
                    <a:pt x="304" y="250"/>
                    <a:pt x="366" y="99"/>
                  </a:cubicBezTo>
                  <a:lnTo>
                    <a:pt x="116" y="1"/>
                  </a:lnTo>
                  <a:cubicBezTo>
                    <a:pt x="36" y="179"/>
                    <a:pt x="0" y="375"/>
                    <a:pt x="0" y="581"/>
                  </a:cubicBezTo>
                  <a:cubicBezTo>
                    <a:pt x="0" y="777"/>
                    <a:pt x="36" y="973"/>
                    <a:pt x="116" y="115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6"/>
            <p:cNvSpPr/>
            <p:nvPr/>
          </p:nvSpPr>
          <p:spPr>
            <a:xfrm>
              <a:off x="1144715" y="2160918"/>
              <a:ext cx="42645" cy="166660"/>
            </a:xfrm>
            <a:custGeom>
              <a:avLst/>
              <a:gdLst/>
              <a:ahLst/>
              <a:cxnLst/>
              <a:rect l="l" t="t" r="r" b="b"/>
              <a:pathLst>
                <a:path w="402" h="1571" extrusionOk="0">
                  <a:moveTo>
                    <a:pt x="402" y="1464"/>
                  </a:moveTo>
                  <a:cubicBezTo>
                    <a:pt x="312" y="1250"/>
                    <a:pt x="268" y="1026"/>
                    <a:pt x="268" y="795"/>
                  </a:cubicBezTo>
                  <a:cubicBezTo>
                    <a:pt x="268" y="554"/>
                    <a:pt x="312" y="322"/>
                    <a:pt x="402" y="108"/>
                  </a:cubicBezTo>
                  <a:lnTo>
                    <a:pt x="152" y="1"/>
                  </a:lnTo>
                  <a:cubicBezTo>
                    <a:pt x="54" y="250"/>
                    <a:pt x="0" y="518"/>
                    <a:pt x="0" y="795"/>
                  </a:cubicBezTo>
                  <a:cubicBezTo>
                    <a:pt x="0" y="1062"/>
                    <a:pt x="45" y="1321"/>
                    <a:pt x="152" y="15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7" name="Google Shape;527;p36"/>
          <p:cNvGrpSpPr/>
          <p:nvPr/>
        </p:nvGrpSpPr>
        <p:grpSpPr>
          <a:xfrm>
            <a:off x="5141428" y="1535918"/>
            <a:ext cx="379967" cy="379976"/>
            <a:chOff x="1116285" y="2741087"/>
            <a:chExt cx="487449" cy="487461"/>
          </a:xfrm>
        </p:grpSpPr>
        <p:sp>
          <p:nvSpPr>
            <p:cNvPr id="528" name="Google Shape;528;p36"/>
            <p:cNvSpPr/>
            <p:nvPr/>
          </p:nvSpPr>
          <p:spPr>
            <a:xfrm>
              <a:off x="1331103" y="2912306"/>
              <a:ext cx="56860" cy="57922"/>
            </a:xfrm>
            <a:custGeom>
              <a:avLst/>
              <a:gdLst/>
              <a:ahLst/>
              <a:cxnLst/>
              <a:rect l="l" t="t" r="r" b="b"/>
              <a:pathLst>
                <a:path w="536" h="546" extrusionOk="0">
                  <a:moveTo>
                    <a:pt x="268" y="1"/>
                  </a:moveTo>
                  <a:cubicBezTo>
                    <a:pt x="420" y="1"/>
                    <a:pt x="536" y="126"/>
                    <a:pt x="536" y="268"/>
                  </a:cubicBezTo>
                  <a:cubicBezTo>
                    <a:pt x="536" y="420"/>
                    <a:pt x="420" y="545"/>
                    <a:pt x="268" y="545"/>
                  </a:cubicBezTo>
                  <a:cubicBezTo>
                    <a:pt x="117" y="545"/>
                    <a:pt x="1" y="420"/>
                    <a:pt x="1" y="268"/>
                  </a:cubicBezTo>
                  <a:cubicBezTo>
                    <a:pt x="1" y="126"/>
                    <a:pt x="117" y="1"/>
                    <a:pt x="2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6"/>
            <p:cNvSpPr/>
            <p:nvPr/>
          </p:nvSpPr>
          <p:spPr>
            <a:xfrm>
              <a:off x="1315933" y="2996536"/>
              <a:ext cx="88155" cy="60681"/>
            </a:xfrm>
            <a:custGeom>
              <a:avLst/>
              <a:gdLst/>
              <a:ahLst/>
              <a:cxnLst/>
              <a:rect l="l" t="t" r="r" b="b"/>
              <a:pathLst>
                <a:path w="831" h="572" extrusionOk="0">
                  <a:moveTo>
                    <a:pt x="1" y="438"/>
                  </a:moveTo>
                  <a:lnTo>
                    <a:pt x="1" y="572"/>
                  </a:lnTo>
                  <a:lnTo>
                    <a:pt x="831" y="572"/>
                  </a:lnTo>
                  <a:lnTo>
                    <a:pt x="831" y="429"/>
                  </a:lnTo>
                  <a:cubicBezTo>
                    <a:pt x="831" y="197"/>
                    <a:pt x="625" y="1"/>
                    <a:pt x="393" y="19"/>
                  </a:cubicBezTo>
                  <a:cubicBezTo>
                    <a:pt x="170" y="28"/>
                    <a:pt x="1" y="215"/>
                    <a:pt x="1" y="4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6"/>
            <p:cNvSpPr/>
            <p:nvPr/>
          </p:nvSpPr>
          <p:spPr>
            <a:xfrm>
              <a:off x="1230749" y="2855551"/>
              <a:ext cx="258523" cy="258529"/>
            </a:xfrm>
            <a:custGeom>
              <a:avLst/>
              <a:gdLst/>
              <a:ahLst/>
              <a:cxnLst/>
              <a:rect l="l" t="t" r="r" b="b"/>
              <a:pathLst>
                <a:path w="2437" h="2437" extrusionOk="0">
                  <a:moveTo>
                    <a:pt x="1901" y="2168"/>
                  </a:moveTo>
                  <a:lnTo>
                    <a:pt x="536" y="2168"/>
                  </a:lnTo>
                  <a:lnTo>
                    <a:pt x="536" y="1758"/>
                  </a:lnTo>
                  <a:cubicBezTo>
                    <a:pt x="536" y="1517"/>
                    <a:pt x="661" y="1312"/>
                    <a:pt x="840" y="1187"/>
                  </a:cubicBezTo>
                  <a:cubicBezTo>
                    <a:pt x="733" y="1089"/>
                    <a:pt x="670" y="937"/>
                    <a:pt x="679" y="777"/>
                  </a:cubicBezTo>
                  <a:cubicBezTo>
                    <a:pt x="697" y="500"/>
                    <a:pt x="920" y="286"/>
                    <a:pt x="1187" y="268"/>
                  </a:cubicBezTo>
                  <a:cubicBezTo>
                    <a:pt x="1500" y="250"/>
                    <a:pt x="1758" y="500"/>
                    <a:pt x="1758" y="803"/>
                  </a:cubicBezTo>
                  <a:cubicBezTo>
                    <a:pt x="1758" y="955"/>
                    <a:pt x="1696" y="1089"/>
                    <a:pt x="1598" y="1187"/>
                  </a:cubicBezTo>
                  <a:cubicBezTo>
                    <a:pt x="1776" y="1312"/>
                    <a:pt x="1901" y="1517"/>
                    <a:pt x="1901" y="1758"/>
                  </a:cubicBezTo>
                  <a:close/>
                  <a:moveTo>
                    <a:pt x="2436" y="1"/>
                  </a:moveTo>
                  <a:lnTo>
                    <a:pt x="1" y="1"/>
                  </a:lnTo>
                  <a:lnTo>
                    <a:pt x="1" y="2436"/>
                  </a:lnTo>
                  <a:lnTo>
                    <a:pt x="2436" y="243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6"/>
            <p:cNvSpPr/>
            <p:nvPr/>
          </p:nvSpPr>
          <p:spPr>
            <a:xfrm>
              <a:off x="1116285" y="2741087"/>
              <a:ext cx="487449" cy="487461"/>
            </a:xfrm>
            <a:custGeom>
              <a:avLst/>
              <a:gdLst/>
              <a:ahLst/>
              <a:cxnLst/>
              <a:rect l="l" t="t" r="r" b="b"/>
              <a:pathLst>
                <a:path w="4595" h="4595" extrusionOk="0">
                  <a:moveTo>
                    <a:pt x="3783" y="3792"/>
                  </a:moveTo>
                  <a:lnTo>
                    <a:pt x="803" y="3792"/>
                  </a:lnTo>
                  <a:lnTo>
                    <a:pt x="803" y="812"/>
                  </a:lnTo>
                  <a:lnTo>
                    <a:pt x="3783" y="812"/>
                  </a:lnTo>
                  <a:close/>
                  <a:moveTo>
                    <a:pt x="4595" y="812"/>
                  </a:moveTo>
                  <a:lnTo>
                    <a:pt x="4595" y="544"/>
                  </a:lnTo>
                  <a:lnTo>
                    <a:pt x="4327" y="544"/>
                  </a:lnTo>
                  <a:lnTo>
                    <a:pt x="4327" y="268"/>
                  </a:lnTo>
                  <a:lnTo>
                    <a:pt x="4051" y="268"/>
                  </a:lnTo>
                  <a:lnTo>
                    <a:pt x="4051" y="0"/>
                  </a:lnTo>
                  <a:lnTo>
                    <a:pt x="3783" y="0"/>
                  </a:lnTo>
                  <a:lnTo>
                    <a:pt x="3783" y="268"/>
                  </a:lnTo>
                  <a:lnTo>
                    <a:pt x="3507" y="268"/>
                  </a:lnTo>
                  <a:lnTo>
                    <a:pt x="3507" y="0"/>
                  </a:lnTo>
                  <a:lnTo>
                    <a:pt x="3239" y="0"/>
                  </a:lnTo>
                  <a:lnTo>
                    <a:pt x="3239" y="268"/>
                  </a:lnTo>
                  <a:lnTo>
                    <a:pt x="2971" y="268"/>
                  </a:lnTo>
                  <a:lnTo>
                    <a:pt x="2971" y="0"/>
                  </a:lnTo>
                  <a:lnTo>
                    <a:pt x="2704" y="0"/>
                  </a:lnTo>
                  <a:lnTo>
                    <a:pt x="2704" y="268"/>
                  </a:lnTo>
                  <a:lnTo>
                    <a:pt x="2427" y="268"/>
                  </a:lnTo>
                  <a:lnTo>
                    <a:pt x="2427" y="0"/>
                  </a:lnTo>
                  <a:lnTo>
                    <a:pt x="2159" y="0"/>
                  </a:lnTo>
                  <a:lnTo>
                    <a:pt x="2159" y="268"/>
                  </a:lnTo>
                  <a:lnTo>
                    <a:pt x="1883" y="268"/>
                  </a:lnTo>
                  <a:lnTo>
                    <a:pt x="1883" y="0"/>
                  </a:lnTo>
                  <a:lnTo>
                    <a:pt x="1615" y="0"/>
                  </a:lnTo>
                  <a:lnTo>
                    <a:pt x="1615" y="268"/>
                  </a:lnTo>
                  <a:lnTo>
                    <a:pt x="1348" y="268"/>
                  </a:lnTo>
                  <a:lnTo>
                    <a:pt x="1348" y="0"/>
                  </a:lnTo>
                  <a:lnTo>
                    <a:pt x="1080" y="0"/>
                  </a:lnTo>
                  <a:lnTo>
                    <a:pt x="1080" y="268"/>
                  </a:lnTo>
                  <a:lnTo>
                    <a:pt x="803" y="268"/>
                  </a:lnTo>
                  <a:lnTo>
                    <a:pt x="803" y="0"/>
                  </a:lnTo>
                  <a:lnTo>
                    <a:pt x="536" y="0"/>
                  </a:lnTo>
                  <a:lnTo>
                    <a:pt x="536" y="268"/>
                  </a:lnTo>
                  <a:lnTo>
                    <a:pt x="268" y="268"/>
                  </a:lnTo>
                  <a:lnTo>
                    <a:pt x="268" y="544"/>
                  </a:lnTo>
                  <a:lnTo>
                    <a:pt x="1" y="544"/>
                  </a:lnTo>
                  <a:lnTo>
                    <a:pt x="1" y="812"/>
                  </a:lnTo>
                  <a:lnTo>
                    <a:pt x="268" y="812"/>
                  </a:lnTo>
                  <a:lnTo>
                    <a:pt x="268" y="1080"/>
                  </a:lnTo>
                  <a:lnTo>
                    <a:pt x="1" y="1080"/>
                  </a:lnTo>
                  <a:lnTo>
                    <a:pt x="1" y="1356"/>
                  </a:lnTo>
                  <a:lnTo>
                    <a:pt x="268" y="1356"/>
                  </a:lnTo>
                  <a:lnTo>
                    <a:pt x="268" y="1624"/>
                  </a:lnTo>
                  <a:lnTo>
                    <a:pt x="1" y="1624"/>
                  </a:lnTo>
                  <a:lnTo>
                    <a:pt x="1" y="1891"/>
                  </a:lnTo>
                  <a:lnTo>
                    <a:pt x="268" y="1891"/>
                  </a:lnTo>
                  <a:lnTo>
                    <a:pt x="268" y="2168"/>
                  </a:lnTo>
                  <a:lnTo>
                    <a:pt x="1" y="2168"/>
                  </a:lnTo>
                  <a:lnTo>
                    <a:pt x="1" y="2436"/>
                  </a:lnTo>
                  <a:lnTo>
                    <a:pt x="268" y="2436"/>
                  </a:lnTo>
                  <a:lnTo>
                    <a:pt x="268" y="2703"/>
                  </a:lnTo>
                  <a:lnTo>
                    <a:pt x="1" y="2703"/>
                  </a:lnTo>
                  <a:lnTo>
                    <a:pt x="1" y="2980"/>
                  </a:lnTo>
                  <a:lnTo>
                    <a:pt x="268" y="2980"/>
                  </a:lnTo>
                  <a:lnTo>
                    <a:pt x="268" y="3247"/>
                  </a:lnTo>
                  <a:lnTo>
                    <a:pt x="1" y="3247"/>
                  </a:lnTo>
                  <a:lnTo>
                    <a:pt x="1" y="3515"/>
                  </a:lnTo>
                  <a:lnTo>
                    <a:pt x="268" y="3515"/>
                  </a:lnTo>
                  <a:lnTo>
                    <a:pt x="268" y="3792"/>
                  </a:lnTo>
                  <a:lnTo>
                    <a:pt x="1" y="3792"/>
                  </a:lnTo>
                  <a:lnTo>
                    <a:pt x="1" y="4059"/>
                  </a:lnTo>
                  <a:lnTo>
                    <a:pt x="268" y="4059"/>
                  </a:lnTo>
                  <a:lnTo>
                    <a:pt x="268" y="4327"/>
                  </a:lnTo>
                  <a:lnTo>
                    <a:pt x="536" y="4327"/>
                  </a:lnTo>
                  <a:lnTo>
                    <a:pt x="536" y="4594"/>
                  </a:lnTo>
                  <a:lnTo>
                    <a:pt x="803" y="4594"/>
                  </a:lnTo>
                  <a:lnTo>
                    <a:pt x="803" y="4327"/>
                  </a:lnTo>
                  <a:lnTo>
                    <a:pt x="1080" y="4327"/>
                  </a:lnTo>
                  <a:lnTo>
                    <a:pt x="1080" y="4594"/>
                  </a:lnTo>
                  <a:lnTo>
                    <a:pt x="1348" y="4594"/>
                  </a:lnTo>
                  <a:lnTo>
                    <a:pt x="1348" y="4327"/>
                  </a:lnTo>
                  <a:lnTo>
                    <a:pt x="1615" y="4327"/>
                  </a:lnTo>
                  <a:lnTo>
                    <a:pt x="1615" y="4594"/>
                  </a:lnTo>
                  <a:lnTo>
                    <a:pt x="1883" y="4594"/>
                  </a:lnTo>
                  <a:lnTo>
                    <a:pt x="1883" y="4327"/>
                  </a:lnTo>
                  <a:lnTo>
                    <a:pt x="2159" y="4327"/>
                  </a:lnTo>
                  <a:lnTo>
                    <a:pt x="2159" y="4594"/>
                  </a:lnTo>
                  <a:lnTo>
                    <a:pt x="2427" y="4594"/>
                  </a:lnTo>
                  <a:lnTo>
                    <a:pt x="2427" y="4327"/>
                  </a:lnTo>
                  <a:lnTo>
                    <a:pt x="2704" y="4327"/>
                  </a:lnTo>
                  <a:lnTo>
                    <a:pt x="2704" y="4594"/>
                  </a:lnTo>
                  <a:lnTo>
                    <a:pt x="2971" y="4594"/>
                  </a:lnTo>
                  <a:lnTo>
                    <a:pt x="2971" y="4327"/>
                  </a:lnTo>
                  <a:lnTo>
                    <a:pt x="3239" y="4327"/>
                  </a:lnTo>
                  <a:lnTo>
                    <a:pt x="3239" y="4594"/>
                  </a:lnTo>
                  <a:lnTo>
                    <a:pt x="3507" y="4594"/>
                  </a:lnTo>
                  <a:lnTo>
                    <a:pt x="3507" y="4327"/>
                  </a:lnTo>
                  <a:lnTo>
                    <a:pt x="3783" y="4327"/>
                  </a:lnTo>
                  <a:lnTo>
                    <a:pt x="3783" y="4594"/>
                  </a:lnTo>
                  <a:lnTo>
                    <a:pt x="4051" y="4594"/>
                  </a:lnTo>
                  <a:lnTo>
                    <a:pt x="4051" y="4327"/>
                  </a:lnTo>
                  <a:lnTo>
                    <a:pt x="4327" y="4327"/>
                  </a:lnTo>
                  <a:lnTo>
                    <a:pt x="4327" y="4059"/>
                  </a:lnTo>
                  <a:lnTo>
                    <a:pt x="4595" y="4059"/>
                  </a:lnTo>
                  <a:lnTo>
                    <a:pt x="4595" y="3792"/>
                  </a:lnTo>
                  <a:lnTo>
                    <a:pt x="4327" y="3792"/>
                  </a:lnTo>
                  <a:lnTo>
                    <a:pt x="4327" y="3515"/>
                  </a:lnTo>
                  <a:lnTo>
                    <a:pt x="4595" y="3515"/>
                  </a:lnTo>
                  <a:lnTo>
                    <a:pt x="4595" y="3247"/>
                  </a:lnTo>
                  <a:lnTo>
                    <a:pt x="4327" y="3247"/>
                  </a:lnTo>
                  <a:lnTo>
                    <a:pt x="4327" y="2980"/>
                  </a:lnTo>
                  <a:lnTo>
                    <a:pt x="4595" y="2980"/>
                  </a:lnTo>
                  <a:lnTo>
                    <a:pt x="4595" y="2703"/>
                  </a:lnTo>
                  <a:lnTo>
                    <a:pt x="4327" y="2703"/>
                  </a:lnTo>
                  <a:lnTo>
                    <a:pt x="4327" y="2436"/>
                  </a:lnTo>
                  <a:lnTo>
                    <a:pt x="4595" y="2436"/>
                  </a:lnTo>
                  <a:lnTo>
                    <a:pt x="4595" y="2168"/>
                  </a:lnTo>
                  <a:lnTo>
                    <a:pt x="4327" y="2168"/>
                  </a:lnTo>
                  <a:lnTo>
                    <a:pt x="4327" y="1891"/>
                  </a:lnTo>
                  <a:lnTo>
                    <a:pt x="4595" y="1891"/>
                  </a:lnTo>
                  <a:lnTo>
                    <a:pt x="4595" y="1624"/>
                  </a:lnTo>
                  <a:lnTo>
                    <a:pt x="4327" y="1624"/>
                  </a:lnTo>
                  <a:lnTo>
                    <a:pt x="4327" y="1356"/>
                  </a:lnTo>
                  <a:lnTo>
                    <a:pt x="4595" y="1356"/>
                  </a:lnTo>
                  <a:lnTo>
                    <a:pt x="4595" y="1080"/>
                  </a:lnTo>
                  <a:lnTo>
                    <a:pt x="4327" y="1080"/>
                  </a:lnTo>
                  <a:lnTo>
                    <a:pt x="4327" y="81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2" name="Google Shape;532;p36"/>
          <p:cNvGrpSpPr/>
          <p:nvPr/>
        </p:nvGrpSpPr>
        <p:grpSpPr>
          <a:xfrm>
            <a:off x="1398313" y="2984645"/>
            <a:ext cx="377072" cy="379976"/>
            <a:chOff x="1118194" y="3337276"/>
            <a:chExt cx="483736" cy="487461"/>
          </a:xfrm>
        </p:grpSpPr>
        <p:sp>
          <p:nvSpPr>
            <p:cNvPr id="533" name="Google Shape;533;p36"/>
            <p:cNvSpPr/>
            <p:nvPr/>
          </p:nvSpPr>
          <p:spPr>
            <a:xfrm>
              <a:off x="1245918" y="3466909"/>
              <a:ext cx="228183" cy="229144"/>
            </a:xfrm>
            <a:custGeom>
              <a:avLst/>
              <a:gdLst/>
              <a:ahLst/>
              <a:cxnLst/>
              <a:rect l="l" t="t" r="r" b="b"/>
              <a:pathLst>
                <a:path w="2151" h="2160" extrusionOk="0">
                  <a:moveTo>
                    <a:pt x="1749" y="1615"/>
                  </a:moveTo>
                  <a:lnTo>
                    <a:pt x="1482" y="1615"/>
                  </a:lnTo>
                  <a:lnTo>
                    <a:pt x="1482" y="536"/>
                  </a:lnTo>
                  <a:lnTo>
                    <a:pt x="1749" y="536"/>
                  </a:lnTo>
                  <a:close/>
                  <a:moveTo>
                    <a:pt x="1214" y="1615"/>
                  </a:moveTo>
                  <a:lnTo>
                    <a:pt x="937" y="1615"/>
                  </a:lnTo>
                  <a:lnTo>
                    <a:pt x="937" y="1348"/>
                  </a:lnTo>
                  <a:lnTo>
                    <a:pt x="670" y="1348"/>
                  </a:lnTo>
                  <a:lnTo>
                    <a:pt x="670" y="1615"/>
                  </a:lnTo>
                  <a:lnTo>
                    <a:pt x="402" y="1615"/>
                  </a:lnTo>
                  <a:lnTo>
                    <a:pt x="402" y="536"/>
                  </a:lnTo>
                  <a:lnTo>
                    <a:pt x="1214" y="536"/>
                  </a:lnTo>
                  <a:close/>
                  <a:moveTo>
                    <a:pt x="1071" y="1"/>
                  </a:moveTo>
                  <a:cubicBezTo>
                    <a:pt x="482" y="1"/>
                    <a:pt x="1" y="491"/>
                    <a:pt x="1" y="1080"/>
                  </a:cubicBezTo>
                  <a:cubicBezTo>
                    <a:pt x="1" y="1678"/>
                    <a:pt x="482" y="2159"/>
                    <a:pt x="1071" y="2159"/>
                  </a:cubicBezTo>
                  <a:cubicBezTo>
                    <a:pt x="1669" y="2159"/>
                    <a:pt x="2151" y="1678"/>
                    <a:pt x="2151" y="1080"/>
                  </a:cubicBezTo>
                  <a:cubicBezTo>
                    <a:pt x="2151" y="491"/>
                    <a:pt x="1669" y="1"/>
                    <a:pt x="1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6"/>
            <p:cNvSpPr/>
            <p:nvPr/>
          </p:nvSpPr>
          <p:spPr>
            <a:xfrm>
              <a:off x="1316888" y="3553049"/>
              <a:ext cx="28536" cy="28431"/>
            </a:xfrm>
            <a:custGeom>
              <a:avLst/>
              <a:gdLst/>
              <a:ahLst/>
              <a:cxnLst/>
              <a:rect l="l" t="t" r="r" b="b"/>
              <a:pathLst>
                <a:path w="269" h="268" extrusionOk="0">
                  <a:moveTo>
                    <a:pt x="1" y="0"/>
                  </a:moveTo>
                  <a:lnTo>
                    <a:pt x="268" y="0"/>
                  </a:lnTo>
                  <a:lnTo>
                    <a:pt x="268" y="268"/>
                  </a:lnTo>
                  <a:lnTo>
                    <a:pt x="1" y="26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6"/>
            <p:cNvSpPr/>
            <p:nvPr/>
          </p:nvSpPr>
          <p:spPr>
            <a:xfrm>
              <a:off x="1118194" y="3337276"/>
              <a:ext cx="483736" cy="487461"/>
            </a:xfrm>
            <a:custGeom>
              <a:avLst/>
              <a:gdLst/>
              <a:ahLst/>
              <a:cxnLst/>
              <a:rect l="l" t="t" r="r" b="b"/>
              <a:pathLst>
                <a:path w="4560" h="4595" extrusionOk="0">
                  <a:moveTo>
                    <a:pt x="3622" y="2302"/>
                  </a:moveTo>
                  <a:cubicBezTo>
                    <a:pt x="3622" y="3042"/>
                    <a:pt x="3025" y="3649"/>
                    <a:pt x="2275" y="3649"/>
                  </a:cubicBezTo>
                  <a:cubicBezTo>
                    <a:pt x="1535" y="3649"/>
                    <a:pt x="937" y="3042"/>
                    <a:pt x="937" y="2302"/>
                  </a:cubicBezTo>
                  <a:cubicBezTo>
                    <a:pt x="937" y="1562"/>
                    <a:pt x="1535" y="955"/>
                    <a:pt x="2275" y="955"/>
                  </a:cubicBezTo>
                  <a:cubicBezTo>
                    <a:pt x="3025" y="955"/>
                    <a:pt x="3622" y="1562"/>
                    <a:pt x="3622" y="2302"/>
                  </a:cubicBezTo>
                  <a:close/>
                  <a:moveTo>
                    <a:pt x="4158" y="2302"/>
                  </a:moveTo>
                  <a:cubicBezTo>
                    <a:pt x="4158" y="2213"/>
                    <a:pt x="4158" y="2132"/>
                    <a:pt x="4149" y="2043"/>
                  </a:cubicBezTo>
                  <a:lnTo>
                    <a:pt x="4559" y="1651"/>
                  </a:lnTo>
                  <a:lnTo>
                    <a:pt x="3979" y="652"/>
                  </a:lnTo>
                  <a:lnTo>
                    <a:pt x="3435" y="812"/>
                  </a:lnTo>
                  <a:cubicBezTo>
                    <a:pt x="3292" y="705"/>
                    <a:pt x="3150" y="616"/>
                    <a:pt x="2989" y="553"/>
                  </a:cubicBezTo>
                  <a:lnTo>
                    <a:pt x="2855" y="0"/>
                  </a:lnTo>
                  <a:lnTo>
                    <a:pt x="1704" y="0"/>
                  </a:lnTo>
                  <a:lnTo>
                    <a:pt x="1562" y="553"/>
                  </a:lnTo>
                  <a:cubicBezTo>
                    <a:pt x="1410" y="616"/>
                    <a:pt x="1258" y="705"/>
                    <a:pt x="1124" y="812"/>
                  </a:cubicBezTo>
                  <a:lnTo>
                    <a:pt x="580" y="652"/>
                  </a:lnTo>
                  <a:lnTo>
                    <a:pt x="0" y="1651"/>
                  </a:lnTo>
                  <a:lnTo>
                    <a:pt x="411" y="2043"/>
                  </a:lnTo>
                  <a:cubicBezTo>
                    <a:pt x="402" y="2132"/>
                    <a:pt x="393" y="2213"/>
                    <a:pt x="393" y="2302"/>
                  </a:cubicBezTo>
                  <a:cubicBezTo>
                    <a:pt x="393" y="2382"/>
                    <a:pt x="402" y="2471"/>
                    <a:pt x="411" y="2552"/>
                  </a:cubicBezTo>
                  <a:lnTo>
                    <a:pt x="0" y="2944"/>
                  </a:lnTo>
                  <a:lnTo>
                    <a:pt x="580" y="3943"/>
                  </a:lnTo>
                  <a:lnTo>
                    <a:pt x="1124" y="3792"/>
                  </a:lnTo>
                  <a:cubicBezTo>
                    <a:pt x="1258" y="3890"/>
                    <a:pt x="1410" y="3979"/>
                    <a:pt x="1562" y="4042"/>
                  </a:cubicBezTo>
                  <a:lnTo>
                    <a:pt x="1704" y="4595"/>
                  </a:lnTo>
                  <a:lnTo>
                    <a:pt x="2855" y="4595"/>
                  </a:lnTo>
                  <a:lnTo>
                    <a:pt x="2989" y="4042"/>
                  </a:lnTo>
                  <a:cubicBezTo>
                    <a:pt x="3150" y="3979"/>
                    <a:pt x="3292" y="3890"/>
                    <a:pt x="3435" y="3792"/>
                  </a:cubicBezTo>
                  <a:lnTo>
                    <a:pt x="3979" y="3943"/>
                  </a:lnTo>
                  <a:lnTo>
                    <a:pt x="4559" y="2944"/>
                  </a:lnTo>
                  <a:lnTo>
                    <a:pt x="4149" y="2552"/>
                  </a:lnTo>
                  <a:cubicBezTo>
                    <a:pt x="4158" y="2471"/>
                    <a:pt x="4158" y="2382"/>
                    <a:pt x="4158" y="230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6" name="Google Shape;536;p36"/>
          <p:cNvGrpSpPr/>
          <p:nvPr/>
        </p:nvGrpSpPr>
        <p:grpSpPr>
          <a:xfrm>
            <a:off x="5139196" y="3043054"/>
            <a:ext cx="382199" cy="380717"/>
            <a:chOff x="1114375" y="3933464"/>
            <a:chExt cx="490313" cy="488412"/>
          </a:xfrm>
        </p:grpSpPr>
        <p:sp>
          <p:nvSpPr>
            <p:cNvPr id="537" name="Google Shape;537;p36"/>
            <p:cNvSpPr/>
            <p:nvPr/>
          </p:nvSpPr>
          <p:spPr>
            <a:xfrm>
              <a:off x="1316888" y="4019604"/>
              <a:ext cx="28536" cy="28537"/>
            </a:xfrm>
            <a:custGeom>
              <a:avLst/>
              <a:gdLst/>
              <a:ahLst/>
              <a:cxnLst/>
              <a:rect l="l" t="t" r="r" b="b"/>
              <a:pathLst>
                <a:path w="269" h="269" extrusionOk="0">
                  <a:moveTo>
                    <a:pt x="1" y="0"/>
                  </a:moveTo>
                  <a:lnTo>
                    <a:pt x="268" y="0"/>
                  </a:lnTo>
                  <a:lnTo>
                    <a:pt x="268" y="268"/>
                  </a:lnTo>
                  <a:lnTo>
                    <a:pt x="1" y="26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6"/>
            <p:cNvSpPr/>
            <p:nvPr/>
          </p:nvSpPr>
          <p:spPr>
            <a:xfrm>
              <a:off x="1187254" y="3933464"/>
              <a:ext cx="344556" cy="202622"/>
            </a:xfrm>
            <a:custGeom>
              <a:avLst/>
              <a:gdLst/>
              <a:ahLst/>
              <a:cxnLst/>
              <a:rect l="l" t="t" r="r" b="b"/>
              <a:pathLst>
                <a:path w="3248" h="1910" extrusionOk="0">
                  <a:moveTo>
                    <a:pt x="2302" y="1615"/>
                  </a:moveTo>
                  <a:lnTo>
                    <a:pt x="2035" y="1615"/>
                  </a:lnTo>
                  <a:lnTo>
                    <a:pt x="2035" y="545"/>
                  </a:lnTo>
                  <a:lnTo>
                    <a:pt x="2302" y="545"/>
                  </a:lnTo>
                  <a:close/>
                  <a:moveTo>
                    <a:pt x="1758" y="1615"/>
                  </a:moveTo>
                  <a:lnTo>
                    <a:pt x="1490" y="1615"/>
                  </a:lnTo>
                  <a:lnTo>
                    <a:pt x="1490" y="1348"/>
                  </a:lnTo>
                  <a:lnTo>
                    <a:pt x="1223" y="1348"/>
                  </a:lnTo>
                  <a:lnTo>
                    <a:pt x="1223" y="1615"/>
                  </a:lnTo>
                  <a:lnTo>
                    <a:pt x="955" y="1615"/>
                  </a:lnTo>
                  <a:lnTo>
                    <a:pt x="955" y="545"/>
                  </a:lnTo>
                  <a:lnTo>
                    <a:pt x="1758" y="545"/>
                  </a:lnTo>
                  <a:close/>
                  <a:moveTo>
                    <a:pt x="3248" y="1"/>
                  </a:moveTo>
                  <a:lnTo>
                    <a:pt x="1" y="1"/>
                  </a:lnTo>
                  <a:lnTo>
                    <a:pt x="1" y="1910"/>
                  </a:lnTo>
                  <a:lnTo>
                    <a:pt x="3248" y="191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6"/>
            <p:cNvSpPr/>
            <p:nvPr/>
          </p:nvSpPr>
          <p:spPr>
            <a:xfrm>
              <a:off x="1114375" y="4164407"/>
              <a:ext cx="490313" cy="257468"/>
            </a:xfrm>
            <a:custGeom>
              <a:avLst/>
              <a:gdLst/>
              <a:ahLst/>
              <a:cxnLst/>
              <a:rect l="l" t="t" r="r" b="b"/>
              <a:pathLst>
                <a:path w="4622" h="2427" extrusionOk="0">
                  <a:moveTo>
                    <a:pt x="4069" y="1338"/>
                  </a:moveTo>
                  <a:cubicBezTo>
                    <a:pt x="3819" y="1338"/>
                    <a:pt x="3614" y="1517"/>
                    <a:pt x="3551" y="1749"/>
                  </a:cubicBezTo>
                  <a:lnTo>
                    <a:pt x="2838" y="1749"/>
                  </a:lnTo>
                  <a:cubicBezTo>
                    <a:pt x="2784" y="1561"/>
                    <a:pt x="2641" y="1410"/>
                    <a:pt x="2445" y="1356"/>
                  </a:cubicBezTo>
                  <a:lnTo>
                    <a:pt x="2445" y="536"/>
                  </a:lnTo>
                  <a:lnTo>
                    <a:pt x="4203" y="536"/>
                  </a:lnTo>
                  <a:lnTo>
                    <a:pt x="4203" y="0"/>
                  </a:lnTo>
                  <a:lnTo>
                    <a:pt x="420" y="0"/>
                  </a:lnTo>
                  <a:lnTo>
                    <a:pt x="420" y="536"/>
                  </a:lnTo>
                  <a:lnTo>
                    <a:pt x="2177" y="536"/>
                  </a:lnTo>
                  <a:lnTo>
                    <a:pt x="2177" y="1356"/>
                  </a:lnTo>
                  <a:cubicBezTo>
                    <a:pt x="1990" y="1410"/>
                    <a:pt x="1838" y="1561"/>
                    <a:pt x="1794" y="1749"/>
                  </a:cubicBezTo>
                  <a:lnTo>
                    <a:pt x="1080" y="1749"/>
                  </a:lnTo>
                  <a:cubicBezTo>
                    <a:pt x="1018" y="1508"/>
                    <a:pt x="795" y="1330"/>
                    <a:pt x="527" y="1347"/>
                  </a:cubicBezTo>
                  <a:cubicBezTo>
                    <a:pt x="259" y="1356"/>
                    <a:pt x="36" y="1579"/>
                    <a:pt x="19" y="1856"/>
                  </a:cubicBezTo>
                  <a:cubicBezTo>
                    <a:pt x="1" y="2159"/>
                    <a:pt x="250" y="2418"/>
                    <a:pt x="554" y="2418"/>
                  </a:cubicBezTo>
                  <a:cubicBezTo>
                    <a:pt x="804" y="2418"/>
                    <a:pt x="1018" y="2248"/>
                    <a:pt x="1080" y="2016"/>
                  </a:cubicBezTo>
                  <a:lnTo>
                    <a:pt x="1794" y="2016"/>
                  </a:lnTo>
                  <a:cubicBezTo>
                    <a:pt x="1856" y="2248"/>
                    <a:pt x="2061" y="2418"/>
                    <a:pt x="2311" y="2418"/>
                  </a:cubicBezTo>
                  <a:cubicBezTo>
                    <a:pt x="2561" y="2418"/>
                    <a:pt x="2775" y="2248"/>
                    <a:pt x="2838" y="2016"/>
                  </a:cubicBezTo>
                  <a:lnTo>
                    <a:pt x="3551" y="2016"/>
                  </a:lnTo>
                  <a:cubicBezTo>
                    <a:pt x="3614" y="2257"/>
                    <a:pt x="3837" y="2427"/>
                    <a:pt x="4095" y="2418"/>
                  </a:cubicBezTo>
                  <a:cubicBezTo>
                    <a:pt x="4372" y="2409"/>
                    <a:pt x="4595" y="2186"/>
                    <a:pt x="4613" y="1909"/>
                  </a:cubicBezTo>
                  <a:cubicBezTo>
                    <a:pt x="4622" y="1597"/>
                    <a:pt x="4381" y="1338"/>
                    <a:pt x="4069" y="13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Google Shape;510;p36">
            <a:extLst>
              <a:ext uri="{FF2B5EF4-FFF2-40B4-BE49-F238E27FC236}">
                <a16:creationId xmlns:a16="http://schemas.microsoft.com/office/drawing/2014/main" id="{8A2699B2-38DF-4ADB-6864-612C5DBE1E77}"/>
              </a:ext>
            </a:extLst>
          </p:cNvPr>
          <p:cNvSpPr txBox="1">
            <a:spLocks/>
          </p:cNvSpPr>
          <p:nvPr/>
        </p:nvSpPr>
        <p:spPr>
          <a:xfrm>
            <a:off x="5699090" y="1406651"/>
            <a:ext cx="2273439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r>
              <a:rPr lang="en-GB" sz="1600" b="1" dirty="0"/>
              <a:t>Noise Reduction</a:t>
            </a:r>
            <a:endParaRPr lang="en-GB" sz="1600" dirty="0"/>
          </a:p>
        </p:txBody>
      </p:sp>
      <p:sp>
        <p:nvSpPr>
          <p:cNvPr id="9" name="Google Shape;510;p36">
            <a:extLst>
              <a:ext uri="{FF2B5EF4-FFF2-40B4-BE49-F238E27FC236}">
                <a16:creationId xmlns:a16="http://schemas.microsoft.com/office/drawing/2014/main" id="{8A3EA0C0-8108-5E08-2E2B-26863F7A8B01}"/>
              </a:ext>
            </a:extLst>
          </p:cNvPr>
          <p:cNvSpPr txBox="1">
            <a:spLocks/>
          </p:cNvSpPr>
          <p:nvPr/>
        </p:nvSpPr>
        <p:spPr>
          <a:xfrm>
            <a:off x="1954486" y="2865359"/>
            <a:ext cx="2273439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r>
              <a:rPr lang="en-GB" sz="1600" b="1" dirty="0"/>
              <a:t>Data Handling</a:t>
            </a:r>
            <a:endParaRPr lang="en-GB" sz="1600" dirty="0"/>
          </a:p>
        </p:txBody>
      </p:sp>
      <p:sp>
        <p:nvSpPr>
          <p:cNvPr id="10" name="Google Shape;510;p36">
            <a:extLst>
              <a:ext uri="{FF2B5EF4-FFF2-40B4-BE49-F238E27FC236}">
                <a16:creationId xmlns:a16="http://schemas.microsoft.com/office/drawing/2014/main" id="{80E23DF6-0F04-E749-D3D5-AEE5310D8F31}"/>
              </a:ext>
            </a:extLst>
          </p:cNvPr>
          <p:cNvSpPr txBox="1">
            <a:spLocks/>
          </p:cNvSpPr>
          <p:nvPr/>
        </p:nvSpPr>
        <p:spPr>
          <a:xfrm>
            <a:off x="5698346" y="2919172"/>
            <a:ext cx="2273439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ispace"/>
              <a:buNone/>
              <a:defRPr sz="2000" b="0" i="0" u="none" strike="noStrike" cap="none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r>
              <a:rPr lang="en-GB" sz="1600" b="1" dirty="0"/>
              <a:t>Text Extraction</a:t>
            </a:r>
            <a:endParaRPr lang="en-GB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9"/>
          <p:cNvSpPr txBox="1">
            <a:spLocks noGrp="1"/>
          </p:cNvSpPr>
          <p:nvPr>
            <p:ph type="title"/>
          </p:nvPr>
        </p:nvSpPr>
        <p:spPr>
          <a:xfrm>
            <a:off x="935195" y="604144"/>
            <a:ext cx="7330005" cy="71798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GB" sz="2400" dirty="0"/>
              <a:t>Structuring the Data: Relational </a:t>
            </a:r>
            <a:r>
              <a:rPr lang="en-GB" sz="2400" dirty="0" err="1"/>
              <a:t>Modeling</a:t>
            </a:r>
            <a:endParaRPr sz="2400" dirty="0"/>
          </a:p>
        </p:txBody>
      </p:sp>
      <p:sp>
        <p:nvSpPr>
          <p:cNvPr id="589" name="Google Shape;589;p39"/>
          <p:cNvSpPr txBox="1">
            <a:spLocks noGrp="1"/>
          </p:cNvSpPr>
          <p:nvPr>
            <p:ph type="subTitle" idx="1"/>
          </p:nvPr>
        </p:nvSpPr>
        <p:spPr>
          <a:xfrm>
            <a:off x="927223" y="1274480"/>
            <a:ext cx="7232403" cy="12055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sz="1200" dirty="0"/>
              <a:t>Transitioned the dataset directly into an optimized analytical model to maximize Power BI's performance.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200" dirty="0"/>
              <a:t>Separated the flat data into a </a:t>
            </a:r>
            <a:r>
              <a:rPr lang="en-GB" sz="1200" b="1" dirty="0"/>
              <a:t>Dimension Table</a:t>
            </a:r>
            <a:r>
              <a:rPr lang="en-GB" sz="1200" dirty="0"/>
              <a:t> (Customer Table) for descriptive attributes and a </a:t>
            </a:r>
            <a:r>
              <a:rPr lang="en-GB" sz="1200" b="1" dirty="0"/>
              <a:t>Fact Table</a:t>
            </a:r>
            <a:r>
              <a:rPr lang="en-GB" sz="1200" dirty="0"/>
              <a:t> (</a:t>
            </a:r>
            <a:r>
              <a:rPr lang="en-GB" sz="1200" dirty="0" err="1"/>
              <a:t>fCredit</a:t>
            </a:r>
            <a:r>
              <a:rPr lang="en-GB" sz="1200" dirty="0"/>
              <a:t>) for numerical and transactional 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200" dirty="0"/>
              <a:t>Established a streamlined </a:t>
            </a:r>
            <a:r>
              <a:rPr lang="en-GB" sz="1200" b="1" dirty="0"/>
              <a:t>1-to-many relationship</a:t>
            </a:r>
            <a:r>
              <a:rPr lang="en-GB" sz="1200" dirty="0"/>
              <a:t> (1 -&gt; *) linking unique customer profiles to their corresponding credit records.</a:t>
            </a:r>
          </a:p>
        </p:txBody>
      </p:sp>
      <p:sp>
        <p:nvSpPr>
          <p:cNvPr id="617" name="Google Shape;617;p39"/>
          <p:cNvSpPr/>
          <p:nvPr/>
        </p:nvSpPr>
        <p:spPr>
          <a:xfrm>
            <a:off x="7621501" y="3681125"/>
            <a:ext cx="660023" cy="660100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8" name="Google Shape;618;p39"/>
          <p:cNvSpPr/>
          <p:nvPr/>
        </p:nvSpPr>
        <p:spPr>
          <a:xfrm>
            <a:off x="4927197" y="157665"/>
            <a:ext cx="238346" cy="238372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39"/>
          <p:cNvSpPr/>
          <p:nvPr/>
        </p:nvSpPr>
        <p:spPr>
          <a:xfrm>
            <a:off x="8281524" y="3221755"/>
            <a:ext cx="660023" cy="660100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39"/>
          <p:cNvSpPr/>
          <p:nvPr/>
        </p:nvSpPr>
        <p:spPr>
          <a:xfrm>
            <a:off x="7951513" y="2432335"/>
            <a:ext cx="660023" cy="660100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39"/>
          <p:cNvSpPr/>
          <p:nvPr/>
        </p:nvSpPr>
        <p:spPr>
          <a:xfrm>
            <a:off x="4600198" y="2748327"/>
            <a:ext cx="327012" cy="327044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39"/>
          <p:cNvSpPr/>
          <p:nvPr/>
        </p:nvSpPr>
        <p:spPr>
          <a:xfrm>
            <a:off x="318892" y="0"/>
            <a:ext cx="945630" cy="945730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39"/>
          <p:cNvSpPr/>
          <p:nvPr/>
        </p:nvSpPr>
        <p:spPr>
          <a:xfrm>
            <a:off x="386659" y="1071993"/>
            <a:ext cx="238346" cy="238372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E3ECB1-2EDC-9032-2E67-18B75CEAB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895" y="2571750"/>
            <a:ext cx="5935060" cy="2620211"/>
          </a:xfrm>
          <a:prstGeom prst="rect">
            <a:avLst/>
          </a:prstGeom>
          <a:effectLst>
            <a:softEdge rad="12700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51"/>
          <p:cNvSpPr txBox="1">
            <a:spLocks noGrp="1"/>
          </p:cNvSpPr>
          <p:nvPr>
            <p:ph type="body" idx="1"/>
          </p:nvPr>
        </p:nvSpPr>
        <p:spPr>
          <a:xfrm>
            <a:off x="989421" y="1821151"/>
            <a:ext cx="4235721" cy="18131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Created a dedicated, isolated _Measures table to strictly organize all custom metrics and keep the data model clean.</a:t>
            </a:r>
          </a:p>
          <a:p>
            <a:r>
              <a:rPr lang="en-GB" dirty="0"/>
              <a:t>Relied on dynamic Data Analysis Expressions (DAX) instead of static calculated columns to optimize dashboard speed and interactive filtering.</a:t>
            </a:r>
          </a:p>
          <a:p>
            <a:r>
              <a:rPr lang="en-GB" b="1" dirty="0"/>
              <a:t>Key engineered metrics include:</a:t>
            </a:r>
            <a:r>
              <a:rPr lang="en-GB" dirty="0"/>
              <a:t> Default Rate, Charged Off Ratio, Average Debt-to-Income, and Average Credit Balance.</a:t>
            </a:r>
          </a:p>
        </p:txBody>
      </p:sp>
      <p:sp>
        <p:nvSpPr>
          <p:cNvPr id="1339" name="Google Shape;1339;p51"/>
          <p:cNvSpPr txBox="1">
            <a:spLocks noGrp="1"/>
          </p:cNvSpPr>
          <p:nvPr>
            <p:ph type="title"/>
          </p:nvPr>
        </p:nvSpPr>
        <p:spPr>
          <a:xfrm>
            <a:off x="989421" y="702686"/>
            <a:ext cx="448881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GB" dirty="0"/>
              <a:t>Dynamic Calculations &amp; DAX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37B9EB-FC09-AC74-7A6C-BAFCAE717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8236" y="660912"/>
            <a:ext cx="2308579" cy="3600845"/>
          </a:xfrm>
          <a:prstGeom prst="rect">
            <a:avLst/>
          </a:prstGeom>
          <a:effectLst>
            <a:softEdge rad="31750"/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0"/>
          <p:cNvSpPr txBox="1">
            <a:spLocks noGrp="1"/>
          </p:cNvSpPr>
          <p:nvPr>
            <p:ph type="title"/>
          </p:nvPr>
        </p:nvSpPr>
        <p:spPr>
          <a:xfrm>
            <a:off x="720000" y="21282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Bringing Data to Life: Visualization Strategy</a:t>
            </a:r>
            <a:endParaRPr dirty="0"/>
          </a:p>
        </p:txBody>
      </p:sp>
      <p:sp>
        <p:nvSpPr>
          <p:cNvPr id="2" name="Google Shape;1338;p51">
            <a:extLst>
              <a:ext uri="{FF2B5EF4-FFF2-40B4-BE49-F238E27FC236}">
                <a16:creationId xmlns:a16="http://schemas.microsoft.com/office/drawing/2014/main" id="{6413890D-5EEE-911F-8129-066024FF572F}"/>
              </a:ext>
            </a:extLst>
          </p:cNvPr>
          <p:cNvSpPr txBox="1">
            <a:spLocks/>
          </p:cNvSpPr>
          <p:nvPr/>
        </p:nvSpPr>
        <p:spPr>
          <a:xfrm>
            <a:off x="187780" y="1517701"/>
            <a:ext cx="2961685" cy="28093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accent1">
                    <a:lumMod val="10000"/>
                    <a:lumOff val="90000"/>
                  </a:schemeClr>
                </a:solidFill>
              </a:rPr>
              <a:t>Developed 6 interconnected dashboard pages, allowing users to drill down from high-level summaries to granular borrower profiles.  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accent1">
                    <a:lumMod val="10000"/>
                    <a:lumOff val="90000"/>
                  </a:schemeClr>
                </a:solidFill>
              </a:rPr>
              <a:t>Utilized high-contrast, intuitive </a:t>
            </a:r>
            <a:r>
              <a:rPr lang="en-GB" sz="1200" dirty="0" err="1">
                <a:solidFill>
                  <a:schemeClr val="accent1">
                    <a:lumMod val="10000"/>
                    <a:lumOff val="90000"/>
                  </a:schemeClr>
                </a:solidFill>
              </a:rPr>
              <a:t>color</a:t>
            </a:r>
            <a:r>
              <a:rPr lang="en-GB" sz="1200" dirty="0">
                <a:solidFill>
                  <a:schemeClr val="accent1">
                    <a:lumMod val="10000"/>
                    <a:lumOff val="90000"/>
                  </a:schemeClr>
                </a:solidFill>
              </a:rPr>
              <a:t> coding (e.g., distinguishing 'Fully Paid' vs. 'Charged Off' loans) to make risk assessment immediately visible.  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accent1">
                    <a:lumMod val="10000"/>
                    <a:lumOff val="90000"/>
                  </a:schemeClr>
                </a:solidFill>
              </a:rPr>
              <a:t>Structured visuals strategically, combining macro KPIs with detailed breakdowns like "Default Rate by Purpose" and "Debt-to-Income" metrics.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BC6580-97D3-127F-3B6F-FA3FFBEA8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9465" y="1517701"/>
            <a:ext cx="5916252" cy="32578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1"/>
          <p:cNvSpPr txBox="1">
            <a:spLocks noGrp="1"/>
          </p:cNvSpPr>
          <p:nvPr>
            <p:ph type="title"/>
          </p:nvPr>
        </p:nvSpPr>
        <p:spPr>
          <a:xfrm>
            <a:off x="720000" y="163286"/>
            <a:ext cx="7704000" cy="948814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dirty="0"/>
              <a:t>User Experience: Designed for Convenience</a:t>
            </a:r>
            <a:endParaRPr b="0" dirty="0"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1B1813-03F3-923A-7E78-960BBAF7E28F}"/>
              </a:ext>
            </a:extLst>
          </p:cNvPr>
          <p:cNvSpPr txBox="1"/>
          <p:nvPr/>
        </p:nvSpPr>
        <p:spPr>
          <a:xfrm>
            <a:off x="2142350" y="3246570"/>
            <a:ext cx="45524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accent1">
                    <a:lumMod val="10000"/>
                    <a:lumOff val="90000"/>
                  </a:schemeClr>
                </a:solidFill>
                <a:effectLst/>
                <a:latin typeface="Google Sans Text"/>
              </a:rPr>
              <a:t>Global Navigation:</a:t>
            </a:r>
            <a:r>
              <a:rPr lang="en-GB" sz="1200" dirty="0">
                <a:solidFill>
                  <a:schemeClr val="accent1">
                    <a:lumMod val="10000"/>
                    <a:lumOff val="90000"/>
                  </a:schemeClr>
                </a:solidFill>
                <a:effectLst/>
                <a:latin typeface="Google Sans Text"/>
              </a:rPr>
              <a:t> Integrated intuitive, persistent navigation menus across all pages to ensure seamless transitions for the user. 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accent1">
                    <a:lumMod val="10000"/>
                    <a:lumOff val="90000"/>
                  </a:schemeClr>
                </a:solidFill>
                <a:effectLst/>
                <a:latin typeface="Google Sans Text"/>
              </a:rPr>
              <a:t>Contextual Tooltips:</a:t>
            </a:r>
            <a:r>
              <a:rPr lang="en-GB" sz="1200" dirty="0">
                <a:solidFill>
                  <a:schemeClr val="accent1">
                    <a:lumMod val="10000"/>
                    <a:lumOff val="90000"/>
                  </a:schemeClr>
                </a:solidFill>
                <a:effectLst/>
                <a:latin typeface="Google Sans Text"/>
              </a:rPr>
              <a:t> Embedded custom hover-over tooltips across visuals (e.g., revealing specific driving reasons for loan requests) to provide deep insights without cluttering the main workspace. 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accent1">
                    <a:lumMod val="10000"/>
                    <a:lumOff val="90000"/>
                  </a:schemeClr>
                </a:solidFill>
                <a:effectLst/>
                <a:latin typeface="Google Sans Text"/>
              </a:rPr>
              <a:t>Interactive Cross-Filtering:</a:t>
            </a:r>
            <a:r>
              <a:rPr lang="en-GB" sz="1200" dirty="0">
                <a:solidFill>
                  <a:schemeClr val="accent1">
                    <a:lumMod val="10000"/>
                    <a:lumOff val="90000"/>
                  </a:schemeClr>
                </a:solidFill>
                <a:effectLst/>
                <a:latin typeface="Google Sans Text"/>
              </a:rPr>
              <a:t> Built context-aware cross-filtering into the charts, allowing stakeholders to dynamically slice the data by clicking on specific metrics or categories.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C42422A-1C2E-9B9D-343D-2BC1FF43C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360" y="1084403"/>
            <a:ext cx="844593" cy="322596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EEB7A18-479B-42C4-1A55-BDCE550F8D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5462" y="1112100"/>
            <a:ext cx="2738678" cy="194950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2402C18-01E7-DC8F-54F7-5CEB122F49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1650" y="1112100"/>
            <a:ext cx="1497371" cy="2750984"/>
          </a:xfrm>
          <a:prstGeom prst="rect">
            <a:avLst/>
          </a:prstGeom>
        </p:spPr>
      </p:pic>
      <p:sp>
        <p:nvSpPr>
          <p:cNvPr id="28" name="Free-form: Shape 27">
            <a:extLst>
              <a:ext uri="{FF2B5EF4-FFF2-40B4-BE49-F238E27FC236}">
                <a16:creationId xmlns:a16="http://schemas.microsoft.com/office/drawing/2014/main" id="{B2C9FB0B-2C11-E7A5-6778-80DAD39CD182}"/>
              </a:ext>
            </a:extLst>
          </p:cNvPr>
          <p:cNvSpPr/>
          <p:nvPr/>
        </p:nvSpPr>
        <p:spPr>
          <a:xfrm>
            <a:off x="5159829" y="3951514"/>
            <a:ext cx="2024741" cy="749676"/>
          </a:xfrm>
          <a:custGeom>
            <a:avLst/>
            <a:gdLst>
              <a:gd name="csX0" fmla="*/ 0 w 2326821"/>
              <a:gd name="csY0" fmla="*/ 873579 h 874606"/>
              <a:gd name="csX1" fmla="*/ 1575707 w 2326821"/>
              <a:gd name="csY1" fmla="*/ 734786 h 874606"/>
              <a:gd name="csX2" fmla="*/ 2326821 w 2326821"/>
              <a:gd name="csY2" fmla="*/ 0 h 8746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326821" h="874606">
                <a:moveTo>
                  <a:pt x="0" y="873579"/>
                </a:moveTo>
                <a:cubicBezTo>
                  <a:pt x="593952" y="876980"/>
                  <a:pt x="1187904" y="880382"/>
                  <a:pt x="1575707" y="734786"/>
                </a:cubicBezTo>
                <a:cubicBezTo>
                  <a:pt x="1963510" y="589190"/>
                  <a:pt x="2179864" y="119743"/>
                  <a:pt x="2326821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Free-form: Shape 29">
            <a:extLst>
              <a:ext uri="{FF2B5EF4-FFF2-40B4-BE49-F238E27FC236}">
                <a16:creationId xmlns:a16="http://schemas.microsoft.com/office/drawing/2014/main" id="{39BA8E3E-5069-E79F-8B3F-AAE7878F9206}"/>
              </a:ext>
            </a:extLst>
          </p:cNvPr>
          <p:cNvSpPr/>
          <p:nvPr/>
        </p:nvSpPr>
        <p:spPr>
          <a:xfrm>
            <a:off x="2016579" y="1722664"/>
            <a:ext cx="588011" cy="1657350"/>
          </a:xfrm>
          <a:custGeom>
            <a:avLst/>
            <a:gdLst>
              <a:gd name="csX0" fmla="*/ 253092 w 588011"/>
              <a:gd name="csY0" fmla="*/ 1698172 h 1698172"/>
              <a:gd name="csX1" fmla="*/ 65314 w 588011"/>
              <a:gd name="csY1" fmla="*/ 1208315 h 1698172"/>
              <a:gd name="csX2" fmla="*/ 587828 w 588011"/>
              <a:gd name="csY2" fmla="*/ 522515 h 1698172"/>
              <a:gd name="csX3" fmla="*/ 0 w 588011"/>
              <a:gd name="csY3" fmla="*/ 0 h 1698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88011" h="1698172">
                <a:moveTo>
                  <a:pt x="253092" y="1698172"/>
                </a:moveTo>
                <a:cubicBezTo>
                  <a:pt x="131308" y="1551215"/>
                  <a:pt x="9525" y="1404258"/>
                  <a:pt x="65314" y="1208315"/>
                </a:cubicBezTo>
                <a:cubicBezTo>
                  <a:pt x="121103" y="1012372"/>
                  <a:pt x="598714" y="723901"/>
                  <a:pt x="587828" y="522515"/>
                </a:cubicBezTo>
                <a:cubicBezTo>
                  <a:pt x="576942" y="321129"/>
                  <a:pt x="100693" y="111579"/>
                  <a:pt x="0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22841D62-2371-A43F-A416-4EB27B24B637}"/>
              </a:ext>
            </a:extLst>
          </p:cNvPr>
          <p:cNvSpPr/>
          <p:nvPr/>
        </p:nvSpPr>
        <p:spPr>
          <a:xfrm>
            <a:off x="6588579" y="3951514"/>
            <a:ext cx="914400" cy="914400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Free-form: Shape 33">
            <a:extLst>
              <a:ext uri="{FF2B5EF4-FFF2-40B4-BE49-F238E27FC236}">
                <a16:creationId xmlns:a16="http://schemas.microsoft.com/office/drawing/2014/main" id="{141BB4D2-81D1-6CDD-BE29-E91B74DB9AD6}"/>
              </a:ext>
            </a:extLst>
          </p:cNvPr>
          <p:cNvSpPr/>
          <p:nvPr/>
        </p:nvSpPr>
        <p:spPr>
          <a:xfrm>
            <a:off x="5951764" y="2294164"/>
            <a:ext cx="868829" cy="1575707"/>
          </a:xfrm>
          <a:custGeom>
            <a:avLst/>
            <a:gdLst>
              <a:gd name="csX0" fmla="*/ 726622 w 928248"/>
              <a:gd name="csY0" fmla="*/ 1575707 h 1575707"/>
              <a:gd name="csX1" fmla="*/ 881743 w 928248"/>
              <a:gd name="csY1" fmla="*/ 424543 h 1575707"/>
              <a:gd name="csX2" fmla="*/ 0 w 928248"/>
              <a:gd name="csY2" fmla="*/ 0 h 15757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28248" h="1575707">
                <a:moveTo>
                  <a:pt x="726622" y="1575707"/>
                </a:moveTo>
                <a:cubicBezTo>
                  <a:pt x="864734" y="1131434"/>
                  <a:pt x="1002847" y="687161"/>
                  <a:pt x="881743" y="424543"/>
                </a:cubicBezTo>
                <a:cubicBezTo>
                  <a:pt x="760639" y="161925"/>
                  <a:pt x="380319" y="80962"/>
                  <a:pt x="0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47"/>
          <p:cNvSpPr txBox="1">
            <a:spLocks noGrp="1"/>
          </p:cNvSpPr>
          <p:nvPr>
            <p:ph type="title"/>
          </p:nvPr>
        </p:nvSpPr>
        <p:spPr>
          <a:xfrm>
            <a:off x="448016" y="539400"/>
            <a:ext cx="806273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Key Discoveries &amp; Portfolio Insights</a:t>
            </a:r>
            <a:endParaRPr dirty="0"/>
          </a:p>
        </p:txBody>
      </p:sp>
      <p:sp>
        <p:nvSpPr>
          <p:cNvPr id="547" name="Google Shape;547;p37"/>
          <p:cNvSpPr txBox="1">
            <a:spLocks/>
          </p:cNvSpPr>
          <p:nvPr/>
        </p:nvSpPr>
        <p:spPr>
          <a:xfrm>
            <a:off x="496430" y="1112100"/>
            <a:ext cx="7975766" cy="19384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b="1" dirty="0">
                <a:solidFill>
                  <a:schemeClr val="tx1"/>
                </a:solidFill>
              </a:rPr>
              <a:t>Baseline Portfolio Risk:</a:t>
            </a:r>
            <a:r>
              <a:rPr lang="en-GB" dirty="0">
                <a:solidFill>
                  <a:schemeClr val="tx1"/>
                </a:solidFill>
              </a:rPr>
              <a:t> The overall lending portfolio currently experiences a charged-off (default) ratio of 22.64%. </a:t>
            </a:r>
          </a:p>
          <a:p>
            <a:r>
              <a:rPr lang="en-GB" b="1" dirty="0">
                <a:solidFill>
                  <a:schemeClr val="tx1"/>
                </a:solidFill>
              </a:rPr>
              <a:t>High-Risk Loan Purposes:</a:t>
            </a:r>
            <a:r>
              <a:rPr lang="en-GB" dirty="0">
                <a:solidFill>
                  <a:schemeClr val="tx1"/>
                </a:solidFill>
              </a:rPr>
              <a:t> Loans requested for "Small Business" (41.52%) and "Renewable Energy" (40.00%) exhibit the highest default rates across the portfolio. </a:t>
            </a:r>
          </a:p>
          <a:p>
            <a:r>
              <a:rPr lang="en-GB" b="1" dirty="0">
                <a:solidFill>
                  <a:schemeClr val="tx1"/>
                </a:solidFill>
              </a:rPr>
              <a:t>Financial Burden Tipping Points:</a:t>
            </a:r>
            <a:r>
              <a:rPr lang="en-GB" dirty="0">
                <a:solidFill>
                  <a:schemeClr val="tx1"/>
                </a:solidFill>
              </a:rPr>
              <a:t> The average Debt-to-Income (DTI) ratio sits at 17.25%. Borrowers demonstrating elevated DTI ratios show clear tendencies toward default. </a:t>
            </a:r>
          </a:p>
          <a:p>
            <a:r>
              <a:rPr lang="en-GB" b="1" dirty="0">
                <a:solidFill>
                  <a:schemeClr val="tx1"/>
                </a:solidFill>
              </a:rPr>
              <a:t>Employment Stability Factor:</a:t>
            </a:r>
            <a:r>
              <a:rPr lang="en-GB" dirty="0">
                <a:solidFill>
                  <a:schemeClr val="tx1"/>
                </a:solidFill>
              </a:rPr>
              <a:t> Default rates show a progressive decline as the borrower's "Years-in-Job" increases, indicating employment longevity is a strong indicator of repayment stability.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FAAB94-35BC-605C-68E0-0F4715E3D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16" y="3050514"/>
            <a:ext cx="4629388" cy="8064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2F90E1-6157-6710-B9A4-662313E01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5508" y="3857005"/>
            <a:ext cx="4616687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0"/>
          <p:cNvSpPr txBox="1">
            <a:spLocks noGrp="1"/>
          </p:cNvSpPr>
          <p:nvPr>
            <p:ph type="title"/>
          </p:nvPr>
        </p:nvSpPr>
        <p:spPr>
          <a:xfrm>
            <a:off x="342900" y="539400"/>
            <a:ext cx="862965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2400" dirty="0"/>
              <a:t>Strategic Credit Policy Recommendations</a:t>
            </a:r>
            <a:endParaRPr sz="2400" dirty="0">
              <a:solidFill>
                <a:srgbClr val="D9D9D9"/>
              </a:solidFill>
            </a:endParaRPr>
          </a:p>
        </p:txBody>
      </p:sp>
      <p:sp>
        <p:nvSpPr>
          <p:cNvPr id="631" name="Google Shape;631;p40"/>
          <p:cNvSpPr txBox="1"/>
          <p:nvPr/>
        </p:nvSpPr>
        <p:spPr>
          <a:xfrm>
            <a:off x="5234676" y="1897229"/>
            <a:ext cx="2394296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Establish strict maximum Debt-to-Income caps to limit the bank's exposure to financially over-burdened borrowers.</a:t>
            </a:r>
            <a:endParaRPr sz="1200"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32" name="Google Shape;632;p40"/>
          <p:cNvSpPr txBox="1"/>
          <p:nvPr/>
        </p:nvSpPr>
        <p:spPr>
          <a:xfrm>
            <a:off x="5134284" y="1382975"/>
            <a:ext cx="2595080" cy="447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Enforce DTI Caps</a:t>
            </a:r>
            <a:endParaRPr sz="1600" dirty="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33" name="Google Shape;633;p40"/>
          <p:cNvSpPr txBox="1"/>
          <p:nvPr/>
        </p:nvSpPr>
        <p:spPr>
          <a:xfrm>
            <a:off x="1553786" y="1562574"/>
            <a:ext cx="259508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Optimize Credit Approvals</a:t>
            </a:r>
            <a:endParaRPr sz="1600" dirty="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34" name="Google Shape;634;p40"/>
          <p:cNvSpPr txBox="1"/>
          <p:nvPr/>
        </p:nvSpPr>
        <p:spPr>
          <a:xfrm>
            <a:off x="1570794" y="1897229"/>
            <a:ext cx="2561064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Upgrade underwriting standards and implement more rigorous approval criteria to mitigate the baseline 22.64% default rate.</a:t>
            </a:r>
            <a:endParaRPr sz="1200"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37" name="Google Shape;637;p40"/>
          <p:cNvSpPr txBox="1"/>
          <p:nvPr/>
        </p:nvSpPr>
        <p:spPr>
          <a:xfrm>
            <a:off x="5096314" y="3553917"/>
            <a:ext cx="267102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Enforce tighter structural conditions and lower maximum ceilings for major capital disbursements, as capital risk escalates with larger loan amounts. </a:t>
            </a:r>
            <a:endParaRPr sz="1200"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38" name="Google Shape;638;p40"/>
          <p:cNvSpPr txBox="1"/>
          <p:nvPr/>
        </p:nvSpPr>
        <p:spPr>
          <a:xfrm>
            <a:off x="5134284" y="3235331"/>
            <a:ext cx="2494688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Large Exposure Threshold Controls</a:t>
            </a:r>
            <a:endParaRPr sz="1600" dirty="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39" name="Google Shape;639;p40"/>
          <p:cNvSpPr txBox="1"/>
          <p:nvPr/>
        </p:nvSpPr>
        <p:spPr>
          <a:xfrm>
            <a:off x="1570794" y="2955470"/>
            <a:ext cx="2561064" cy="686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rPr>
              <a:t>Risk-Adjusted Mandates</a:t>
            </a:r>
            <a:endParaRPr sz="1600" dirty="0">
              <a:solidFill>
                <a:schemeClr val="dk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sp>
        <p:nvSpPr>
          <p:cNvPr id="640" name="Google Shape;640;p40"/>
          <p:cNvSpPr txBox="1"/>
          <p:nvPr/>
        </p:nvSpPr>
        <p:spPr>
          <a:xfrm>
            <a:off x="1611706" y="3553917"/>
            <a:ext cx="2479240" cy="91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Apply stringent terms or demand higher collateral for applicants falling into lower credit score tiers.</a:t>
            </a:r>
            <a:endParaRPr sz="1200"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50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/>
              <a:t>Project Assets &amp; Source Files</a:t>
            </a:r>
            <a:endParaRPr lang="en-GB" dirty="0"/>
          </a:p>
        </p:txBody>
      </p:sp>
      <p:sp>
        <p:nvSpPr>
          <p:cNvPr id="1227" name="Google Shape;1227;p50"/>
          <p:cNvSpPr txBox="1">
            <a:spLocks noGrp="1"/>
          </p:cNvSpPr>
          <p:nvPr>
            <p:ph type="body" idx="1"/>
          </p:nvPr>
        </p:nvSpPr>
        <p:spPr>
          <a:xfrm>
            <a:off x="720000" y="1672949"/>
            <a:ext cx="3767333" cy="23656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400" b="1" dirty="0"/>
              <a:t>GitHub Repository:</a:t>
            </a:r>
            <a:r>
              <a:rPr lang="en-GB" sz="1400" dirty="0"/>
              <a:t> The central hub for all project files, DAX scripts, and schema documentation.</a:t>
            </a:r>
          </a:p>
          <a:p>
            <a:r>
              <a:rPr lang="en-GB" sz="1400" b="1" dirty="0"/>
              <a:t>Power BI Source File:</a:t>
            </a:r>
            <a:r>
              <a:rPr lang="en-GB" sz="1400" dirty="0"/>
              <a:t> Full .</a:t>
            </a:r>
            <a:r>
              <a:rPr lang="en-GB" sz="1400" dirty="0" err="1"/>
              <a:t>pbix</a:t>
            </a:r>
            <a:r>
              <a:rPr lang="en-GB" sz="1400" dirty="0"/>
              <a:t> file available for download and local exploration.</a:t>
            </a:r>
          </a:p>
          <a:p>
            <a:r>
              <a:rPr lang="en-GB" sz="1400" b="1" dirty="0"/>
              <a:t>Static Report:</a:t>
            </a:r>
            <a:r>
              <a:rPr lang="en-GB" sz="1400" dirty="0"/>
              <a:t> Complete PDF export of all dashboard views for quick reference without requiring Power BI Desktop.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AB3CAB-6FBD-99C3-170D-05A6AA1FB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15749"/>
            <a:ext cx="3567919" cy="356791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8"/>
          <p:cNvSpPr txBox="1">
            <a:spLocks noGrp="1"/>
          </p:cNvSpPr>
          <p:nvPr>
            <p:ph type="title"/>
          </p:nvPr>
        </p:nvSpPr>
        <p:spPr>
          <a:xfrm>
            <a:off x="1968162" y="1361344"/>
            <a:ext cx="5207625" cy="121821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GB" sz="4000" dirty="0"/>
              <a:t>Interactive Demonstration</a:t>
            </a:r>
            <a:endParaRPr sz="4000" dirty="0"/>
          </a:p>
        </p:txBody>
      </p:sp>
      <p:sp>
        <p:nvSpPr>
          <p:cNvPr id="564" name="Google Shape;564;p38"/>
          <p:cNvSpPr txBox="1">
            <a:spLocks noGrp="1"/>
          </p:cNvSpPr>
          <p:nvPr>
            <p:ph type="subTitle" idx="3"/>
          </p:nvPr>
        </p:nvSpPr>
        <p:spPr>
          <a:xfrm>
            <a:off x="2437774" y="2878547"/>
            <a:ext cx="4268400" cy="10361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sz="1600" dirty="0"/>
              <a:t>A live walkthrough of the user interface, cross-filtering capabilities, and dynamic scenario testing.</a:t>
            </a:r>
            <a:endParaRPr sz="1600" dirty="0"/>
          </a:p>
        </p:txBody>
      </p:sp>
      <p:grpSp>
        <p:nvGrpSpPr>
          <p:cNvPr id="567" name="Google Shape;567;p38"/>
          <p:cNvGrpSpPr/>
          <p:nvPr/>
        </p:nvGrpSpPr>
        <p:grpSpPr>
          <a:xfrm>
            <a:off x="6262568" y="0"/>
            <a:ext cx="4073907" cy="2878545"/>
            <a:chOff x="6262568" y="0"/>
            <a:chExt cx="4073907" cy="2878545"/>
          </a:xfrm>
        </p:grpSpPr>
        <p:sp>
          <p:nvSpPr>
            <p:cNvPr id="568" name="Google Shape;568;p38"/>
            <p:cNvSpPr/>
            <p:nvPr/>
          </p:nvSpPr>
          <p:spPr>
            <a:xfrm rot="1251533">
              <a:off x="6561876" y="518950"/>
              <a:ext cx="2060084" cy="2060349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E7ECFF">
                    <a:alpha val="50196"/>
                  </a:srgbClr>
                </a:gs>
                <a:gs pos="69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8"/>
            <p:cNvSpPr/>
            <p:nvPr/>
          </p:nvSpPr>
          <p:spPr>
            <a:xfrm rot="1251537">
              <a:off x="7721552" y="362606"/>
              <a:ext cx="2370119" cy="1811293"/>
            </a:xfrm>
            <a:custGeom>
              <a:avLst/>
              <a:gdLst/>
              <a:ahLst/>
              <a:cxnLst/>
              <a:rect l="l" t="t" r="r" b="b"/>
              <a:pathLst>
                <a:path w="17932" h="13704" extrusionOk="0">
                  <a:moveTo>
                    <a:pt x="14568" y="536"/>
                  </a:moveTo>
                  <a:cubicBezTo>
                    <a:pt x="14568" y="536"/>
                    <a:pt x="13302" y="759"/>
                    <a:pt x="12204" y="1687"/>
                  </a:cubicBezTo>
                  <a:lnTo>
                    <a:pt x="12204" y="1687"/>
                  </a:lnTo>
                  <a:cubicBezTo>
                    <a:pt x="12204" y="1687"/>
                    <a:pt x="6272" y="4399"/>
                    <a:pt x="5683" y="4470"/>
                  </a:cubicBezTo>
                  <a:lnTo>
                    <a:pt x="5683" y="4470"/>
                  </a:lnTo>
                  <a:cubicBezTo>
                    <a:pt x="5683" y="4470"/>
                    <a:pt x="4684" y="4684"/>
                    <a:pt x="4282" y="5532"/>
                  </a:cubicBezTo>
                  <a:lnTo>
                    <a:pt x="4282" y="5532"/>
                  </a:lnTo>
                  <a:lnTo>
                    <a:pt x="1936" y="8395"/>
                  </a:lnTo>
                  <a:cubicBezTo>
                    <a:pt x="1936" y="8395"/>
                    <a:pt x="1115" y="10465"/>
                    <a:pt x="848" y="10715"/>
                  </a:cubicBezTo>
                  <a:lnTo>
                    <a:pt x="848" y="10715"/>
                  </a:lnTo>
                  <a:lnTo>
                    <a:pt x="0" y="12749"/>
                  </a:lnTo>
                  <a:cubicBezTo>
                    <a:pt x="0" y="12749"/>
                    <a:pt x="393" y="13703"/>
                    <a:pt x="1490" y="12401"/>
                  </a:cubicBezTo>
                  <a:lnTo>
                    <a:pt x="1490" y="12401"/>
                  </a:lnTo>
                  <a:cubicBezTo>
                    <a:pt x="1490" y="12401"/>
                    <a:pt x="2025" y="11776"/>
                    <a:pt x="2097" y="11321"/>
                  </a:cubicBezTo>
                  <a:lnTo>
                    <a:pt x="2097" y="11321"/>
                  </a:lnTo>
                  <a:cubicBezTo>
                    <a:pt x="2356" y="11045"/>
                    <a:pt x="2819" y="10795"/>
                    <a:pt x="2864" y="10135"/>
                  </a:cubicBezTo>
                  <a:lnTo>
                    <a:pt x="2864" y="10135"/>
                  </a:lnTo>
                  <a:cubicBezTo>
                    <a:pt x="2864" y="10135"/>
                    <a:pt x="2864" y="10135"/>
                    <a:pt x="2864" y="10135"/>
                  </a:cubicBezTo>
                  <a:lnTo>
                    <a:pt x="2864" y="10135"/>
                  </a:lnTo>
                  <a:cubicBezTo>
                    <a:pt x="2864" y="10135"/>
                    <a:pt x="3042" y="10028"/>
                    <a:pt x="3301" y="9849"/>
                  </a:cubicBezTo>
                  <a:lnTo>
                    <a:pt x="3301" y="9849"/>
                  </a:lnTo>
                  <a:cubicBezTo>
                    <a:pt x="3881" y="9448"/>
                    <a:pt x="4836" y="8699"/>
                    <a:pt x="4952" y="8021"/>
                  </a:cubicBezTo>
                  <a:lnTo>
                    <a:pt x="4952" y="8021"/>
                  </a:lnTo>
                  <a:cubicBezTo>
                    <a:pt x="4952" y="8021"/>
                    <a:pt x="4952" y="8021"/>
                    <a:pt x="4952" y="8021"/>
                  </a:cubicBezTo>
                  <a:lnTo>
                    <a:pt x="4952" y="8021"/>
                  </a:lnTo>
                  <a:cubicBezTo>
                    <a:pt x="4952" y="8021"/>
                    <a:pt x="6673" y="7619"/>
                    <a:pt x="7414" y="7307"/>
                  </a:cubicBezTo>
                  <a:lnTo>
                    <a:pt x="7414" y="7307"/>
                  </a:lnTo>
                  <a:cubicBezTo>
                    <a:pt x="7414" y="7307"/>
                    <a:pt x="8074" y="7628"/>
                    <a:pt x="8493" y="7905"/>
                  </a:cubicBezTo>
                  <a:lnTo>
                    <a:pt x="8493" y="7905"/>
                  </a:lnTo>
                  <a:lnTo>
                    <a:pt x="8493" y="7905"/>
                  </a:lnTo>
                  <a:cubicBezTo>
                    <a:pt x="8609" y="7985"/>
                    <a:pt x="8707" y="8056"/>
                    <a:pt x="8770" y="8119"/>
                  </a:cubicBezTo>
                  <a:lnTo>
                    <a:pt x="8770" y="8119"/>
                  </a:lnTo>
                  <a:cubicBezTo>
                    <a:pt x="8770" y="8119"/>
                    <a:pt x="8431" y="8832"/>
                    <a:pt x="7985" y="9162"/>
                  </a:cubicBezTo>
                  <a:lnTo>
                    <a:pt x="7985" y="9162"/>
                  </a:lnTo>
                  <a:cubicBezTo>
                    <a:pt x="7985" y="9162"/>
                    <a:pt x="7128" y="10037"/>
                    <a:pt x="6629" y="10608"/>
                  </a:cubicBezTo>
                  <a:lnTo>
                    <a:pt x="6629" y="10608"/>
                  </a:lnTo>
                  <a:cubicBezTo>
                    <a:pt x="6477" y="10777"/>
                    <a:pt x="6352" y="10920"/>
                    <a:pt x="6299" y="11009"/>
                  </a:cubicBezTo>
                  <a:lnTo>
                    <a:pt x="6299" y="11009"/>
                  </a:lnTo>
                  <a:cubicBezTo>
                    <a:pt x="6013" y="11419"/>
                    <a:pt x="5603" y="11946"/>
                    <a:pt x="6343" y="12561"/>
                  </a:cubicBezTo>
                  <a:lnTo>
                    <a:pt x="6343" y="12561"/>
                  </a:lnTo>
                  <a:cubicBezTo>
                    <a:pt x="6343" y="12561"/>
                    <a:pt x="6504" y="12695"/>
                    <a:pt x="6736" y="12740"/>
                  </a:cubicBezTo>
                  <a:lnTo>
                    <a:pt x="6736" y="12740"/>
                  </a:lnTo>
                  <a:cubicBezTo>
                    <a:pt x="6986" y="12784"/>
                    <a:pt x="7316" y="12722"/>
                    <a:pt x="7637" y="12329"/>
                  </a:cubicBezTo>
                  <a:lnTo>
                    <a:pt x="7637" y="12329"/>
                  </a:lnTo>
                  <a:cubicBezTo>
                    <a:pt x="7646" y="12312"/>
                    <a:pt x="7664" y="12285"/>
                    <a:pt x="7681" y="12267"/>
                  </a:cubicBezTo>
                  <a:lnTo>
                    <a:pt x="7681" y="12267"/>
                  </a:lnTo>
                  <a:cubicBezTo>
                    <a:pt x="7681" y="12267"/>
                    <a:pt x="8921" y="11419"/>
                    <a:pt x="9359" y="10492"/>
                  </a:cubicBezTo>
                  <a:lnTo>
                    <a:pt x="9359" y="10492"/>
                  </a:lnTo>
                  <a:lnTo>
                    <a:pt x="9956" y="9823"/>
                  </a:lnTo>
                  <a:lnTo>
                    <a:pt x="11285" y="8975"/>
                  </a:lnTo>
                  <a:cubicBezTo>
                    <a:pt x="11285" y="8975"/>
                    <a:pt x="13712" y="7387"/>
                    <a:pt x="13899" y="5246"/>
                  </a:cubicBezTo>
                  <a:lnTo>
                    <a:pt x="13899" y="5246"/>
                  </a:lnTo>
                  <a:cubicBezTo>
                    <a:pt x="13899" y="5246"/>
                    <a:pt x="17004" y="3712"/>
                    <a:pt x="17798" y="3863"/>
                  </a:cubicBezTo>
                  <a:lnTo>
                    <a:pt x="17798" y="3863"/>
                  </a:lnTo>
                  <a:cubicBezTo>
                    <a:pt x="17798" y="3863"/>
                    <a:pt x="17932" y="1062"/>
                    <a:pt x="16014" y="1"/>
                  </a:cubicBezTo>
                  <a:lnTo>
                    <a:pt x="16014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8"/>
            <p:cNvSpPr/>
            <p:nvPr/>
          </p:nvSpPr>
          <p:spPr>
            <a:xfrm rot="1251520">
              <a:off x="7066151" y="1139384"/>
              <a:ext cx="904497" cy="904578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6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8"/>
            <p:cNvSpPr/>
            <p:nvPr/>
          </p:nvSpPr>
          <p:spPr>
            <a:xfrm>
              <a:off x="7548978" y="198764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8"/>
            <p:cNvSpPr/>
            <p:nvPr/>
          </p:nvSpPr>
          <p:spPr>
            <a:xfrm>
              <a:off x="6706165" y="290017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8"/>
            <p:cNvSpPr/>
            <p:nvPr/>
          </p:nvSpPr>
          <p:spPr>
            <a:xfrm>
              <a:off x="8524498" y="327527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8"/>
            <p:cNvSpPr/>
            <p:nvPr/>
          </p:nvSpPr>
          <p:spPr>
            <a:xfrm>
              <a:off x="6523673" y="1660614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5" name="Google Shape;575;p38"/>
          <p:cNvGrpSpPr/>
          <p:nvPr/>
        </p:nvGrpSpPr>
        <p:grpSpPr>
          <a:xfrm>
            <a:off x="-1010224" y="203004"/>
            <a:ext cx="4008642" cy="2699928"/>
            <a:chOff x="-1010224" y="697417"/>
            <a:chExt cx="4008642" cy="2699928"/>
          </a:xfrm>
        </p:grpSpPr>
        <p:sp>
          <p:nvSpPr>
            <p:cNvPr id="576" name="Google Shape;576;p38"/>
            <p:cNvSpPr/>
            <p:nvPr/>
          </p:nvSpPr>
          <p:spPr>
            <a:xfrm rot="1251533">
              <a:off x="639026" y="1037750"/>
              <a:ext cx="2060084" cy="2060349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E7ECFF">
                    <a:alpha val="50196"/>
                  </a:srgbClr>
                </a:gs>
                <a:gs pos="69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8"/>
            <p:cNvSpPr/>
            <p:nvPr/>
          </p:nvSpPr>
          <p:spPr>
            <a:xfrm rot="1251537">
              <a:off x="-920877" y="1470810"/>
              <a:ext cx="2521193" cy="965917"/>
            </a:xfrm>
            <a:custGeom>
              <a:avLst/>
              <a:gdLst/>
              <a:ahLst/>
              <a:cxnLst/>
              <a:rect l="l" t="t" r="r" b="b"/>
              <a:pathLst>
                <a:path w="19075" h="7308" extrusionOk="0">
                  <a:moveTo>
                    <a:pt x="9841" y="1"/>
                  </a:moveTo>
                  <a:cubicBezTo>
                    <a:pt x="9198" y="90"/>
                    <a:pt x="4113" y="2570"/>
                    <a:pt x="4113" y="2570"/>
                  </a:cubicBezTo>
                  <a:lnTo>
                    <a:pt x="4113" y="2570"/>
                  </a:lnTo>
                  <a:cubicBezTo>
                    <a:pt x="2909" y="2971"/>
                    <a:pt x="2775" y="2873"/>
                    <a:pt x="1473" y="3150"/>
                  </a:cubicBezTo>
                  <a:lnTo>
                    <a:pt x="1473" y="3150"/>
                  </a:lnTo>
                  <a:cubicBezTo>
                    <a:pt x="1" y="3471"/>
                    <a:pt x="1901" y="7031"/>
                    <a:pt x="1901" y="7031"/>
                  </a:cubicBezTo>
                  <a:lnTo>
                    <a:pt x="1901" y="7031"/>
                  </a:lnTo>
                  <a:cubicBezTo>
                    <a:pt x="3489" y="6014"/>
                    <a:pt x="4738" y="6317"/>
                    <a:pt x="4738" y="6317"/>
                  </a:cubicBezTo>
                  <a:lnTo>
                    <a:pt x="4738" y="6317"/>
                  </a:lnTo>
                  <a:cubicBezTo>
                    <a:pt x="7503" y="7307"/>
                    <a:pt x="9573" y="6460"/>
                    <a:pt x="9573" y="6460"/>
                  </a:cubicBezTo>
                  <a:lnTo>
                    <a:pt x="9573" y="6460"/>
                  </a:lnTo>
                  <a:cubicBezTo>
                    <a:pt x="9573" y="6460"/>
                    <a:pt x="11268" y="6326"/>
                    <a:pt x="11928" y="6254"/>
                  </a:cubicBezTo>
                  <a:lnTo>
                    <a:pt x="11928" y="6254"/>
                  </a:lnTo>
                  <a:cubicBezTo>
                    <a:pt x="12151" y="6237"/>
                    <a:pt x="12455" y="6263"/>
                    <a:pt x="12811" y="6299"/>
                  </a:cubicBezTo>
                  <a:lnTo>
                    <a:pt x="12811" y="6299"/>
                  </a:lnTo>
                  <a:cubicBezTo>
                    <a:pt x="13498" y="6353"/>
                    <a:pt x="14346" y="6415"/>
                    <a:pt x="15069" y="6085"/>
                  </a:cubicBezTo>
                  <a:lnTo>
                    <a:pt x="15069" y="6085"/>
                  </a:lnTo>
                  <a:cubicBezTo>
                    <a:pt x="15077" y="6076"/>
                    <a:pt x="15077" y="6076"/>
                    <a:pt x="15086" y="6076"/>
                  </a:cubicBezTo>
                  <a:lnTo>
                    <a:pt x="15086" y="6076"/>
                  </a:lnTo>
                  <a:cubicBezTo>
                    <a:pt x="15122" y="6058"/>
                    <a:pt x="15158" y="6040"/>
                    <a:pt x="15184" y="6014"/>
                  </a:cubicBezTo>
                  <a:lnTo>
                    <a:pt x="15184" y="6014"/>
                  </a:lnTo>
                  <a:cubicBezTo>
                    <a:pt x="15577" y="5960"/>
                    <a:pt x="15568" y="5532"/>
                    <a:pt x="15497" y="5291"/>
                  </a:cubicBezTo>
                  <a:lnTo>
                    <a:pt x="15497" y="5291"/>
                  </a:lnTo>
                  <a:cubicBezTo>
                    <a:pt x="15461" y="5166"/>
                    <a:pt x="15283" y="5050"/>
                    <a:pt x="15158" y="4988"/>
                  </a:cubicBezTo>
                  <a:lnTo>
                    <a:pt x="15158" y="4988"/>
                  </a:lnTo>
                  <a:cubicBezTo>
                    <a:pt x="15149" y="4988"/>
                    <a:pt x="15149" y="4988"/>
                    <a:pt x="15149" y="4988"/>
                  </a:cubicBezTo>
                  <a:lnTo>
                    <a:pt x="15149" y="4988"/>
                  </a:lnTo>
                  <a:cubicBezTo>
                    <a:pt x="14783" y="4604"/>
                    <a:pt x="13650" y="4524"/>
                    <a:pt x="13088" y="4506"/>
                  </a:cubicBezTo>
                  <a:lnTo>
                    <a:pt x="13088" y="4506"/>
                  </a:lnTo>
                  <a:cubicBezTo>
                    <a:pt x="12901" y="4506"/>
                    <a:pt x="12776" y="4506"/>
                    <a:pt x="12776" y="4506"/>
                  </a:cubicBezTo>
                  <a:lnTo>
                    <a:pt x="12776" y="4506"/>
                  </a:lnTo>
                  <a:cubicBezTo>
                    <a:pt x="10153" y="4658"/>
                    <a:pt x="10215" y="4417"/>
                    <a:pt x="10215" y="4417"/>
                  </a:cubicBezTo>
                  <a:lnTo>
                    <a:pt x="10215" y="4417"/>
                  </a:lnTo>
                  <a:cubicBezTo>
                    <a:pt x="10421" y="4176"/>
                    <a:pt x="10153" y="3641"/>
                    <a:pt x="10153" y="3641"/>
                  </a:cubicBezTo>
                  <a:lnTo>
                    <a:pt x="10153" y="3641"/>
                  </a:lnTo>
                  <a:cubicBezTo>
                    <a:pt x="10189" y="3623"/>
                    <a:pt x="10251" y="3560"/>
                    <a:pt x="10251" y="3560"/>
                  </a:cubicBezTo>
                  <a:lnTo>
                    <a:pt x="10251" y="3560"/>
                  </a:lnTo>
                  <a:cubicBezTo>
                    <a:pt x="10572" y="3712"/>
                    <a:pt x="10831" y="3596"/>
                    <a:pt x="11001" y="3462"/>
                  </a:cubicBezTo>
                  <a:lnTo>
                    <a:pt x="11001" y="3462"/>
                  </a:lnTo>
                  <a:cubicBezTo>
                    <a:pt x="11152" y="3328"/>
                    <a:pt x="11232" y="3177"/>
                    <a:pt x="11232" y="3177"/>
                  </a:cubicBezTo>
                  <a:lnTo>
                    <a:pt x="11232" y="3177"/>
                  </a:lnTo>
                  <a:cubicBezTo>
                    <a:pt x="11830" y="3284"/>
                    <a:pt x="12580" y="1954"/>
                    <a:pt x="12580" y="1954"/>
                  </a:cubicBezTo>
                  <a:lnTo>
                    <a:pt x="12580" y="1954"/>
                  </a:lnTo>
                  <a:cubicBezTo>
                    <a:pt x="13525" y="2008"/>
                    <a:pt x="14382" y="1491"/>
                    <a:pt x="14382" y="1491"/>
                  </a:cubicBezTo>
                  <a:lnTo>
                    <a:pt x="14382" y="1491"/>
                  </a:lnTo>
                  <a:cubicBezTo>
                    <a:pt x="14542" y="1660"/>
                    <a:pt x="14926" y="1696"/>
                    <a:pt x="15149" y="1687"/>
                  </a:cubicBezTo>
                  <a:lnTo>
                    <a:pt x="15149" y="1687"/>
                  </a:lnTo>
                  <a:cubicBezTo>
                    <a:pt x="15247" y="1696"/>
                    <a:pt x="15318" y="1687"/>
                    <a:pt x="15318" y="1687"/>
                  </a:cubicBezTo>
                  <a:lnTo>
                    <a:pt x="15318" y="1687"/>
                  </a:lnTo>
                  <a:cubicBezTo>
                    <a:pt x="15318" y="1687"/>
                    <a:pt x="17495" y="1901"/>
                    <a:pt x="17968" y="1910"/>
                  </a:cubicBezTo>
                  <a:lnTo>
                    <a:pt x="17968" y="1910"/>
                  </a:lnTo>
                  <a:cubicBezTo>
                    <a:pt x="18780" y="1919"/>
                    <a:pt x="19074" y="1152"/>
                    <a:pt x="19074" y="1152"/>
                  </a:cubicBezTo>
                  <a:lnTo>
                    <a:pt x="19074" y="1152"/>
                  </a:lnTo>
                  <a:lnTo>
                    <a:pt x="17807" y="866"/>
                  </a:lnTo>
                  <a:cubicBezTo>
                    <a:pt x="17807" y="866"/>
                    <a:pt x="15506" y="411"/>
                    <a:pt x="15211" y="331"/>
                  </a:cubicBezTo>
                  <a:lnTo>
                    <a:pt x="15211" y="331"/>
                  </a:lnTo>
                  <a:cubicBezTo>
                    <a:pt x="14926" y="251"/>
                    <a:pt x="14283" y="45"/>
                    <a:pt x="13909" y="126"/>
                  </a:cubicBezTo>
                  <a:lnTo>
                    <a:pt x="13909" y="126"/>
                  </a:lnTo>
                  <a:cubicBezTo>
                    <a:pt x="13543" y="215"/>
                    <a:pt x="11108" y="224"/>
                    <a:pt x="11108" y="224"/>
                  </a:cubicBezTo>
                  <a:lnTo>
                    <a:pt x="11108" y="224"/>
                  </a:lnTo>
                  <a:cubicBezTo>
                    <a:pt x="10483" y="10"/>
                    <a:pt x="9921" y="1"/>
                    <a:pt x="9850" y="1"/>
                  </a:cubicBezTo>
                  <a:lnTo>
                    <a:pt x="9850" y="1"/>
                  </a:lnTo>
                  <a:cubicBezTo>
                    <a:pt x="9841" y="1"/>
                    <a:pt x="9841" y="1"/>
                    <a:pt x="9841" y="1"/>
                  </a:cubicBezTo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8"/>
            <p:cNvSpPr/>
            <p:nvPr/>
          </p:nvSpPr>
          <p:spPr>
            <a:xfrm rot="1251520">
              <a:off x="1143301" y="1658184"/>
              <a:ext cx="904497" cy="904578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6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8"/>
            <p:cNvSpPr/>
            <p:nvPr/>
          </p:nvSpPr>
          <p:spPr>
            <a:xfrm>
              <a:off x="1575440" y="697417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8"/>
            <p:cNvSpPr/>
            <p:nvPr/>
          </p:nvSpPr>
          <p:spPr>
            <a:xfrm>
              <a:off x="503540" y="697417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8"/>
            <p:cNvSpPr/>
            <p:nvPr/>
          </p:nvSpPr>
          <p:spPr>
            <a:xfrm>
              <a:off x="836573" y="2699927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8"/>
            <p:cNvSpPr/>
            <p:nvPr/>
          </p:nvSpPr>
          <p:spPr>
            <a:xfrm>
              <a:off x="1519165" y="25333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8"/>
            <p:cNvSpPr/>
            <p:nvPr/>
          </p:nvSpPr>
          <p:spPr>
            <a:xfrm>
              <a:off x="2360573" y="1428777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>
          <a:extLst>
            <a:ext uri="{FF2B5EF4-FFF2-40B4-BE49-F238E27FC236}">
              <a16:creationId xmlns:a16="http://schemas.microsoft.com/office/drawing/2014/main" id="{9EA761FB-07C2-C761-3F3A-3E242142B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48">
            <a:extLst>
              <a:ext uri="{FF2B5EF4-FFF2-40B4-BE49-F238E27FC236}">
                <a16:creationId xmlns:a16="http://schemas.microsoft.com/office/drawing/2014/main" id="{AACE2D69-F9AA-A34A-69F9-5FEEB5C7B1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033" y="1453992"/>
            <a:ext cx="3728700" cy="87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sp>
        <p:nvSpPr>
          <p:cNvPr id="900" name="Google Shape;900;p48">
            <a:extLst>
              <a:ext uri="{FF2B5EF4-FFF2-40B4-BE49-F238E27FC236}">
                <a16:creationId xmlns:a16="http://schemas.microsoft.com/office/drawing/2014/main" id="{46FA7BE8-E696-5396-CC78-9292B6B3155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100" y="2219088"/>
            <a:ext cx="3728700" cy="6356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</a:rPr>
              <a:t>Do you have any questions?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901" name="Google Shape;901;p48">
            <a:extLst>
              <a:ext uri="{FF2B5EF4-FFF2-40B4-BE49-F238E27FC236}">
                <a16:creationId xmlns:a16="http://schemas.microsoft.com/office/drawing/2014/main" id="{DEEF2346-1192-4216-AA76-F6A867D1BE3F}"/>
              </a:ext>
            </a:extLst>
          </p:cNvPr>
          <p:cNvSpPr txBox="1"/>
          <p:nvPr/>
        </p:nvSpPr>
        <p:spPr>
          <a:xfrm>
            <a:off x="713100" y="4058788"/>
            <a:ext cx="3000000" cy="4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Please keep this slide for attribution</a:t>
            </a:r>
            <a:endParaRPr sz="10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915" name="Google Shape;915;p48">
            <a:extLst>
              <a:ext uri="{FF2B5EF4-FFF2-40B4-BE49-F238E27FC236}">
                <a16:creationId xmlns:a16="http://schemas.microsoft.com/office/drawing/2014/main" id="{823DA68E-32DF-D45B-525C-E7AC8790D122}"/>
              </a:ext>
            </a:extLst>
          </p:cNvPr>
          <p:cNvSpPr/>
          <p:nvPr/>
        </p:nvSpPr>
        <p:spPr>
          <a:xfrm>
            <a:off x="7023053" y="3879017"/>
            <a:ext cx="660023" cy="660100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6" name="Google Shape;916;p48">
            <a:extLst>
              <a:ext uri="{FF2B5EF4-FFF2-40B4-BE49-F238E27FC236}">
                <a16:creationId xmlns:a16="http://schemas.microsoft.com/office/drawing/2014/main" id="{0800D187-183E-D334-61B2-5F954510A09C}"/>
              </a:ext>
            </a:extLst>
          </p:cNvPr>
          <p:cNvSpPr/>
          <p:nvPr/>
        </p:nvSpPr>
        <p:spPr>
          <a:xfrm>
            <a:off x="6053505" y="2188518"/>
            <a:ext cx="468769" cy="468795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7" name="Google Shape;917;p48">
            <a:extLst>
              <a:ext uri="{FF2B5EF4-FFF2-40B4-BE49-F238E27FC236}">
                <a16:creationId xmlns:a16="http://schemas.microsoft.com/office/drawing/2014/main" id="{E10F0C38-61E1-3970-D928-F4E658FC7A84}"/>
              </a:ext>
            </a:extLst>
          </p:cNvPr>
          <p:cNvSpPr/>
          <p:nvPr/>
        </p:nvSpPr>
        <p:spPr>
          <a:xfrm>
            <a:off x="7063572" y="552665"/>
            <a:ext cx="238346" cy="238372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p48">
            <a:extLst>
              <a:ext uri="{FF2B5EF4-FFF2-40B4-BE49-F238E27FC236}">
                <a16:creationId xmlns:a16="http://schemas.microsoft.com/office/drawing/2014/main" id="{301E8777-AC97-2C3B-5831-13C6B683C14E}"/>
              </a:ext>
            </a:extLst>
          </p:cNvPr>
          <p:cNvSpPr/>
          <p:nvPr/>
        </p:nvSpPr>
        <p:spPr>
          <a:xfrm>
            <a:off x="4737288" y="741106"/>
            <a:ext cx="3660803" cy="3661276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rgbClr val="E7ECFF">
                  <a:alpha val="50196"/>
                </a:srgbClr>
              </a:gs>
              <a:gs pos="6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9" name="Google Shape;919;p48">
            <a:extLst>
              <a:ext uri="{FF2B5EF4-FFF2-40B4-BE49-F238E27FC236}">
                <a16:creationId xmlns:a16="http://schemas.microsoft.com/office/drawing/2014/main" id="{08481C07-536B-6B23-3302-5CD1214AC3DC}"/>
              </a:ext>
            </a:extLst>
          </p:cNvPr>
          <p:cNvGrpSpPr/>
          <p:nvPr/>
        </p:nvGrpSpPr>
        <p:grpSpPr>
          <a:xfrm>
            <a:off x="5510908" y="1750653"/>
            <a:ext cx="2113582" cy="1642194"/>
            <a:chOff x="3186425" y="4160625"/>
            <a:chExt cx="533679" cy="414643"/>
          </a:xfrm>
        </p:grpSpPr>
        <p:grpSp>
          <p:nvGrpSpPr>
            <p:cNvPr id="920" name="Google Shape;920;p48">
              <a:extLst>
                <a:ext uri="{FF2B5EF4-FFF2-40B4-BE49-F238E27FC236}">
                  <a16:creationId xmlns:a16="http://schemas.microsoft.com/office/drawing/2014/main" id="{8743B76C-CF27-7061-CBC6-05FDD0957ED1}"/>
                </a:ext>
              </a:extLst>
            </p:cNvPr>
            <p:cNvGrpSpPr/>
            <p:nvPr/>
          </p:nvGrpSpPr>
          <p:grpSpPr>
            <a:xfrm>
              <a:off x="3248670" y="4212301"/>
              <a:ext cx="409169" cy="311298"/>
              <a:chOff x="3248670" y="4212301"/>
              <a:chExt cx="409169" cy="311298"/>
            </a:xfrm>
          </p:grpSpPr>
          <p:sp>
            <p:nvSpPr>
              <p:cNvPr id="921" name="Google Shape;921;p48">
                <a:extLst>
                  <a:ext uri="{FF2B5EF4-FFF2-40B4-BE49-F238E27FC236}">
                    <a16:creationId xmlns:a16="http://schemas.microsoft.com/office/drawing/2014/main" id="{526D7F7B-5E5E-A5C8-07B4-7F9EA27B10A1}"/>
                  </a:ext>
                </a:extLst>
              </p:cNvPr>
              <p:cNvSpPr/>
              <p:nvPr/>
            </p:nvSpPr>
            <p:spPr>
              <a:xfrm>
                <a:off x="3249849" y="4212301"/>
                <a:ext cx="337457" cy="246269"/>
              </a:xfrm>
              <a:custGeom>
                <a:avLst/>
                <a:gdLst/>
                <a:ahLst/>
                <a:cxnLst/>
                <a:rect l="l" t="t" r="r" b="b"/>
                <a:pathLst>
                  <a:path w="7727" h="5639" extrusionOk="0">
                    <a:moveTo>
                      <a:pt x="7726" y="1303"/>
                    </a:moveTo>
                    <a:cubicBezTo>
                      <a:pt x="7682" y="1187"/>
                      <a:pt x="7637" y="1124"/>
                      <a:pt x="7584" y="1008"/>
                    </a:cubicBezTo>
                    <a:cubicBezTo>
                      <a:pt x="7432" y="696"/>
                      <a:pt x="7209" y="393"/>
                      <a:pt x="6852" y="294"/>
                    </a:cubicBezTo>
                    <a:cubicBezTo>
                      <a:pt x="6549" y="205"/>
                      <a:pt x="6228" y="286"/>
                      <a:pt x="5915" y="312"/>
                    </a:cubicBezTo>
                    <a:cubicBezTo>
                      <a:pt x="5398" y="348"/>
                      <a:pt x="4889" y="250"/>
                      <a:pt x="4381" y="161"/>
                    </a:cubicBezTo>
                    <a:cubicBezTo>
                      <a:pt x="3872" y="71"/>
                      <a:pt x="3346" y="0"/>
                      <a:pt x="2838" y="98"/>
                    </a:cubicBezTo>
                    <a:cubicBezTo>
                      <a:pt x="2338" y="205"/>
                      <a:pt x="1847" y="509"/>
                      <a:pt x="1651" y="990"/>
                    </a:cubicBezTo>
                    <a:cubicBezTo>
                      <a:pt x="1473" y="1436"/>
                      <a:pt x="750" y="1677"/>
                      <a:pt x="527" y="2105"/>
                    </a:cubicBezTo>
                    <a:cubicBezTo>
                      <a:pt x="286" y="2578"/>
                      <a:pt x="545" y="3096"/>
                      <a:pt x="277" y="3560"/>
                    </a:cubicBezTo>
                    <a:cubicBezTo>
                      <a:pt x="1" y="4032"/>
                      <a:pt x="117" y="4675"/>
                      <a:pt x="482" y="5085"/>
                    </a:cubicBezTo>
                    <a:cubicBezTo>
                      <a:pt x="741" y="5370"/>
                      <a:pt x="1080" y="5549"/>
                      <a:pt x="1455" y="5638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accent1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48">
                <a:extLst>
                  <a:ext uri="{FF2B5EF4-FFF2-40B4-BE49-F238E27FC236}">
                    <a16:creationId xmlns:a16="http://schemas.microsoft.com/office/drawing/2014/main" id="{6A1864F7-E9EB-33BF-DBCD-FFE3F307CB87}"/>
                  </a:ext>
                </a:extLst>
              </p:cNvPr>
              <p:cNvSpPr/>
              <p:nvPr/>
            </p:nvSpPr>
            <p:spPr>
              <a:xfrm>
                <a:off x="3304790" y="4265276"/>
                <a:ext cx="353048" cy="258323"/>
              </a:xfrm>
              <a:custGeom>
                <a:avLst/>
                <a:gdLst/>
                <a:ahLst/>
                <a:cxnLst/>
                <a:rect l="l" t="t" r="r" b="b"/>
                <a:pathLst>
                  <a:path w="8084" h="5915" extrusionOk="0">
                    <a:moveTo>
                      <a:pt x="7164" y="72"/>
                    </a:moveTo>
                    <a:cubicBezTo>
                      <a:pt x="6879" y="0"/>
                      <a:pt x="6566" y="72"/>
                      <a:pt x="6281" y="152"/>
                    </a:cubicBezTo>
                    <a:cubicBezTo>
                      <a:pt x="5995" y="241"/>
                      <a:pt x="5710" y="348"/>
                      <a:pt x="5407" y="366"/>
                    </a:cubicBezTo>
                    <a:cubicBezTo>
                      <a:pt x="5050" y="384"/>
                      <a:pt x="4693" y="259"/>
                      <a:pt x="4336" y="188"/>
                    </a:cubicBezTo>
                    <a:cubicBezTo>
                      <a:pt x="3988" y="107"/>
                      <a:pt x="3587" y="90"/>
                      <a:pt x="3292" y="295"/>
                    </a:cubicBezTo>
                    <a:cubicBezTo>
                      <a:pt x="3007" y="491"/>
                      <a:pt x="2481" y="589"/>
                      <a:pt x="2240" y="839"/>
                    </a:cubicBezTo>
                    <a:cubicBezTo>
                      <a:pt x="1954" y="1124"/>
                      <a:pt x="1927" y="1490"/>
                      <a:pt x="1562" y="1669"/>
                    </a:cubicBezTo>
                    <a:cubicBezTo>
                      <a:pt x="884" y="1990"/>
                      <a:pt x="313" y="2596"/>
                      <a:pt x="152" y="3337"/>
                    </a:cubicBezTo>
                    <a:cubicBezTo>
                      <a:pt x="1" y="4068"/>
                      <a:pt x="340" y="4925"/>
                      <a:pt x="1018" y="5246"/>
                    </a:cubicBezTo>
                    <a:cubicBezTo>
                      <a:pt x="1374" y="5406"/>
                      <a:pt x="1776" y="5424"/>
                      <a:pt x="2151" y="5540"/>
                    </a:cubicBezTo>
                    <a:cubicBezTo>
                      <a:pt x="2454" y="5629"/>
                      <a:pt x="2739" y="5781"/>
                      <a:pt x="3060" y="5835"/>
                    </a:cubicBezTo>
                    <a:cubicBezTo>
                      <a:pt x="3596" y="5915"/>
                      <a:pt x="4131" y="5665"/>
                      <a:pt x="4568" y="5335"/>
                    </a:cubicBezTo>
                    <a:cubicBezTo>
                      <a:pt x="5005" y="5014"/>
                      <a:pt x="5380" y="4604"/>
                      <a:pt x="5826" y="4300"/>
                    </a:cubicBezTo>
                    <a:cubicBezTo>
                      <a:pt x="6138" y="4077"/>
                      <a:pt x="6495" y="3899"/>
                      <a:pt x="6789" y="3649"/>
                    </a:cubicBezTo>
                    <a:cubicBezTo>
                      <a:pt x="7012" y="3453"/>
                      <a:pt x="7200" y="3203"/>
                      <a:pt x="7387" y="2962"/>
                    </a:cubicBezTo>
                    <a:cubicBezTo>
                      <a:pt x="7664" y="2596"/>
                      <a:pt x="7949" y="2204"/>
                      <a:pt x="8012" y="1749"/>
                    </a:cubicBezTo>
                    <a:cubicBezTo>
                      <a:pt x="8083" y="1196"/>
                      <a:pt x="7780" y="223"/>
                      <a:pt x="7164" y="72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accent1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48">
                <a:extLst>
                  <a:ext uri="{FF2B5EF4-FFF2-40B4-BE49-F238E27FC236}">
                    <a16:creationId xmlns:a16="http://schemas.microsoft.com/office/drawing/2014/main" id="{2214A5B8-52DD-F7E4-31F0-90FDE5B3E429}"/>
                  </a:ext>
                </a:extLst>
              </p:cNvPr>
              <p:cNvSpPr/>
              <p:nvPr/>
            </p:nvSpPr>
            <p:spPr>
              <a:xfrm>
                <a:off x="3461010" y="4317465"/>
                <a:ext cx="51883" cy="56556"/>
              </a:xfrm>
              <a:custGeom>
                <a:avLst/>
                <a:gdLst/>
                <a:ahLst/>
                <a:cxnLst/>
                <a:rect l="l" t="t" r="r" b="b"/>
                <a:pathLst>
                  <a:path w="1188" h="1295" extrusionOk="0">
                    <a:moveTo>
                      <a:pt x="848" y="19"/>
                    </a:moveTo>
                    <a:cubicBezTo>
                      <a:pt x="839" y="36"/>
                      <a:pt x="848" y="54"/>
                      <a:pt x="866" y="63"/>
                    </a:cubicBezTo>
                    <a:lnTo>
                      <a:pt x="866" y="63"/>
                    </a:lnTo>
                    <a:cubicBezTo>
                      <a:pt x="1009" y="126"/>
                      <a:pt x="1116" y="268"/>
                      <a:pt x="1125" y="411"/>
                    </a:cubicBezTo>
                    <a:lnTo>
                      <a:pt x="1125" y="411"/>
                    </a:lnTo>
                    <a:cubicBezTo>
                      <a:pt x="1125" y="598"/>
                      <a:pt x="964" y="750"/>
                      <a:pt x="831" y="821"/>
                    </a:cubicBezTo>
                    <a:lnTo>
                      <a:pt x="831" y="821"/>
                    </a:lnTo>
                    <a:cubicBezTo>
                      <a:pt x="715" y="875"/>
                      <a:pt x="599" y="911"/>
                      <a:pt x="474" y="937"/>
                    </a:cubicBezTo>
                    <a:lnTo>
                      <a:pt x="474" y="937"/>
                    </a:lnTo>
                    <a:cubicBezTo>
                      <a:pt x="420" y="955"/>
                      <a:pt x="358" y="973"/>
                      <a:pt x="295" y="991"/>
                    </a:cubicBezTo>
                    <a:lnTo>
                      <a:pt x="295" y="991"/>
                    </a:lnTo>
                    <a:cubicBezTo>
                      <a:pt x="126" y="1053"/>
                      <a:pt x="19" y="1143"/>
                      <a:pt x="1" y="1250"/>
                    </a:cubicBezTo>
                    <a:lnTo>
                      <a:pt x="1" y="1250"/>
                    </a:lnTo>
                    <a:cubicBezTo>
                      <a:pt x="1" y="1268"/>
                      <a:pt x="10" y="1285"/>
                      <a:pt x="28" y="1294"/>
                    </a:cubicBezTo>
                    <a:lnTo>
                      <a:pt x="28" y="1294"/>
                    </a:lnTo>
                    <a:cubicBezTo>
                      <a:pt x="28" y="1294"/>
                      <a:pt x="37" y="1294"/>
                      <a:pt x="37" y="1294"/>
                    </a:cubicBezTo>
                    <a:lnTo>
                      <a:pt x="37" y="1294"/>
                    </a:lnTo>
                    <a:cubicBezTo>
                      <a:pt x="45" y="1294"/>
                      <a:pt x="63" y="1276"/>
                      <a:pt x="63" y="1268"/>
                    </a:cubicBezTo>
                    <a:lnTo>
                      <a:pt x="63" y="1268"/>
                    </a:lnTo>
                    <a:cubicBezTo>
                      <a:pt x="81" y="1152"/>
                      <a:pt x="215" y="1089"/>
                      <a:pt x="313" y="1053"/>
                    </a:cubicBezTo>
                    <a:lnTo>
                      <a:pt x="313" y="1053"/>
                    </a:lnTo>
                    <a:cubicBezTo>
                      <a:pt x="376" y="1036"/>
                      <a:pt x="438" y="1018"/>
                      <a:pt x="492" y="1000"/>
                    </a:cubicBezTo>
                    <a:lnTo>
                      <a:pt x="492" y="1000"/>
                    </a:lnTo>
                    <a:cubicBezTo>
                      <a:pt x="616" y="964"/>
                      <a:pt x="741" y="937"/>
                      <a:pt x="857" y="875"/>
                    </a:cubicBezTo>
                    <a:lnTo>
                      <a:pt x="857" y="875"/>
                    </a:lnTo>
                    <a:cubicBezTo>
                      <a:pt x="1018" y="795"/>
                      <a:pt x="1187" y="625"/>
                      <a:pt x="1187" y="411"/>
                    </a:cubicBezTo>
                    <a:lnTo>
                      <a:pt x="1187" y="411"/>
                    </a:lnTo>
                    <a:cubicBezTo>
                      <a:pt x="1178" y="242"/>
                      <a:pt x="1062" y="81"/>
                      <a:pt x="884" y="1"/>
                    </a:cubicBezTo>
                    <a:lnTo>
                      <a:pt x="884" y="1"/>
                    </a:lnTo>
                    <a:cubicBezTo>
                      <a:pt x="884" y="1"/>
                      <a:pt x="875" y="1"/>
                      <a:pt x="875" y="1"/>
                    </a:cubicBezTo>
                    <a:lnTo>
                      <a:pt x="875" y="1"/>
                    </a:lnTo>
                    <a:cubicBezTo>
                      <a:pt x="857" y="1"/>
                      <a:pt x="848" y="10"/>
                      <a:pt x="848" y="19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8">
                <a:extLst>
                  <a:ext uri="{FF2B5EF4-FFF2-40B4-BE49-F238E27FC236}">
                    <a16:creationId xmlns:a16="http://schemas.microsoft.com/office/drawing/2014/main" id="{7BDA388E-C36D-2A67-33A9-00F942424D57}"/>
                  </a:ext>
                </a:extLst>
              </p:cNvPr>
              <p:cNvSpPr/>
              <p:nvPr/>
            </p:nvSpPr>
            <p:spPr>
              <a:xfrm>
                <a:off x="3548706" y="4278902"/>
                <a:ext cx="33934" cy="78348"/>
              </a:xfrm>
              <a:custGeom>
                <a:avLst/>
                <a:gdLst/>
                <a:ahLst/>
                <a:cxnLst/>
                <a:rect l="l" t="t" r="r" b="b"/>
                <a:pathLst>
                  <a:path w="777" h="1794" extrusionOk="0">
                    <a:moveTo>
                      <a:pt x="0" y="27"/>
                    </a:moveTo>
                    <a:cubicBezTo>
                      <a:pt x="0" y="36"/>
                      <a:pt x="9" y="54"/>
                      <a:pt x="27" y="63"/>
                    </a:cubicBezTo>
                    <a:lnTo>
                      <a:pt x="27" y="63"/>
                    </a:lnTo>
                    <a:cubicBezTo>
                      <a:pt x="375" y="143"/>
                      <a:pt x="642" y="464"/>
                      <a:pt x="678" y="839"/>
                    </a:cubicBezTo>
                    <a:lnTo>
                      <a:pt x="678" y="839"/>
                    </a:lnTo>
                    <a:cubicBezTo>
                      <a:pt x="714" y="1214"/>
                      <a:pt x="491" y="1588"/>
                      <a:pt x="152" y="1740"/>
                    </a:cubicBezTo>
                    <a:lnTo>
                      <a:pt x="152" y="1740"/>
                    </a:lnTo>
                    <a:cubicBezTo>
                      <a:pt x="134" y="1740"/>
                      <a:pt x="125" y="1758"/>
                      <a:pt x="134" y="1776"/>
                    </a:cubicBezTo>
                    <a:lnTo>
                      <a:pt x="134" y="1776"/>
                    </a:lnTo>
                    <a:cubicBezTo>
                      <a:pt x="134" y="1794"/>
                      <a:pt x="152" y="1794"/>
                      <a:pt x="161" y="1794"/>
                    </a:cubicBezTo>
                    <a:lnTo>
                      <a:pt x="161" y="1794"/>
                    </a:lnTo>
                    <a:cubicBezTo>
                      <a:pt x="161" y="1794"/>
                      <a:pt x="170" y="1794"/>
                      <a:pt x="170" y="1794"/>
                    </a:cubicBezTo>
                    <a:lnTo>
                      <a:pt x="170" y="1794"/>
                    </a:lnTo>
                    <a:cubicBezTo>
                      <a:pt x="544" y="1633"/>
                      <a:pt x="776" y="1232"/>
                      <a:pt x="741" y="830"/>
                    </a:cubicBezTo>
                    <a:lnTo>
                      <a:pt x="741" y="830"/>
                    </a:lnTo>
                    <a:cubicBezTo>
                      <a:pt x="705" y="429"/>
                      <a:pt x="419" y="81"/>
                      <a:pt x="36" y="1"/>
                    </a:cubicBezTo>
                    <a:lnTo>
                      <a:pt x="36" y="1"/>
                    </a:lnTo>
                    <a:cubicBezTo>
                      <a:pt x="36" y="1"/>
                      <a:pt x="36" y="1"/>
                      <a:pt x="27" y="1"/>
                    </a:cubicBezTo>
                    <a:lnTo>
                      <a:pt x="27" y="1"/>
                    </a:lnTo>
                    <a:cubicBezTo>
                      <a:pt x="18" y="1"/>
                      <a:pt x="0" y="9"/>
                      <a:pt x="0" y="27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48">
                <a:extLst>
                  <a:ext uri="{FF2B5EF4-FFF2-40B4-BE49-F238E27FC236}">
                    <a16:creationId xmlns:a16="http://schemas.microsoft.com/office/drawing/2014/main" id="{BD823969-C2C0-94EA-DD4B-6406B85864C2}"/>
                  </a:ext>
                </a:extLst>
              </p:cNvPr>
              <p:cNvSpPr/>
              <p:nvPr/>
            </p:nvSpPr>
            <p:spPr>
              <a:xfrm>
                <a:off x="3404933" y="4414114"/>
                <a:ext cx="25374" cy="40135"/>
              </a:xfrm>
              <a:custGeom>
                <a:avLst/>
                <a:gdLst/>
                <a:ahLst/>
                <a:cxnLst/>
                <a:rect l="l" t="t" r="r" b="b"/>
                <a:pathLst>
                  <a:path w="581" h="919" extrusionOk="0">
                    <a:moveTo>
                      <a:pt x="536" y="0"/>
                    </a:moveTo>
                    <a:cubicBezTo>
                      <a:pt x="339" y="27"/>
                      <a:pt x="161" y="152"/>
                      <a:pt x="81" y="339"/>
                    </a:cubicBezTo>
                    <a:lnTo>
                      <a:pt x="81" y="339"/>
                    </a:lnTo>
                    <a:cubicBezTo>
                      <a:pt x="0" y="518"/>
                      <a:pt x="18" y="741"/>
                      <a:pt x="134" y="901"/>
                    </a:cubicBezTo>
                    <a:lnTo>
                      <a:pt x="134" y="901"/>
                    </a:lnTo>
                    <a:cubicBezTo>
                      <a:pt x="143" y="910"/>
                      <a:pt x="152" y="919"/>
                      <a:pt x="161" y="919"/>
                    </a:cubicBezTo>
                    <a:lnTo>
                      <a:pt x="161" y="919"/>
                    </a:lnTo>
                    <a:cubicBezTo>
                      <a:pt x="170" y="919"/>
                      <a:pt x="170" y="910"/>
                      <a:pt x="179" y="910"/>
                    </a:cubicBezTo>
                    <a:lnTo>
                      <a:pt x="179" y="910"/>
                    </a:lnTo>
                    <a:cubicBezTo>
                      <a:pt x="197" y="901"/>
                      <a:pt x="197" y="883"/>
                      <a:pt x="188" y="865"/>
                    </a:cubicBezTo>
                    <a:lnTo>
                      <a:pt x="188" y="865"/>
                    </a:lnTo>
                    <a:cubicBezTo>
                      <a:pt x="89" y="723"/>
                      <a:pt x="72" y="526"/>
                      <a:pt x="143" y="366"/>
                    </a:cubicBezTo>
                    <a:lnTo>
                      <a:pt x="143" y="366"/>
                    </a:lnTo>
                    <a:cubicBezTo>
                      <a:pt x="214" y="205"/>
                      <a:pt x="375" y="80"/>
                      <a:pt x="544" y="63"/>
                    </a:cubicBezTo>
                    <a:lnTo>
                      <a:pt x="544" y="63"/>
                    </a:lnTo>
                    <a:cubicBezTo>
                      <a:pt x="562" y="63"/>
                      <a:pt x="580" y="45"/>
                      <a:pt x="571" y="27"/>
                    </a:cubicBezTo>
                    <a:lnTo>
                      <a:pt x="571" y="27"/>
                    </a:lnTo>
                    <a:cubicBezTo>
                      <a:pt x="571" y="9"/>
                      <a:pt x="562" y="0"/>
                      <a:pt x="544" y="0"/>
                    </a:cubicBezTo>
                    <a:lnTo>
                      <a:pt x="544" y="0"/>
                    </a:lnTo>
                    <a:cubicBezTo>
                      <a:pt x="544" y="0"/>
                      <a:pt x="544" y="0"/>
                      <a:pt x="5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48">
                <a:extLst>
                  <a:ext uri="{FF2B5EF4-FFF2-40B4-BE49-F238E27FC236}">
                    <a16:creationId xmlns:a16="http://schemas.microsoft.com/office/drawing/2014/main" id="{64FACF82-2AED-1302-E7EA-A6974E27A6C4}"/>
                  </a:ext>
                </a:extLst>
              </p:cNvPr>
              <p:cNvSpPr/>
              <p:nvPr/>
            </p:nvSpPr>
            <p:spPr>
              <a:xfrm>
                <a:off x="3468827" y="4251257"/>
                <a:ext cx="14456" cy="15984"/>
              </a:xfrm>
              <a:custGeom>
                <a:avLst/>
                <a:gdLst/>
                <a:ahLst/>
                <a:cxnLst/>
                <a:rect l="l" t="t" r="r" b="b"/>
                <a:pathLst>
                  <a:path w="331" h="366" extrusionOk="0">
                    <a:moveTo>
                      <a:pt x="54" y="98"/>
                    </a:moveTo>
                    <a:cubicBezTo>
                      <a:pt x="0" y="179"/>
                      <a:pt x="9" y="286"/>
                      <a:pt x="72" y="357"/>
                    </a:cubicBezTo>
                    <a:lnTo>
                      <a:pt x="72" y="357"/>
                    </a:lnTo>
                    <a:cubicBezTo>
                      <a:pt x="72" y="366"/>
                      <a:pt x="81" y="366"/>
                      <a:pt x="90" y="366"/>
                    </a:cubicBezTo>
                    <a:lnTo>
                      <a:pt x="90" y="366"/>
                    </a:lnTo>
                    <a:cubicBezTo>
                      <a:pt x="98" y="366"/>
                      <a:pt x="107" y="366"/>
                      <a:pt x="116" y="366"/>
                    </a:cubicBezTo>
                    <a:lnTo>
                      <a:pt x="116" y="366"/>
                    </a:lnTo>
                    <a:cubicBezTo>
                      <a:pt x="125" y="348"/>
                      <a:pt x="125" y="330"/>
                      <a:pt x="116" y="321"/>
                    </a:cubicBezTo>
                    <a:lnTo>
                      <a:pt x="116" y="321"/>
                    </a:lnTo>
                    <a:cubicBezTo>
                      <a:pt x="72" y="268"/>
                      <a:pt x="72" y="187"/>
                      <a:pt x="107" y="134"/>
                    </a:cubicBezTo>
                    <a:lnTo>
                      <a:pt x="107" y="134"/>
                    </a:lnTo>
                    <a:cubicBezTo>
                      <a:pt x="143" y="80"/>
                      <a:pt x="223" y="54"/>
                      <a:pt x="286" y="72"/>
                    </a:cubicBezTo>
                    <a:lnTo>
                      <a:pt x="286" y="72"/>
                    </a:lnTo>
                    <a:cubicBezTo>
                      <a:pt x="295" y="72"/>
                      <a:pt x="313" y="63"/>
                      <a:pt x="321" y="45"/>
                    </a:cubicBezTo>
                    <a:lnTo>
                      <a:pt x="321" y="45"/>
                    </a:lnTo>
                    <a:cubicBezTo>
                      <a:pt x="330" y="36"/>
                      <a:pt x="321" y="18"/>
                      <a:pt x="304" y="9"/>
                    </a:cubicBezTo>
                    <a:lnTo>
                      <a:pt x="304" y="9"/>
                    </a:lnTo>
                    <a:cubicBezTo>
                      <a:pt x="277" y="0"/>
                      <a:pt x="259" y="0"/>
                      <a:pt x="241" y="0"/>
                    </a:cubicBezTo>
                    <a:lnTo>
                      <a:pt x="241" y="0"/>
                    </a:lnTo>
                    <a:cubicBezTo>
                      <a:pt x="170" y="0"/>
                      <a:pt x="98" y="36"/>
                      <a:pt x="54" y="98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48">
                <a:extLst>
                  <a:ext uri="{FF2B5EF4-FFF2-40B4-BE49-F238E27FC236}">
                    <a16:creationId xmlns:a16="http://schemas.microsoft.com/office/drawing/2014/main" id="{C6FDDC5F-BAF4-E169-A080-95658E2C438E}"/>
                  </a:ext>
                </a:extLst>
              </p:cNvPr>
              <p:cNvSpPr/>
              <p:nvPr/>
            </p:nvSpPr>
            <p:spPr>
              <a:xfrm>
                <a:off x="3248670" y="4213043"/>
                <a:ext cx="407988" cy="309027"/>
              </a:xfrm>
              <a:custGeom>
                <a:avLst/>
                <a:gdLst/>
                <a:ahLst/>
                <a:cxnLst/>
                <a:rect l="l" t="t" r="r" b="b"/>
                <a:pathLst>
                  <a:path w="9342" h="7076" extrusionOk="0">
                    <a:moveTo>
                      <a:pt x="2865" y="54"/>
                    </a:moveTo>
                    <a:cubicBezTo>
                      <a:pt x="2704" y="90"/>
                      <a:pt x="2561" y="135"/>
                      <a:pt x="2419" y="197"/>
                    </a:cubicBezTo>
                    <a:lnTo>
                      <a:pt x="2419" y="197"/>
                    </a:lnTo>
                    <a:cubicBezTo>
                      <a:pt x="2419" y="197"/>
                      <a:pt x="2419" y="197"/>
                      <a:pt x="2419" y="206"/>
                    </a:cubicBezTo>
                    <a:lnTo>
                      <a:pt x="2419" y="206"/>
                    </a:lnTo>
                    <a:cubicBezTo>
                      <a:pt x="2062" y="367"/>
                      <a:pt x="1776" y="643"/>
                      <a:pt x="1651" y="964"/>
                    </a:cubicBezTo>
                    <a:lnTo>
                      <a:pt x="1651" y="964"/>
                    </a:lnTo>
                    <a:cubicBezTo>
                      <a:pt x="1633" y="1009"/>
                      <a:pt x="1607" y="1045"/>
                      <a:pt x="1580" y="1089"/>
                    </a:cubicBezTo>
                    <a:lnTo>
                      <a:pt x="1580" y="1089"/>
                    </a:lnTo>
                    <a:cubicBezTo>
                      <a:pt x="1571" y="1089"/>
                      <a:pt x="1562" y="1098"/>
                      <a:pt x="1562" y="1116"/>
                    </a:cubicBezTo>
                    <a:lnTo>
                      <a:pt x="1562" y="1116"/>
                    </a:lnTo>
                    <a:cubicBezTo>
                      <a:pt x="1562" y="1116"/>
                      <a:pt x="1562" y="1116"/>
                      <a:pt x="1562" y="1116"/>
                    </a:cubicBezTo>
                    <a:lnTo>
                      <a:pt x="1562" y="1116"/>
                    </a:lnTo>
                    <a:cubicBezTo>
                      <a:pt x="1446" y="1277"/>
                      <a:pt x="1259" y="1401"/>
                      <a:pt x="1089" y="1535"/>
                    </a:cubicBezTo>
                    <a:lnTo>
                      <a:pt x="1089" y="1535"/>
                    </a:lnTo>
                    <a:cubicBezTo>
                      <a:pt x="866" y="1696"/>
                      <a:pt x="634" y="1856"/>
                      <a:pt x="527" y="2071"/>
                    </a:cubicBezTo>
                    <a:lnTo>
                      <a:pt x="527" y="2071"/>
                    </a:lnTo>
                    <a:cubicBezTo>
                      <a:pt x="402" y="2311"/>
                      <a:pt x="402" y="2561"/>
                      <a:pt x="411" y="2802"/>
                    </a:cubicBezTo>
                    <a:lnTo>
                      <a:pt x="411" y="2802"/>
                    </a:lnTo>
                    <a:cubicBezTo>
                      <a:pt x="411" y="3052"/>
                      <a:pt x="411" y="3293"/>
                      <a:pt x="277" y="3525"/>
                    </a:cubicBezTo>
                    <a:lnTo>
                      <a:pt x="277" y="3525"/>
                    </a:lnTo>
                    <a:cubicBezTo>
                      <a:pt x="1" y="3989"/>
                      <a:pt x="90" y="4649"/>
                      <a:pt x="492" y="5095"/>
                    </a:cubicBezTo>
                    <a:lnTo>
                      <a:pt x="492" y="5095"/>
                    </a:lnTo>
                    <a:cubicBezTo>
                      <a:pt x="732" y="5362"/>
                      <a:pt x="1071" y="5559"/>
                      <a:pt x="1473" y="5657"/>
                    </a:cubicBezTo>
                    <a:lnTo>
                      <a:pt x="1473" y="5657"/>
                    </a:lnTo>
                    <a:cubicBezTo>
                      <a:pt x="1473" y="5657"/>
                      <a:pt x="1473" y="5657"/>
                      <a:pt x="1482" y="5657"/>
                    </a:cubicBezTo>
                    <a:lnTo>
                      <a:pt x="1482" y="5657"/>
                    </a:lnTo>
                    <a:cubicBezTo>
                      <a:pt x="1491" y="5657"/>
                      <a:pt x="1509" y="5648"/>
                      <a:pt x="1509" y="5630"/>
                    </a:cubicBezTo>
                    <a:lnTo>
                      <a:pt x="1509" y="5630"/>
                    </a:lnTo>
                    <a:cubicBezTo>
                      <a:pt x="1509" y="5621"/>
                      <a:pt x="1509" y="5621"/>
                      <a:pt x="1509" y="5612"/>
                    </a:cubicBezTo>
                    <a:lnTo>
                      <a:pt x="1509" y="5612"/>
                    </a:lnTo>
                    <a:cubicBezTo>
                      <a:pt x="1660" y="5987"/>
                      <a:pt x="1937" y="6299"/>
                      <a:pt x="2294" y="6469"/>
                    </a:cubicBezTo>
                    <a:lnTo>
                      <a:pt x="2294" y="6469"/>
                    </a:lnTo>
                    <a:cubicBezTo>
                      <a:pt x="2508" y="6567"/>
                      <a:pt x="2749" y="6620"/>
                      <a:pt x="2981" y="6665"/>
                    </a:cubicBezTo>
                    <a:lnTo>
                      <a:pt x="2981" y="6665"/>
                    </a:lnTo>
                    <a:cubicBezTo>
                      <a:pt x="3132" y="6692"/>
                      <a:pt x="3284" y="6718"/>
                      <a:pt x="3427" y="6763"/>
                    </a:cubicBezTo>
                    <a:lnTo>
                      <a:pt x="3427" y="6763"/>
                    </a:lnTo>
                    <a:cubicBezTo>
                      <a:pt x="3534" y="6799"/>
                      <a:pt x="3650" y="6843"/>
                      <a:pt x="3757" y="6879"/>
                    </a:cubicBezTo>
                    <a:lnTo>
                      <a:pt x="3757" y="6879"/>
                    </a:lnTo>
                    <a:cubicBezTo>
                      <a:pt x="3944" y="6959"/>
                      <a:pt x="4140" y="7031"/>
                      <a:pt x="4337" y="7057"/>
                    </a:cubicBezTo>
                    <a:lnTo>
                      <a:pt x="4337" y="7057"/>
                    </a:lnTo>
                    <a:cubicBezTo>
                      <a:pt x="4408" y="7066"/>
                      <a:pt x="4479" y="7075"/>
                      <a:pt x="4551" y="7075"/>
                    </a:cubicBezTo>
                    <a:lnTo>
                      <a:pt x="4551" y="7075"/>
                    </a:lnTo>
                    <a:cubicBezTo>
                      <a:pt x="5068" y="7075"/>
                      <a:pt x="5541" y="6808"/>
                      <a:pt x="5871" y="6558"/>
                    </a:cubicBezTo>
                    <a:lnTo>
                      <a:pt x="5871" y="6558"/>
                    </a:lnTo>
                    <a:cubicBezTo>
                      <a:pt x="6076" y="6406"/>
                      <a:pt x="6263" y="6237"/>
                      <a:pt x="6451" y="6076"/>
                    </a:cubicBezTo>
                    <a:lnTo>
                      <a:pt x="6451" y="6076"/>
                    </a:lnTo>
                    <a:cubicBezTo>
                      <a:pt x="6665" y="5880"/>
                      <a:pt x="6888" y="5684"/>
                      <a:pt x="7129" y="5514"/>
                    </a:cubicBezTo>
                    <a:lnTo>
                      <a:pt x="7129" y="5514"/>
                    </a:lnTo>
                    <a:cubicBezTo>
                      <a:pt x="7245" y="5434"/>
                      <a:pt x="7370" y="5362"/>
                      <a:pt x="7495" y="5282"/>
                    </a:cubicBezTo>
                    <a:lnTo>
                      <a:pt x="7495" y="5282"/>
                    </a:lnTo>
                    <a:cubicBezTo>
                      <a:pt x="7691" y="5157"/>
                      <a:pt x="7905" y="5032"/>
                      <a:pt x="8092" y="4872"/>
                    </a:cubicBezTo>
                    <a:lnTo>
                      <a:pt x="8092" y="4872"/>
                    </a:lnTo>
                    <a:cubicBezTo>
                      <a:pt x="8217" y="4756"/>
                      <a:pt x="8333" y="4640"/>
                      <a:pt x="8440" y="4506"/>
                    </a:cubicBezTo>
                    <a:lnTo>
                      <a:pt x="8440" y="4506"/>
                    </a:lnTo>
                    <a:lnTo>
                      <a:pt x="8440" y="4506"/>
                    </a:lnTo>
                    <a:lnTo>
                      <a:pt x="8440" y="4506"/>
                    </a:lnTo>
                    <a:cubicBezTo>
                      <a:pt x="8529" y="4399"/>
                      <a:pt x="8610" y="4283"/>
                      <a:pt x="8699" y="4176"/>
                    </a:cubicBezTo>
                    <a:lnTo>
                      <a:pt x="8699" y="4176"/>
                    </a:lnTo>
                    <a:cubicBezTo>
                      <a:pt x="8949" y="3846"/>
                      <a:pt x="9261" y="3427"/>
                      <a:pt x="9323" y="2945"/>
                    </a:cubicBezTo>
                    <a:lnTo>
                      <a:pt x="9323" y="2945"/>
                    </a:lnTo>
                    <a:cubicBezTo>
                      <a:pt x="9332" y="2865"/>
                      <a:pt x="9341" y="2784"/>
                      <a:pt x="9332" y="2686"/>
                    </a:cubicBezTo>
                    <a:lnTo>
                      <a:pt x="9332" y="2686"/>
                    </a:lnTo>
                    <a:cubicBezTo>
                      <a:pt x="9332" y="2686"/>
                      <a:pt x="9332" y="2677"/>
                      <a:pt x="9332" y="2668"/>
                    </a:cubicBezTo>
                    <a:lnTo>
                      <a:pt x="9332" y="2668"/>
                    </a:lnTo>
                    <a:cubicBezTo>
                      <a:pt x="9297" y="2106"/>
                      <a:pt x="9002" y="1375"/>
                      <a:pt x="8458" y="1241"/>
                    </a:cubicBezTo>
                    <a:lnTo>
                      <a:pt x="8458" y="1241"/>
                    </a:lnTo>
                    <a:cubicBezTo>
                      <a:pt x="8235" y="1187"/>
                      <a:pt x="7994" y="1214"/>
                      <a:pt x="7780" y="1259"/>
                    </a:cubicBezTo>
                    <a:lnTo>
                      <a:pt x="7780" y="1259"/>
                    </a:lnTo>
                    <a:cubicBezTo>
                      <a:pt x="7753" y="1187"/>
                      <a:pt x="7718" y="1134"/>
                      <a:pt x="7691" y="1071"/>
                    </a:cubicBezTo>
                    <a:lnTo>
                      <a:pt x="7691" y="1071"/>
                    </a:lnTo>
                    <a:cubicBezTo>
                      <a:pt x="7673" y="1045"/>
                      <a:pt x="7655" y="1009"/>
                      <a:pt x="7637" y="982"/>
                    </a:cubicBezTo>
                    <a:lnTo>
                      <a:pt x="7637" y="982"/>
                    </a:lnTo>
                    <a:cubicBezTo>
                      <a:pt x="7441" y="572"/>
                      <a:pt x="7200" y="331"/>
                      <a:pt x="6888" y="242"/>
                    </a:cubicBezTo>
                    <a:lnTo>
                      <a:pt x="6888" y="242"/>
                    </a:lnTo>
                    <a:cubicBezTo>
                      <a:pt x="6656" y="170"/>
                      <a:pt x="6406" y="206"/>
                      <a:pt x="6165" y="233"/>
                    </a:cubicBezTo>
                    <a:lnTo>
                      <a:pt x="6165" y="233"/>
                    </a:lnTo>
                    <a:cubicBezTo>
                      <a:pt x="6094" y="242"/>
                      <a:pt x="6014" y="251"/>
                      <a:pt x="5942" y="260"/>
                    </a:cubicBezTo>
                    <a:lnTo>
                      <a:pt x="5942" y="260"/>
                    </a:lnTo>
                    <a:cubicBezTo>
                      <a:pt x="5478" y="295"/>
                      <a:pt x="5006" y="215"/>
                      <a:pt x="4542" y="135"/>
                    </a:cubicBezTo>
                    <a:lnTo>
                      <a:pt x="4542" y="135"/>
                    </a:lnTo>
                    <a:lnTo>
                      <a:pt x="4408" y="117"/>
                    </a:lnTo>
                    <a:cubicBezTo>
                      <a:pt x="4087" y="54"/>
                      <a:pt x="3739" y="1"/>
                      <a:pt x="3400" y="1"/>
                    </a:cubicBezTo>
                    <a:lnTo>
                      <a:pt x="3400" y="1"/>
                    </a:lnTo>
                    <a:cubicBezTo>
                      <a:pt x="3221" y="1"/>
                      <a:pt x="3043" y="19"/>
                      <a:pt x="2865" y="54"/>
                    </a:cubicBezTo>
                    <a:moveTo>
                      <a:pt x="2579" y="884"/>
                    </a:moveTo>
                    <a:cubicBezTo>
                      <a:pt x="2552" y="875"/>
                      <a:pt x="2526" y="848"/>
                      <a:pt x="2499" y="813"/>
                    </a:cubicBezTo>
                    <a:lnTo>
                      <a:pt x="2499" y="813"/>
                    </a:lnTo>
                    <a:cubicBezTo>
                      <a:pt x="2383" y="643"/>
                      <a:pt x="2365" y="429"/>
                      <a:pt x="2454" y="251"/>
                    </a:cubicBezTo>
                    <a:lnTo>
                      <a:pt x="2454" y="251"/>
                    </a:lnTo>
                    <a:cubicBezTo>
                      <a:pt x="2588" y="197"/>
                      <a:pt x="2722" y="144"/>
                      <a:pt x="2873" y="117"/>
                    </a:cubicBezTo>
                    <a:lnTo>
                      <a:pt x="2873" y="117"/>
                    </a:lnTo>
                    <a:cubicBezTo>
                      <a:pt x="3346" y="19"/>
                      <a:pt x="3828" y="81"/>
                      <a:pt x="4292" y="153"/>
                    </a:cubicBezTo>
                    <a:lnTo>
                      <a:pt x="4292" y="153"/>
                    </a:lnTo>
                    <a:cubicBezTo>
                      <a:pt x="4292" y="161"/>
                      <a:pt x="4301" y="170"/>
                      <a:pt x="4310" y="170"/>
                    </a:cubicBezTo>
                    <a:lnTo>
                      <a:pt x="4310" y="170"/>
                    </a:lnTo>
                    <a:cubicBezTo>
                      <a:pt x="4372" y="188"/>
                      <a:pt x="4426" y="251"/>
                      <a:pt x="4435" y="322"/>
                    </a:cubicBezTo>
                    <a:lnTo>
                      <a:pt x="4435" y="322"/>
                    </a:lnTo>
                    <a:cubicBezTo>
                      <a:pt x="4435" y="385"/>
                      <a:pt x="4390" y="456"/>
                      <a:pt x="4319" y="474"/>
                    </a:cubicBezTo>
                    <a:lnTo>
                      <a:pt x="4319" y="474"/>
                    </a:lnTo>
                    <a:cubicBezTo>
                      <a:pt x="4310" y="483"/>
                      <a:pt x="4301" y="500"/>
                      <a:pt x="4301" y="518"/>
                    </a:cubicBezTo>
                    <a:lnTo>
                      <a:pt x="4301" y="518"/>
                    </a:lnTo>
                    <a:cubicBezTo>
                      <a:pt x="4310" y="527"/>
                      <a:pt x="4319" y="536"/>
                      <a:pt x="4328" y="536"/>
                    </a:cubicBezTo>
                    <a:lnTo>
                      <a:pt x="4328" y="536"/>
                    </a:lnTo>
                    <a:cubicBezTo>
                      <a:pt x="4337" y="536"/>
                      <a:pt x="4337" y="536"/>
                      <a:pt x="4345" y="536"/>
                    </a:cubicBezTo>
                    <a:lnTo>
                      <a:pt x="4345" y="536"/>
                    </a:lnTo>
                    <a:cubicBezTo>
                      <a:pt x="4435" y="509"/>
                      <a:pt x="4497" y="411"/>
                      <a:pt x="4497" y="313"/>
                    </a:cubicBezTo>
                    <a:lnTo>
                      <a:pt x="4497" y="313"/>
                    </a:lnTo>
                    <a:cubicBezTo>
                      <a:pt x="4497" y="269"/>
                      <a:pt x="4470" y="224"/>
                      <a:pt x="4444" y="179"/>
                    </a:cubicBezTo>
                    <a:lnTo>
                      <a:pt x="4444" y="179"/>
                    </a:lnTo>
                    <a:lnTo>
                      <a:pt x="4533" y="197"/>
                    </a:lnTo>
                    <a:cubicBezTo>
                      <a:pt x="4899" y="260"/>
                      <a:pt x="5273" y="331"/>
                      <a:pt x="5648" y="331"/>
                    </a:cubicBezTo>
                    <a:lnTo>
                      <a:pt x="5648" y="331"/>
                    </a:lnTo>
                    <a:cubicBezTo>
                      <a:pt x="5648" y="331"/>
                      <a:pt x="5648" y="331"/>
                      <a:pt x="5657" y="331"/>
                    </a:cubicBezTo>
                    <a:lnTo>
                      <a:pt x="5657" y="331"/>
                    </a:lnTo>
                    <a:cubicBezTo>
                      <a:pt x="5666" y="331"/>
                      <a:pt x="5666" y="331"/>
                      <a:pt x="5675" y="331"/>
                    </a:cubicBezTo>
                    <a:lnTo>
                      <a:pt x="5675" y="331"/>
                    </a:lnTo>
                    <a:lnTo>
                      <a:pt x="5684" y="331"/>
                    </a:lnTo>
                    <a:cubicBezTo>
                      <a:pt x="5826" y="340"/>
                      <a:pt x="5960" y="465"/>
                      <a:pt x="6014" y="599"/>
                    </a:cubicBezTo>
                    <a:lnTo>
                      <a:pt x="6014" y="599"/>
                    </a:lnTo>
                    <a:cubicBezTo>
                      <a:pt x="6076" y="732"/>
                      <a:pt x="6032" y="911"/>
                      <a:pt x="5916" y="1009"/>
                    </a:cubicBezTo>
                    <a:lnTo>
                      <a:pt x="5916" y="1009"/>
                    </a:lnTo>
                    <a:cubicBezTo>
                      <a:pt x="5907" y="1018"/>
                      <a:pt x="5907" y="1027"/>
                      <a:pt x="5907" y="1036"/>
                    </a:cubicBezTo>
                    <a:lnTo>
                      <a:pt x="5907" y="1036"/>
                    </a:lnTo>
                    <a:cubicBezTo>
                      <a:pt x="5907" y="1054"/>
                      <a:pt x="5916" y="1062"/>
                      <a:pt x="5924" y="1062"/>
                    </a:cubicBezTo>
                    <a:lnTo>
                      <a:pt x="5924" y="1062"/>
                    </a:lnTo>
                    <a:lnTo>
                      <a:pt x="6005" y="1089"/>
                    </a:lnTo>
                    <a:cubicBezTo>
                      <a:pt x="6014" y="1089"/>
                      <a:pt x="6014" y="1089"/>
                      <a:pt x="6014" y="1089"/>
                    </a:cubicBezTo>
                    <a:lnTo>
                      <a:pt x="6014" y="1089"/>
                    </a:lnTo>
                    <a:cubicBezTo>
                      <a:pt x="6032" y="1089"/>
                      <a:pt x="6040" y="1080"/>
                      <a:pt x="6049" y="1062"/>
                    </a:cubicBezTo>
                    <a:lnTo>
                      <a:pt x="6049" y="1062"/>
                    </a:lnTo>
                    <a:cubicBezTo>
                      <a:pt x="6049" y="1054"/>
                      <a:pt x="6040" y="1036"/>
                      <a:pt x="6023" y="1027"/>
                    </a:cubicBezTo>
                    <a:lnTo>
                      <a:pt x="6023" y="1027"/>
                    </a:lnTo>
                    <a:lnTo>
                      <a:pt x="5996" y="1018"/>
                    </a:lnTo>
                    <a:cubicBezTo>
                      <a:pt x="6103" y="902"/>
                      <a:pt x="6139" y="724"/>
                      <a:pt x="6076" y="572"/>
                    </a:cubicBezTo>
                    <a:lnTo>
                      <a:pt x="6076" y="572"/>
                    </a:lnTo>
                    <a:cubicBezTo>
                      <a:pt x="6032" y="474"/>
                      <a:pt x="5960" y="385"/>
                      <a:pt x="5862" y="331"/>
                    </a:cubicBezTo>
                    <a:lnTo>
                      <a:pt x="5862" y="331"/>
                    </a:lnTo>
                    <a:cubicBezTo>
                      <a:pt x="5889" y="322"/>
                      <a:pt x="5916" y="322"/>
                      <a:pt x="5942" y="322"/>
                    </a:cubicBezTo>
                    <a:lnTo>
                      <a:pt x="5942" y="322"/>
                    </a:lnTo>
                    <a:cubicBezTo>
                      <a:pt x="6023" y="313"/>
                      <a:pt x="6103" y="304"/>
                      <a:pt x="6174" y="295"/>
                    </a:cubicBezTo>
                    <a:lnTo>
                      <a:pt x="6174" y="295"/>
                    </a:lnTo>
                    <a:cubicBezTo>
                      <a:pt x="6406" y="269"/>
                      <a:pt x="6647" y="242"/>
                      <a:pt x="6870" y="304"/>
                    </a:cubicBezTo>
                    <a:lnTo>
                      <a:pt x="6870" y="304"/>
                    </a:lnTo>
                    <a:cubicBezTo>
                      <a:pt x="6906" y="313"/>
                      <a:pt x="6933" y="322"/>
                      <a:pt x="6959" y="331"/>
                    </a:cubicBezTo>
                    <a:lnTo>
                      <a:pt x="6959" y="331"/>
                    </a:lnTo>
                    <a:cubicBezTo>
                      <a:pt x="6950" y="349"/>
                      <a:pt x="6950" y="358"/>
                      <a:pt x="6959" y="367"/>
                    </a:cubicBezTo>
                    <a:lnTo>
                      <a:pt x="6959" y="367"/>
                    </a:lnTo>
                    <a:cubicBezTo>
                      <a:pt x="7022" y="429"/>
                      <a:pt x="7066" y="509"/>
                      <a:pt x="7075" y="599"/>
                    </a:cubicBezTo>
                    <a:lnTo>
                      <a:pt x="7075" y="599"/>
                    </a:lnTo>
                    <a:cubicBezTo>
                      <a:pt x="7075" y="616"/>
                      <a:pt x="7093" y="625"/>
                      <a:pt x="7111" y="625"/>
                    </a:cubicBezTo>
                    <a:lnTo>
                      <a:pt x="7111" y="625"/>
                    </a:lnTo>
                    <a:cubicBezTo>
                      <a:pt x="7111" y="625"/>
                      <a:pt x="7111" y="625"/>
                      <a:pt x="7111" y="625"/>
                    </a:cubicBezTo>
                    <a:lnTo>
                      <a:pt x="7111" y="625"/>
                    </a:lnTo>
                    <a:cubicBezTo>
                      <a:pt x="7129" y="625"/>
                      <a:pt x="7138" y="608"/>
                      <a:pt x="7138" y="590"/>
                    </a:cubicBezTo>
                    <a:lnTo>
                      <a:pt x="7138" y="590"/>
                    </a:lnTo>
                    <a:cubicBezTo>
                      <a:pt x="7129" y="518"/>
                      <a:pt x="7102" y="447"/>
                      <a:pt x="7057" y="385"/>
                    </a:cubicBezTo>
                    <a:lnTo>
                      <a:pt x="7057" y="385"/>
                    </a:lnTo>
                    <a:cubicBezTo>
                      <a:pt x="7263" y="500"/>
                      <a:pt x="7441" y="706"/>
                      <a:pt x="7584" y="1009"/>
                    </a:cubicBezTo>
                    <a:lnTo>
                      <a:pt x="7584" y="1009"/>
                    </a:lnTo>
                    <a:cubicBezTo>
                      <a:pt x="7602" y="1045"/>
                      <a:pt x="7619" y="1071"/>
                      <a:pt x="7637" y="1098"/>
                    </a:cubicBezTo>
                    <a:lnTo>
                      <a:pt x="7637" y="1098"/>
                    </a:lnTo>
                    <a:cubicBezTo>
                      <a:pt x="7664" y="1161"/>
                      <a:pt x="7691" y="1205"/>
                      <a:pt x="7718" y="1277"/>
                    </a:cubicBezTo>
                    <a:lnTo>
                      <a:pt x="7718" y="1277"/>
                    </a:lnTo>
                    <a:cubicBezTo>
                      <a:pt x="7664" y="1294"/>
                      <a:pt x="7611" y="1303"/>
                      <a:pt x="7557" y="1321"/>
                    </a:cubicBezTo>
                    <a:lnTo>
                      <a:pt x="7557" y="1321"/>
                    </a:lnTo>
                    <a:cubicBezTo>
                      <a:pt x="7414" y="1366"/>
                      <a:pt x="7280" y="1294"/>
                      <a:pt x="7138" y="1223"/>
                    </a:cubicBezTo>
                    <a:lnTo>
                      <a:pt x="7138" y="1223"/>
                    </a:lnTo>
                    <a:cubicBezTo>
                      <a:pt x="7013" y="1161"/>
                      <a:pt x="6888" y="1098"/>
                      <a:pt x="6736" y="1107"/>
                    </a:cubicBezTo>
                    <a:lnTo>
                      <a:pt x="6736" y="1107"/>
                    </a:lnTo>
                    <a:lnTo>
                      <a:pt x="6736" y="1107"/>
                    </a:lnTo>
                    <a:lnTo>
                      <a:pt x="6736" y="1107"/>
                    </a:lnTo>
                    <a:cubicBezTo>
                      <a:pt x="6727" y="1107"/>
                      <a:pt x="6718" y="1107"/>
                      <a:pt x="6710" y="1107"/>
                    </a:cubicBezTo>
                    <a:lnTo>
                      <a:pt x="6710" y="1107"/>
                    </a:lnTo>
                    <a:cubicBezTo>
                      <a:pt x="6558" y="1116"/>
                      <a:pt x="6397" y="1178"/>
                      <a:pt x="6246" y="1232"/>
                    </a:cubicBezTo>
                    <a:lnTo>
                      <a:pt x="6246" y="1232"/>
                    </a:lnTo>
                    <a:cubicBezTo>
                      <a:pt x="6040" y="1312"/>
                      <a:pt x="5826" y="1393"/>
                      <a:pt x="5630" y="1348"/>
                    </a:cubicBezTo>
                    <a:lnTo>
                      <a:pt x="5630" y="1348"/>
                    </a:lnTo>
                    <a:cubicBezTo>
                      <a:pt x="5166" y="1250"/>
                      <a:pt x="4818" y="1286"/>
                      <a:pt x="4560" y="1464"/>
                    </a:cubicBezTo>
                    <a:lnTo>
                      <a:pt x="4560" y="1464"/>
                    </a:lnTo>
                    <a:cubicBezTo>
                      <a:pt x="4461" y="1526"/>
                      <a:pt x="4337" y="1589"/>
                      <a:pt x="4212" y="1642"/>
                    </a:cubicBezTo>
                    <a:lnTo>
                      <a:pt x="4212" y="1642"/>
                    </a:lnTo>
                    <a:cubicBezTo>
                      <a:pt x="4238" y="1455"/>
                      <a:pt x="4221" y="1205"/>
                      <a:pt x="4140" y="1071"/>
                    </a:cubicBezTo>
                    <a:lnTo>
                      <a:pt x="4140" y="1071"/>
                    </a:lnTo>
                    <a:cubicBezTo>
                      <a:pt x="4042" y="920"/>
                      <a:pt x="3873" y="813"/>
                      <a:pt x="3703" y="777"/>
                    </a:cubicBezTo>
                    <a:lnTo>
                      <a:pt x="3703" y="777"/>
                    </a:lnTo>
                    <a:cubicBezTo>
                      <a:pt x="3667" y="777"/>
                      <a:pt x="3623" y="768"/>
                      <a:pt x="3596" y="768"/>
                    </a:cubicBezTo>
                    <a:lnTo>
                      <a:pt x="3596" y="768"/>
                    </a:lnTo>
                    <a:cubicBezTo>
                      <a:pt x="3543" y="768"/>
                      <a:pt x="3489" y="759"/>
                      <a:pt x="3444" y="750"/>
                    </a:cubicBezTo>
                    <a:lnTo>
                      <a:pt x="3444" y="750"/>
                    </a:lnTo>
                    <a:cubicBezTo>
                      <a:pt x="3364" y="724"/>
                      <a:pt x="3293" y="670"/>
                      <a:pt x="3284" y="599"/>
                    </a:cubicBezTo>
                    <a:lnTo>
                      <a:pt x="3284" y="599"/>
                    </a:lnTo>
                    <a:cubicBezTo>
                      <a:pt x="3284" y="581"/>
                      <a:pt x="3266" y="572"/>
                      <a:pt x="3257" y="572"/>
                    </a:cubicBezTo>
                    <a:lnTo>
                      <a:pt x="3257" y="572"/>
                    </a:lnTo>
                    <a:cubicBezTo>
                      <a:pt x="3239" y="572"/>
                      <a:pt x="3221" y="590"/>
                      <a:pt x="3221" y="608"/>
                    </a:cubicBezTo>
                    <a:lnTo>
                      <a:pt x="3221" y="608"/>
                    </a:lnTo>
                    <a:cubicBezTo>
                      <a:pt x="3230" y="706"/>
                      <a:pt x="3328" y="786"/>
                      <a:pt x="3427" y="804"/>
                    </a:cubicBezTo>
                    <a:lnTo>
                      <a:pt x="3427" y="804"/>
                    </a:lnTo>
                    <a:cubicBezTo>
                      <a:pt x="3480" y="822"/>
                      <a:pt x="3534" y="831"/>
                      <a:pt x="3587" y="831"/>
                    </a:cubicBezTo>
                    <a:lnTo>
                      <a:pt x="3587" y="831"/>
                    </a:lnTo>
                    <a:cubicBezTo>
                      <a:pt x="3623" y="831"/>
                      <a:pt x="3659" y="839"/>
                      <a:pt x="3685" y="839"/>
                    </a:cubicBezTo>
                    <a:lnTo>
                      <a:pt x="3685" y="839"/>
                    </a:lnTo>
                    <a:cubicBezTo>
                      <a:pt x="3846" y="866"/>
                      <a:pt x="3998" y="964"/>
                      <a:pt x="4087" y="1098"/>
                    </a:cubicBezTo>
                    <a:lnTo>
                      <a:pt x="4087" y="1098"/>
                    </a:lnTo>
                    <a:cubicBezTo>
                      <a:pt x="4167" y="1232"/>
                      <a:pt x="4176" y="1500"/>
                      <a:pt x="4140" y="1669"/>
                    </a:cubicBezTo>
                    <a:lnTo>
                      <a:pt x="4140" y="1669"/>
                    </a:lnTo>
                    <a:cubicBezTo>
                      <a:pt x="4131" y="1669"/>
                      <a:pt x="4122" y="1678"/>
                      <a:pt x="4114" y="1678"/>
                    </a:cubicBezTo>
                    <a:lnTo>
                      <a:pt x="4114" y="1678"/>
                    </a:lnTo>
                    <a:cubicBezTo>
                      <a:pt x="3971" y="1732"/>
                      <a:pt x="3828" y="1794"/>
                      <a:pt x="3712" y="1865"/>
                    </a:cubicBezTo>
                    <a:lnTo>
                      <a:pt x="3712" y="1865"/>
                    </a:lnTo>
                    <a:cubicBezTo>
                      <a:pt x="3676" y="1865"/>
                      <a:pt x="3650" y="1874"/>
                      <a:pt x="3632" y="1883"/>
                    </a:cubicBezTo>
                    <a:lnTo>
                      <a:pt x="3632" y="1883"/>
                    </a:lnTo>
                    <a:cubicBezTo>
                      <a:pt x="3623" y="1883"/>
                      <a:pt x="3623" y="1883"/>
                      <a:pt x="3623" y="1883"/>
                    </a:cubicBezTo>
                    <a:lnTo>
                      <a:pt x="3623" y="1883"/>
                    </a:lnTo>
                    <a:cubicBezTo>
                      <a:pt x="3632" y="1874"/>
                      <a:pt x="3623" y="1856"/>
                      <a:pt x="3614" y="1848"/>
                    </a:cubicBezTo>
                    <a:lnTo>
                      <a:pt x="3614" y="1848"/>
                    </a:lnTo>
                    <a:cubicBezTo>
                      <a:pt x="3507" y="1767"/>
                      <a:pt x="3364" y="1740"/>
                      <a:pt x="3230" y="1776"/>
                    </a:cubicBezTo>
                    <a:lnTo>
                      <a:pt x="3230" y="1776"/>
                    </a:lnTo>
                    <a:cubicBezTo>
                      <a:pt x="3105" y="1803"/>
                      <a:pt x="2989" y="1892"/>
                      <a:pt x="2927" y="2008"/>
                    </a:cubicBezTo>
                    <a:lnTo>
                      <a:pt x="2927" y="2008"/>
                    </a:lnTo>
                    <a:cubicBezTo>
                      <a:pt x="2927" y="2026"/>
                      <a:pt x="2927" y="2044"/>
                      <a:pt x="2945" y="2053"/>
                    </a:cubicBezTo>
                    <a:lnTo>
                      <a:pt x="2945" y="2053"/>
                    </a:lnTo>
                    <a:cubicBezTo>
                      <a:pt x="2945" y="2053"/>
                      <a:pt x="2954" y="2062"/>
                      <a:pt x="2963" y="2062"/>
                    </a:cubicBezTo>
                    <a:lnTo>
                      <a:pt x="2963" y="2062"/>
                    </a:lnTo>
                    <a:cubicBezTo>
                      <a:pt x="2972" y="2062"/>
                      <a:pt x="2981" y="2053"/>
                      <a:pt x="2981" y="2044"/>
                    </a:cubicBezTo>
                    <a:lnTo>
                      <a:pt x="2981" y="2044"/>
                    </a:lnTo>
                    <a:lnTo>
                      <a:pt x="3025" y="1999"/>
                    </a:lnTo>
                    <a:cubicBezTo>
                      <a:pt x="3025" y="1999"/>
                      <a:pt x="3025" y="1981"/>
                      <a:pt x="3025" y="1972"/>
                    </a:cubicBezTo>
                    <a:lnTo>
                      <a:pt x="3025" y="1972"/>
                    </a:lnTo>
                    <a:cubicBezTo>
                      <a:pt x="3079" y="1910"/>
                      <a:pt x="3159" y="1856"/>
                      <a:pt x="3248" y="1830"/>
                    </a:cubicBezTo>
                    <a:lnTo>
                      <a:pt x="3248" y="1830"/>
                    </a:lnTo>
                    <a:cubicBezTo>
                      <a:pt x="3355" y="1803"/>
                      <a:pt x="3480" y="1830"/>
                      <a:pt x="3578" y="1892"/>
                    </a:cubicBezTo>
                    <a:lnTo>
                      <a:pt x="3578" y="1892"/>
                    </a:lnTo>
                    <a:cubicBezTo>
                      <a:pt x="3587" y="1901"/>
                      <a:pt x="3596" y="1901"/>
                      <a:pt x="3614" y="1901"/>
                    </a:cubicBezTo>
                    <a:lnTo>
                      <a:pt x="3614" y="1901"/>
                    </a:lnTo>
                    <a:cubicBezTo>
                      <a:pt x="3605" y="1901"/>
                      <a:pt x="3605" y="1910"/>
                      <a:pt x="3605" y="1919"/>
                    </a:cubicBezTo>
                    <a:lnTo>
                      <a:pt x="3605" y="1919"/>
                    </a:lnTo>
                    <a:cubicBezTo>
                      <a:pt x="3614" y="1919"/>
                      <a:pt x="3614" y="1919"/>
                      <a:pt x="3614" y="1919"/>
                    </a:cubicBezTo>
                    <a:lnTo>
                      <a:pt x="3614" y="1919"/>
                    </a:lnTo>
                    <a:cubicBezTo>
                      <a:pt x="3569" y="1955"/>
                      <a:pt x="3534" y="1981"/>
                      <a:pt x="3498" y="2008"/>
                    </a:cubicBezTo>
                    <a:lnTo>
                      <a:pt x="3498" y="2008"/>
                    </a:lnTo>
                    <a:cubicBezTo>
                      <a:pt x="3382" y="2133"/>
                      <a:pt x="3311" y="2267"/>
                      <a:pt x="3239" y="2392"/>
                    </a:cubicBezTo>
                    <a:lnTo>
                      <a:pt x="3239" y="2392"/>
                    </a:lnTo>
                    <a:cubicBezTo>
                      <a:pt x="3132" y="2561"/>
                      <a:pt x="3043" y="2731"/>
                      <a:pt x="2829" y="2829"/>
                    </a:cubicBezTo>
                    <a:lnTo>
                      <a:pt x="2829" y="2829"/>
                    </a:lnTo>
                    <a:cubicBezTo>
                      <a:pt x="2731" y="2882"/>
                      <a:pt x="2624" y="2945"/>
                      <a:pt x="2526" y="3007"/>
                    </a:cubicBezTo>
                    <a:lnTo>
                      <a:pt x="2526" y="3007"/>
                    </a:lnTo>
                    <a:cubicBezTo>
                      <a:pt x="2552" y="2900"/>
                      <a:pt x="2534" y="2775"/>
                      <a:pt x="2481" y="2677"/>
                    </a:cubicBezTo>
                    <a:lnTo>
                      <a:pt x="2481" y="2677"/>
                    </a:lnTo>
                    <a:cubicBezTo>
                      <a:pt x="2419" y="2552"/>
                      <a:pt x="2294" y="2463"/>
                      <a:pt x="2124" y="2401"/>
                    </a:cubicBezTo>
                    <a:lnTo>
                      <a:pt x="2124" y="2401"/>
                    </a:lnTo>
                    <a:cubicBezTo>
                      <a:pt x="2008" y="2374"/>
                      <a:pt x="1892" y="2356"/>
                      <a:pt x="1785" y="2338"/>
                    </a:cubicBezTo>
                    <a:lnTo>
                      <a:pt x="1785" y="2338"/>
                    </a:lnTo>
                    <a:cubicBezTo>
                      <a:pt x="1749" y="2338"/>
                      <a:pt x="1714" y="2329"/>
                      <a:pt x="1678" y="2329"/>
                    </a:cubicBezTo>
                    <a:lnTo>
                      <a:pt x="1678" y="2329"/>
                    </a:lnTo>
                    <a:cubicBezTo>
                      <a:pt x="1633" y="2320"/>
                      <a:pt x="1580" y="2311"/>
                      <a:pt x="1544" y="2285"/>
                    </a:cubicBezTo>
                    <a:lnTo>
                      <a:pt x="1544" y="2285"/>
                    </a:lnTo>
                    <a:cubicBezTo>
                      <a:pt x="1509" y="2267"/>
                      <a:pt x="1482" y="2231"/>
                      <a:pt x="1482" y="2187"/>
                    </a:cubicBezTo>
                    <a:lnTo>
                      <a:pt x="1482" y="2187"/>
                    </a:lnTo>
                    <a:cubicBezTo>
                      <a:pt x="1491" y="2169"/>
                      <a:pt x="1500" y="2151"/>
                      <a:pt x="1517" y="2142"/>
                    </a:cubicBezTo>
                    <a:lnTo>
                      <a:pt x="1517" y="2142"/>
                    </a:lnTo>
                    <a:cubicBezTo>
                      <a:pt x="1526" y="2133"/>
                      <a:pt x="1535" y="2133"/>
                      <a:pt x="1553" y="2133"/>
                    </a:cubicBezTo>
                    <a:lnTo>
                      <a:pt x="1553" y="2133"/>
                    </a:lnTo>
                    <a:cubicBezTo>
                      <a:pt x="1571" y="2142"/>
                      <a:pt x="1589" y="2133"/>
                      <a:pt x="1589" y="2115"/>
                    </a:cubicBezTo>
                    <a:lnTo>
                      <a:pt x="1589" y="2115"/>
                    </a:lnTo>
                    <a:cubicBezTo>
                      <a:pt x="1598" y="2097"/>
                      <a:pt x="1589" y="2079"/>
                      <a:pt x="1571" y="2079"/>
                    </a:cubicBezTo>
                    <a:lnTo>
                      <a:pt x="1571" y="2079"/>
                    </a:lnTo>
                    <a:cubicBezTo>
                      <a:pt x="1544" y="2062"/>
                      <a:pt x="1509" y="2071"/>
                      <a:pt x="1482" y="2088"/>
                    </a:cubicBezTo>
                    <a:lnTo>
                      <a:pt x="1482" y="2088"/>
                    </a:lnTo>
                    <a:cubicBezTo>
                      <a:pt x="1446" y="2106"/>
                      <a:pt x="1428" y="2142"/>
                      <a:pt x="1419" y="2187"/>
                    </a:cubicBezTo>
                    <a:lnTo>
                      <a:pt x="1419" y="2187"/>
                    </a:lnTo>
                    <a:cubicBezTo>
                      <a:pt x="1419" y="2240"/>
                      <a:pt x="1455" y="2303"/>
                      <a:pt x="1509" y="2338"/>
                    </a:cubicBezTo>
                    <a:lnTo>
                      <a:pt x="1509" y="2338"/>
                    </a:lnTo>
                    <a:cubicBezTo>
                      <a:pt x="1562" y="2374"/>
                      <a:pt x="1616" y="2383"/>
                      <a:pt x="1669" y="2392"/>
                    </a:cubicBezTo>
                    <a:lnTo>
                      <a:pt x="1669" y="2392"/>
                    </a:lnTo>
                    <a:cubicBezTo>
                      <a:pt x="1705" y="2392"/>
                      <a:pt x="1741" y="2401"/>
                      <a:pt x="1776" y="2401"/>
                    </a:cubicBezTo>
                    <a:lnTo>
                      <a:pt x="1776" y="2401"/>
                    </a:lnTo>
                    <a:cubicBezTo>
                      <a:pt x="1883" y="2418"/>
                      <a:pt x="1999" y="2427"/>
                      <a:pt x="2097" y="2463"/>
                    </a:cubicBezTo>
                    <a:lnTo>
                      <a:pt x="2097" y="2463"/>
                    </a:lnTo>
                    <a:cubicBezTo>
                      <a:pt x="2258" y="2517"/>
                      <a:pt x="2374" y="2597"/>
                      <a:pt x="2427" y="2713"/>
                    </a:cubicBezTo>
                    <a:lnTo>
                      <a:pt x="2427" y="2713"/>
                    </a:lnTo>
                    <a:cubicBezTo>
                      <a:pt x="2490" y="2838"/>
                      <a:pt x="2499" y="3016"/>
                      <a:pt x="2410" y="3088"/>
                    </a:cubicBezTo>
                    <a:lnTo>
                      <a:pt x="2410" y="3088"/>
                    </a:lnTo>
                    <a:cubicBezTo>
                      <a:pt x="2410" y="3088"/>
                      <a:pt x="2410" y="3088"/>
                      <a:pt x="2410" y="3088"/>
                    </a:cubicBezTo>
                    <a:lnTo>
                      <a:pt x="2410" y="3088"/>
                    </a:lnTo>
                    <a:cubicBezTo>
                      <a:pt x="2178" y="3248"/>
                      <a:pt x="1990" y="3435"/>
                      <a:pt x="1830" y="3641"/>
                    </a:cubicBezTo>
                    <a:lnTo>
                      <a:pt x="1830" y="3641"/>
                    </a:lnTo>
                    <a:cubicBezTo>
                      <a:pt x="1856" y="3435"/>
                      <a:pt x="1776" y="3221"/>
                      <a:pt x="1598" y="3088"/>
                    </a:cubicBezTo>
                    <a:lnTo>
                      <a:pt x="1598" y="3088"/>
                    </a:lnTo>
                    <a:cubicBezTo>
                      <a:pt x="1589" y="3079"/>
                      <a:pt x="1571" y="3079"/>
                      <a:pt x="1562" y="3096"/>
                    </a:cubicBezTo>
                    <a:lnTo>
                      <a:pt x="1562" y="3096"/>
                    </a:lnTo>
                    <a:cubicBezTo>
                      <a:pt x="1544" y="3105"/>
                      <a:pt x="1553" y="3123"/>
                      <a:pt x="1562" y="3132"/>
                    </a:cubicBezTo>
                    <a:lnTo>
                      <a:pt x="1562" y="3132"/>
                    </a:lnTo>
                    <a:cubicBezTo>
                      <a:pt x="1767" y="3293"/>
                      <a:pt x="1830" y="3578"/>
                      <a:pt x="1714" y="3801"/>
                    </a:cubicBezTo>
                    <a:lnTo>
                      <a:pt x="1714" y="3801"/>
                    </a:lnTo>
                    <a:cubicBezTo>
                      <a:pt x="1714" y="3801"/>
                      <a:pt x="1714" y="3801"/>
                      <a:pt x="1714" y="3801"/>
                    </a:cubicBezTo>
                    <a:lnTo>
                      <a:pt x="1714" y="3801"/>
                    </a:lnTo>
                    <a:cubicBezTo>
                      <a:pt x="1669" y="3864"/>
                      <a:pt x="1633" y="3935"/>
                      <a:pt x="1598" y="3998"/>
                    </a:cubicBezTo>
                    <a:lnTo>
                      <a:pt x="1598" y="3998"/>
                    </a:lnTo>
                    <a:cubicBezTo>
                      <a:pt x="1598" y="3998"/>
                      <a:pt x="1598" y="3998"/>
                      <a:pt x="1598" y="4006"/>
                    </a:cubicBezTo>
                    <a:lnTo>
                      <a:pt x="1598" y="4006"/>
                    </a:lnTo>
                    <a:cubicBezTo>
                      <a:pt x="1509" y="4167"/>
                      <a:pt x="1446" y="4345"/>
                      <a:pt x="1410" y="4524"/>
                    </a:cubicBezTo>
                    <a:lnTo>
                      <a:pt x="1410" y="4524"/>
                    </a:lnTo>
                    <a:cubicBezTo>
                      <a:pt x="1330" y="4899"/>
                      <a:pt x="1375" y="5273"/>
                      <a:pt x="1509" y="5603"/>
                    </a:cubicBezTo>
                    <a:lnTo>
                      <a:pt x="1509" y="5603"/>
                    </a:lnTo>
                    <a:cubicBezTo>
                      <a:pt x="1500" y="5594"/>
                      <a:pt x="1491" y="5594"/>
                      <a:pt x="1482" y="5594"/>
                    </a:cubicBezTo>
                    <a:lnTo>
                      <a:pt x="1482" y="5594"/>
                    </a:lnTo>
                    <a:cubicBezTo>
                      <a:pt x="1178" y="5514"/>
                      <a:pt x="902" y="5380"/>
                      <a:pt x="688" y="5193"/>
                    </a:cubicBezTo>
                    <a:lnTo>
                      <a:pt x="688" y="5193"/>
                    </a:lnTo>
                    <a:cubicBezTo>
                      <a:pt x="688" y="5193"/>
                      <a:pt x="688" y="5193"/>
                      <a:pt x="688" y="5193"/>
                    </a:cubicBezTo>
                    <a:lnTo>
                      <a:pt x="688" y="5193"/>
                    </a:lnTo>
                    <a:cubicBezTo>
                      <a:pt x="697" y="5175"/>
                      <a:pt x="679" y="5157"/>
                      <a:pt x="670" y="5157"/>
                    </a:cubicBezTo>
                    <a:lnTo>
                      <a:pt x="670" y="5157"/>
                    </a:lnTo>
                    <a:cubicBezTo>
                      <a:pt x="625" y="5139"/>
                      <a:pt x="608" y="5095"/>
                      <a:pt x="616" y="5050"/>
                    </a:cubicBezTo>
                    <a:lnTo>
                      <a:pt x="616" y="5050"/>
                    </a:lnTo>
                    <a:cubicBezTo>
                      <a:pt x="625" y="5006"/>
                      <a:pt x="661" y="4952"/>
                      <a:pt x="688" y="4916"/>
                    </a:cubicBezTo>
                    <a:lnTo>
                      <a:pt x="688" y="4916"/>
                    </a:lnTo>
                    <a:lnTo>
                      <a:pt x="947" y="4568"/>
                    </a:lnTo>
                    <a:cubicBezTo>
                      <a:pt x="955" y="4551"/>
                      <a:pt x="955" y="4533"/>
                      <a:pt x="938" y="4524"/>
                    </a:cubicBezTo>
                    <a:lnTo>
                      <a:pt x="938" y="4524"/>
                    </a:lnTo>
                    <a:cubicBezTo>
                      <a:pt x="929" y="4506"/>
                      <a:pt x="911" y="4515"/>
                      <a:pt x="893" y="4524"/>
                    </a:cubicBezTo>
                    <a:lnTo>
                      <a:pt x="893" y="4524"/>
                    </a:lnTo>
                    <a:lnTo>
                      <a:pt x="634" y="4881"/>
                    </a:lnTo>
                    <a:cubicBezTo>
                      <a:pt x="608" y="4925"/>
                      <a:pt x="563" y="4979"/>
                      <a:pt x="554" y="5041"/>
                    </a:cubicBezTo>
                    <a:lnTo>
                      <a:pt x="554" y="5041"/>
                    </a:lnTo>
                    <a:cubicBezTo>
                      <a:pt x="554" y="5050"/>
                      <a:pt x="554" y="5059"/>
                      <a:pt x="554" y="5068"/>
                    </a:cubicBezTo>
                    <a:lnTo>
                      <a:pt x="554" y="5068"/>
                    </a:lnTo>
                    <a:cubicBezTo>
                      <a:pt x="545" y="5059"/>
                      <a:pt x="545" y="5050"/>
                      <a:pt x="536" y="5050"/>
                    </a:cubicBezTo>
                    <a:lnTo>
                      <a:pt x="536" y="5050"/>
                    </a:lnTo>
                    <a:cubicBezTo>
                      <a:pt x="161" y="4622"/>
                      <a:pt x="72" y="3998"/>
                      <a:pt x="331" y="3560"/>
                    </a:cubicBezTo>
                    <a:lnTo>
                      <a:pt x="331" y="3560"/>
                    </a:lnTo>
                    <a:cubicBezTo>
                      <a:pt x="331" y="3551"/>
                      <a:pt x="340" y="3543"/>
                      <a:pt x="340" y="3534"/>
                    </a:cubicBezTo>
                    <a:lnTo>
                      <a:pt x="340" y="3534"/>
                    </a:lnTo>
                    <a:cubicBezTo>
                      <a:pt x="349" y="3623"/>
                      <a:pt x="385" y="3712"/>
                      <a:pt x="465" y="3792"/>
                    </a:cubicBezTo>
                    <a:lnTo>
                      <a:pt x="465" y="3792"/>
                    </a:lnTo>
                    <a:cubicBezTo>
                      <a:pt x="563" y="3882"/>
                      <a:pt x="697" y="3935"/>
                      <a:pt x="839" y="3935"/>
                    </a:cubicBezTo>
                    <a:lnTo>
                      <a:pt x="839" y="3935"/>
                    </a:lnTo>
                    <a:cubicBezTo>
                      <a:pt x="857" y="3935"/>
                      <a:pt x="884" y="3935"/>
                      <a:pt x="911" y="3926"/>
                    </a:cubicBezTo>
                    <a:lnTo>
                      <a:pt x="911" y="3926"/>
                    </a:lnTo>
                    <a:cubicBezTo>
                      <a:pt x="929" y="3926"/>
                      <a:pt x="947" y="3908"/>
                      <a:pt x="938" y="3890"/>
                    </a:cubicBezTo>
                    <a:lnTo>
                      <a:pt x="938" y="3890"/>
                    </a:lnTo>
                    <a:cubicBezTo>
                      <a:pt x="938" y="3873"/>
                      <a:pt x="920" y="3864"/>
                      <a:pt x="902" y="3864"/>
                    </a:cubicBezTo>
                    <a:lnTo>
                      <a:pt x="902" y="3864"/>
                    </a:lnTo>
                    <a:cubicBezTo>
                      <a:pt x="759" y="3890"/>
                      <a:pt x="608" y="3846"/>
                      <a:pt x="509" y="3748"/>
                    </a:cubicBezTo>
                    <a:lnTo>
                      <a:pt x="509" y="3748"/>
                    </a:lnTo>
                    <a:cubicBezTo>
                      <a:pt x="402" y="3650"/>
                      <a:pt x="393" y="3534"/>
                      <a:pt x="402" y="3391"/>
                    </a:cubicBezTo>
                    <a:lnTo>
                      <a:pt x="402" y="3391"/>
                    </a:lnTo>
                    <a:cubicBezTo>
                      <a:pt x="474" y="3195"/>
                      <a:pt x="474" y="2998"/>
                      <a:pt x="474" y="2802"/>
                    </a:cubicBezTo>
                    <a:lnTo>
                      <a:pt x="474" y="2802"/>
                    </a:lnTo>
                    <a:cubicBezTo>
                      <a:pt x="474" y="2650"/>
                      <a:pt x="465" y="2499"/>
                      <a:pt x="500" y="2356"/>
                    </a:cubicBezTo>
                    <a:lnTo>
                      <a:pt x="500" y="2356"/>
                    </a:lnTo>
                    <a:cubicBezTo>
                      <a:pt x="500" y="2418"/>
                      <a:pt x="518" y="2481"/>
                      <a:pt x="545" y="2534"/>
                    </a:cubicBezTo>
                    <a:lnTo>
                      <a:pt x="545" y="2534"/>
                    </a:lnTo>
                    <a:cubicBezTo>
                      <a:pt x="634" y="2722"/>
                      <a:pt x="822" y="2847"/>
                      <a:pt x="1027" y="2865"/>
                    </a:cubicBezTo>
                    <a:lnTo>
                      <a:pt x="1027" y="2865"/>
                    </a:lnTo>
                    <a:lnTo>
                      <a:pt x="1027" y="2865"/>
                    </a:lnTo>
                    <a:lnTo>
                      <a:pt x="1027" y="2865"/>
                    </a:lnTo>
                    <a:cubicBezTo>
                      <a:pt x="1045" y="2865"/>
                      <a:pt x="1054" y="2847"/>
                      <a:pt x="1063" y="2838"/>
                    </a:cubicBezTo>
                    <a:lnTo>
                      <a:pt x="1063" y="2838"/>
                    </a:lnTo>
                    <a:cubicBezTo>
                      <a:pt x="1063" y="2820"/>
                      <a:pt x="1045" y="2802"/>
                      <a:pt x="1027" y="2802"/>
                    </a:cubicBezTo>
                    <a:lnTo>
                      <a:pt x="1027" y="2802"/>
                    </a:lnTo>
                    <a:cubicBezTo>
                      <a:pt x="848" y="2784"/>
                      <a:pt x="679" y="2668"/>
                      <a:pt x="608" y="2508"/>
                    </a:cubicBezTo>
                    <a:lnTo>
                      <a:pt x="608" y="2508"/>
                    </a:lnTo>
                    <a:cubicBezTo>
                      <a:pt x="527" y="2347"/>
                      <a:pt x="545" y="2142"/>
                      <a:pt x="652" y="1999"/>
                    </a:cubicBezTo>
                    <a:lnTo>
                      <a:pt x="652" y="1999"/>
                    </a:lnTo>
                    <a:cubicBezTo>
                      <a:pt x="652" y="1999"/>
                      <a:pt x="652" y="1999"/>
                      <a:pt x="652" y="1999"/>
                    </a:cubicBezTo>
                    <a:lnTo>
                      <a:pt x="652" y="1999"/>
                    </a:lnTo>
                    <a:cubicBezTo>
                      <a:pt x="768" y="1848"/>
                      <a:pt x="947" y="1714"/>
                      <a:pt x="1125" y="1580"/>
                    </a:cubicBezTo>
                    <a:lnTo>
                      <a:pt x="1125" y="1580"/>
                    </a:lnTo>
                    <a:cubicBezTo>
                      <a:pt x="1303" y="1446"/>
                      <a:pt x="1500" y="1312"/>
                      <a:pt x="1616" y="1152"/>
                    </a:cubicBezTo>
                    <a:lnTo>
                      <a:pt x="1616" y="1152"/>
                    </a:lnTo>
                    <a:cubicBezTo>
                      <a:pt x="1767" y="1152"/>
                      <a:pt x="1919" y="1232"/>
                      <a:pt x="2008" y="1357"/>
                    </a:cubicBezTo>
                    <a:lnTo>
                      <a:pt x="2008" y="1357"/>
                    </a:lnTo>
                    <a:cubicBezTo>
                      <a:pt x="2097" y="1491"/>
                      <a:pt x="2115" y="1678"/>
                      <a:pt x="2044" y="1821"/>
                    </a:cubicBezTo>
                    <a:lnTo>
                      <a:pt x="2044" y="1821"/>
                    </a:lnTo>
                    <a:cubicBezTo>
                      <a:pt x="2035" y="1839"/>
                      <a:pt x="2044" y="1856"/>
                      <a:pt x="2062" y="1865"/>
                    </a:cubicBezTo>
                    <a:lnTo>
                      <a:pt x="2062" y="1865"/>
                    </a:lnTo>
                    <a:cubicBezTo>
                      <a:pt x="2062" y="1865"/>
                      <a:pt x="2071" y="1865"/>
                      <a:pt x="2071" y="1865"/>
                    </a:cubicBezTo>
                    <a:lnTo>
                      <a:pt x="2071" y="1865"/>
                    </a:lnTo>
                    <a:cubicBezTo>
                      <a:pt x="2088" y="1865"/>
                      <a:pt x="2097" y="1856"/>
                      <a:pt x="2097" y="1848"/>
                    </a:cubicBezTo>
                    <a:lnTo>
                      <a:pt x="2097" y="1848"/>
                    </a:lnTo>
                    <a:cubicBezTo>
                      <a:pt x="2178" y="1687"/>
                      <a:pt x="2160" y="1473"/>
                      <a:pt x="2062" y="1321"/>
                    </a:cubicBezTo>
                    <a:lnTo>
                      <a:pt x="2062" y="1321"/>
                    </a:lnTo>
                    <a:cubicBezTo>
                      <a:pt x="1972" y="1187"/>
                      <a:pt x="1821" y="1098"/>
                      <a:pt x="1660" y="1089"/>
                    </a:cubicBezTo>
                    <a:lnTo>
                      <a:pt x="1660" y="1089"/>
                    </a:lnTo>
                    <a:cubicBezTo>
                      <a:pt x="1678" y="1054"/>
                      <a:pt x="1696" y="1018"/>
                      <a:pt x="1714" y="982"/>
                    </a:cubicBezTo>
                    <a:lnTo>
                      <a:pt x="1714" y="982"/>
                    </a:lnTo>
                    <a:cubicBezTo>
                      <a:pt x="1821" y="706"/>
                      <a:pt x="2062" y="456"/>
                      <a:pt x="2365" y="295"/>
                    </a:cubicBezTo>
                    <a:lnTo>
                      <a:pt x="2365" y="295"/>
                    </a:lnTo>
                    <a:cubicBezTo>
                      <a:pt x="2303" y="474"/>
                      <a:pt x="2338" y="679"/>
                      <a:pt x="2445" y="848"/>
                    </a:cubicBezTo>
                    <a:lnTo>
                      <a:pt x="2445" y="848"/>
                    </a:lnTo>
                    <a:cubicBezTo>
                      <a:pt x="2472" y="884"/>
                      <a:pt x="2508" y="920"/>
                      <a:pt x="2552" y="947"/>
                    </a:cubicBezTo>
                    <a:lnTo>
                      <a:pt x="2552" y="947"/>
                    </a:lnTo>
                    <a:cubicBezTo>
                      <a:pt x="2570" y="947"/>
                      <a:pt x="2579" y="947"/>
                      <a:pt x="2597" y="947"/>
                    </a:cubicBezTo>
                    <a:lnTo>
                      <a:pt x="2597" y="947"/>
                    </a:lnTo>
                    <a:cubicBezTo>
                      <a:pt x="2642" y="947"/>
                      <a:pt x="2686" y="929"/>
                      <a:pt x="2704" y="893"/>
                    </a:cubicBezTo>
                    <a:lnTo>
                      <a:pt x="2704" y="893"/>
                    </a:lnTo>
                    <a:cubicBezTo>
                      <a:pt x="2713" y="875"/>
                      <a:pt x="2704" y="857"/>
                      <a:pt x="2686" y="848"/>
                    </a:cubicBezTo>
                    <a:lnTo>
                      <a:pt x="2686" y="848"/>
                    </a:lnTo>
                    <a:cubicBezTo>
                      <a:pt x="2668" y="839"/>
                      <a:pt x="2650" y="848"/>
                      <a:pt x="2642" y="866"/>
                    </a:cubicBezTo>
                    <a:lnTo>
                      <a:pt x="2642" y="866"/>
                    </a:lnTo>
                    <a:cubicBezTo>
                      <a:pt x="2642" y="875"/>
                      <a:pt x="2615" y="884"/>
                      <a:pt x="2597" y="884"/>
                    </a:cubicBezTo>
                    <a:lnTo>
                      <a:pt x="2597" y="884"/>
                    </a:lnTo>
                    <a:cubicBezTo>
                      <a:pt x="2588" y="884"/>
                      <a:pt x="2579" y="884"/>
                      <a:pt x="2579" y="884"/>
                    </a:cubicBezTo>
                    <a:moveTo>
                      <a:pt x="6701" y="1589"/>
                    </a:moveTo>
                    <a:cubicBezTo>
                      <a:pt x="6710" y="1571"/>
                      <a:pt x="6710" y="1553"/>
                      <a:pt x="6701" y="1544"/>
                    </a:cubicBezTo>
                    <a:lnTo>
                      <a:pt x="6701" y="1544"/>
                    </a:lnTo>
                    <a:cubicBezTo>
                      <a:pt x="6656" y="1500"/>
                      <a:pt x="6594" y="1286"/>
                      <a:pt x="6611" y="1250"/>
                    </a:cubicBezTo>
                    <a:lnTo>
                      <a:pt x="6611" y="1250"/>
                    </a:lnTo>
                    <a:cubicBezTo>
                      <a:pt x="6629" y="1205"/>
                      <a:pt x="6683" y="1170"/>
                      <a:pt x="6736" y="1170"/>
                    </a:cubicBezTo>
                    <a:lnTo>
                      <a:pt x="6736" y="1170"/>
                    </a:lnTo>
                    <a:cubicBezTo>
                      <a:pt x="6736" y="1170"/>
                      <a:pt x="6736" y="1170"/>
                      <a:pt x="6745" y="1170"/>
                    </a:cubicBezTo>
                    <a:lnTo>
                      <a:pt x="6745" y="1170"/>
                    </a:lnTo>
                    <a:cubicBezTo>
                      <a:pt x="6870" y="1161"/>
                      <a:pt x="6995" y="1223"/>
                      <a:pt x="7111" y="1286"/>
                    </a:cubicBezTo>
                    <a:lnTo>
                      <a:pt x="7111" y="1286"/>
                    </a:lnTo>
                    <a:cubicBezTo>
                      <a:pt x="7254" y="1357"/>
                      <a:pt x="7405" y="1437"/>
                      <a:pt x="7575" y="1384"/>
                    </a:cubicBezTo>
                    <a:lnTo>
                      <a:pt x="7575" y="1384"/>
                    </a:lnTo>
                    <a:cubicBezTo>
                      <a:pt x="7843" y="1303"/>
                      <a:pt x="8155" y="1232"/>
                      <a:pt x="8449" y="1303"/>
                    </a:cubicBezTo>
                    <a:lnTo>
                      <a:pt x="8449" y="1303"/>
                    </a:lnTo>
                    <a:cubicBezTo>
                      <a:pt x="8467" y="1303"/>
                      <a:pt x="8494" y="1312"/>
                      <a:pt x="8521" y="1321"/>
                    </a:cubicBezTo>
                    <a:lnTo>
                      <a:pt x="8521" y="1321"/>
                    </a:lnTo>
                    <a:cubicBezTo>
                      <a:pt x="8592" y="1410"/>
                      <a:pt x="8628" y="1535"/>
                      <a:pt x="8601" y="1642"/>
                    </a:cubicBezTo>
                    <a:lnTo>
                      <a:pt x="8601" y="1642"/>
                    </a:lnTo>
                    <a:cubicBezTo>
                      <a:pt x="8574" y="1749"/>
                      <a:pt x="8494" y="1848"/>
                      <a:pt x="8387" y="1892"/>
                    </a:cubicBezTo>
                    <a:lnTo>
                      <a:pt x="8387" y="1892"/>
                    </a:lnTo>
                    <a:cubicBezTo>
                      <a:pt x="8378" y="1901"/>
                      <a:pt x="8369" y="1919"/>
                      <a:pt x="8378" y="1937"/>
                    </a:cubicBezTo>
                    <a:lnTo>
                      <a:pt x="8378" y="1937"/>
                    </a:lnTo>
                    <a:cubicBezTo>
                      <a:pt x="8378" y="1946"/>
                      <a:pt x="8387" y="1955"/>
                      <a:pt x="8405" y="1955"/>
                    </a:cubicBezTo>
                    <a:lnTo>
                      <a:pt x="8405" y="1955"/>
                    </a:lnTo>
                    <a:cubicBezTo>
                      <a:pt x="8405" y="1955"/>
                      <a:pt x="8413" y="1955"/>
                      <a:pt x="8413" y="1955"/>
                    </a:cubicBezTo>
                    <a:lnTo>
                      <a:pt x="8413" y="1955"/>
                    </a:lnTo>
                    <a:cubicBezTo>
                      <a:pt x="8538" y="1901"/>
                      <a:pt x="8636" y="1785"/>
                      <a:pt x="8663" y="1651"/>
                    </a:cubicBezTo>
                    <a:lnTo>
                      <a:pt x="8663" y="1651"/>
                    </a:lnTo>
                    <a:cubicBezTo>
                      <a:pt x="8681" y="1562"/>
                      <a:pt x="8672" y="1464"/>
                      <a:pt x="8628" y="1375"/>
                    </a:cubicBezTo>
                    <a:lnTo>
                      <a:pt x="8628" y="1375"/>
                    </a:lnTo>
                    <a:cubicBezTo>
                      <a:pt x="9011" y="1607"/>
                      <a:pt x="9243" y="2195"/>
                      <a:pt x="9270" y="2677"/>
                    </a:cubicBezTo>
                    <a:lnTo>
                      <a:pt x="9270" y="2677"/>
                    </a:lnTo>
                    <a:cubicBezTo>
                      <a:pt x="9199" y="2775"/>
                      <a:pt x="9047" y="2784"/>
                      <a:pt x="8931" y="2757"/>
                    </a:cubicBezTo>
                    <a:lnTo>
                      <a:pt x="8931" y="2757"/>
                    </a:lnTo>
                    <a:cubicBezTo>
                      <a:pt x="8886" y="2749"/>
                      <a:pt x="8833" y="2731"/>
                      <a:pt x="8788" y="2713"/>
                    </a:cubicBezTo>
                    <a:lnTo>
                      <a:pt x="8788" y="2713"/>
                    </a:lnTo>
                    <a:cubicBezTo>
                      <a:pt x="8699" y="2686"/>
                      <a:pt x="8610" y="2659"/>
                      <a:pt x="8521" y="2650"/>
                    </a:cubicBezTo>
                    <a:lnTo>
                      <a:pt x="8521" y="2650"/>
                    </a:lnTo>
                    <a:cubicBezTo>
                      <a:pt x="8351" y="2642"/>
                      <a:pt x="8182" y="2731"/>
                      <a:pt x="8083" y="2865"/>
                    </a:cubicBezTo>
                    <a:lnTo>
                      <a:pt x="8083" y="2865"/>
                    </a:lnTo>
                    <a:cubicBezTo>
                      <a:pt x="8074" y="2882"/>
                      <a:pt x="8074" y="2900"/>
                      <a:pt x="8092" y="2909"/>
                    </a:cubicBezTo>
                    <a:lnTo>
                      <a:pt x="8092" y="2909"/>
                    </a:lnTo>
                    <a:cubicBezTo>
                      <a:pt x="8101" y="2918"/>
                      <a:pt x="8101" y="2918"/>
                      <a:pt x="8110" y="2918"/>
                    </a:cubicBezTo>
                    <a:lnTo>
                      <a:pt x="8110" y="2918"/>
                    </a:lnTo>
                    <a:cubicBezTo>
                      <a:pt x="8119" y="2918"/>
                      <a:pt x="8128" y="2909"/>
                      <a:pt x="8137" y="2900"/>
                    </a:cubicBezTo>
                    <a:lnTo>
                      <a:pt x="8137" y="2900"/>
                    </a:lnTo>
                    <a:cubicBezTo>
                      <a:pt x="8217" y="2784"/>
                      <a:pt x="8369" y="2713"/>
                      <a:pt x="8521" y="2713"/>
                    </a:cubicBezTo>
                    <a:lnTo>
                      <a:pt x="8521" y="2713"/>
                    </a:lnTo>
                    <a:cubicBezTo>
                      <a:pt x="8601" y="2722"/>
                      <a:pt x="8681" y="2749"/>
                      <a:pt x="8761" y="2775"/>
                    </a:cubicBezTo>
                    <a:lnTo>
                      <a:pt x="8761" y="2775"/>
                    </a:lnTo>
                    <a:cubicBezTo>
                      <a:pt x="8815" y="2784"/>
                      <a:pt x="8868" y="2802"/>
                      <a:pt x="8922" y="2820"/>
                    </a:cubicBezTo>
                    <a:lnTo>
                      <a:pt x="8922" y="2820"/>
                    </a:lnTo>
                    <a:cubicBezTo>
                      <a:pt x="9029" y="2847"/>
                      <a:pt x="9172" y="2838"/>
                      <a:pt x="9270" y="2757"/>
                    </a:cubicBezTo>
                    <a:lnTo>
                      <a:pt x="9270" y="2757"/>
                    </a:lnTo>
                    <a:cubicBezTo>
                      <a:pt x="9270" y="2820"/>
                      <a:pt x="9270" y="2882"/>
                      <a:pt x="9261" y="2945"/>
                    </a:cubicBezTo>
                    <a:lnTo>
                      <a:pt x="9261" y="2945"/>
                    </a:lnTo>
                    <a:cubicBezTo>
                      <a:pt x="9199" y="3400"/>
                      <a:pt x="8904" y="3792"/>
                      <a:pt x="8645" y="4140"/>
                    </a:cubicBezTo>
                    <a:lnTo>
                      <a:pt x="8645" y="4140"/>
                    </a:lnTo>
                    <a:cubicBezTo>
                      <a:pt x="8574" y="4229"/>
                      <a:pt x="8503" y="4319"/>
                      <a:pt x="8431" y="4408"/>
                    </a:cubicBezTo>
                    <a:lnTo>
                      <a:pt x="8431" y="4408"/>
                    </a:lnTo>
                    <a:cubicBezTo>
                      <a:pt x="8396" y="4212"/>
                      <a:pt x="8262" y="3962"/>
                      <a:pt x="8119" y="3864"/>
                    </a:cubicBezTo>
                    <a:lnTo>
                      <a:pt x="8119" y="3864"/>
                    </a:lnTo>
                    <a:cubicBezTo>
                      <a:pt x="7950" y="3757"/>
                      <a:pt x="7727" y="3730"/>
                      <a:pt x="7530" y="3801"/>
                    </a:cubicBezTo>
                    <a:lnTo>
                      <a:pt x="7530" y="3801"/>
                    </a:lnTo>
                    <a:cubicBezTo>
                      <a:pt x="7530" y="3801"/>
                      <a:pt x="7521" y="3810"/>
                      <a:pt x="7512" y="3819"/>
                    </a:cubicBezTo>
                    <a:lnTo>
                      <a:pt x="7512" y="3819"/>
                    </a:lnTo>
                    <a:cubicBezTo>
                      <a:pt x="7512" y="3828"/>
                      <a:pt x="7512" y="3837"/>
                      <a:pt x="7512" y="3846"/>
                    </a:cubicBezTo>
                    <a:lnTo>
                      <a:pt x="7512" y="3846"/>
                    </a:lnTo>
                    <a:cubicBezTo>
                      <a:pt x="7539" y="3899"/>
                      <a:pt x="7611" y="3926"/>
                      <a:pt x="7664" y="3908"/>
                    </a:cubicBezTo>
                    <a:lnTo>
                      <a:pt x="7664" y="3908"/>
                    </a:lnTo>
                    <a:cubicBezTo>
                      <a:pt x="7682" y="3899"/>
                      <a:pt x="7691" y="3882"/>
                      <a:pt x="7682" y="3864"/>
                    </a:cubicBezTo>
                    <a:lnTo>
                      <a:pt x="7682" y="3864"/>
                    </a:lnTo>
                    <a:cubicBezTo>
                      <a:pt x="7673" y="3846"/>
                      <a:pt x="7655" y="3837"/>
                      <a:pt x="7637" y="3846"/>
                    </a:cubicBezTo>
                    <a:lnTo>
                      <a:pt x="7637" y="3846"/>
                    </a:lnTo>
                    <a:cubicBezTo>
                      <a:pt x="7628" y="3846"/>
                      <a:pt x="7619" y="3846"/>
                      <a:pt x="7611" y="3846"/>
                    </a:cubicBezTo>
                    <a:lnTo>
                      <a:pt x="7611" y="3846"/>
                    </a:lnTo>
                    <a:cubicBezTo>
                      <a:pt x="7762" y="3801"/>
                      <a:pt x="7941" y="3828"/>
                      <a:pt x="8083" y="3917"/>
                    </a:cubicBezTo>
                    <a:lnTo>
                      <a:pt x="8083" y="3917"/>
                    </a:lnTo>
                    <a:cubicBezTo>
                      <a:pt x="8226" y="4015"/>
                      <a:pt x="8360" y="4292"/>
                      <a:pt x="8378" y="4479"/>
                    </a:cubicBezTo>
                    <a:lnTo>
                      <a:pt x="8378" y="4479"/>
                    </a:lnTo>
                    <a:cubicBezTo>
                      <a:pt x="8280" y="4595"/>
                      <a:pt x="8173" y="4720"/>
                      <a:pt x="8048" y="4818"/>
                    </a:cubicBezTo>
                    <a:lnTo>
                      <a:pt x="8048" y="4818"/>
                    </a:lnTo>
                    <a:cubicBezTo>
                      <a:pt x="7869" y="4979"/>
                      <a:pt x="7664" y="5104"/>
                      <a:pt x="7459" y="5229"/>
                    </a:cubicBezTo>
                    <a:lnTo>
                      <a:pt x="7459" y="5229"/>
                    </a:lnTo>
                    <a:cubicBezTo>
                      <a:pt x="7423" y="5246"/>
                      <a:pt x="7396" y="5273"/>
                      <a:pt x="7361" y="5291"/>
                    </a:cubicBezTo>
                    <a:lnTo>
                      <a:pt x="7361" y="5291"/>
                    </a:lnTo>
                    <a:cubicBezTo>
                      <a:pt x="7396" y="4881"/>
                      <a:pt x="7120" y="4470"/>
                      <a:pt x="6718" y="4372"/>
                    </a:cubicBezTo>
                    <a:lnTo>
                      <a:pt x="6718" y="4372"/>
                    </a:lnTo>
                    <a:cubicBezTo>
                      <a:pt x="6576" y="4328"/>
                      <a:pt x="6424" y="4328"/>
                      <a:pt x="6272" y="4328"/>
                    </a:cubicBezTo>
                    <a:lnTo>
                      <a:pt x="6272" y="4328"/>
                    </a:lnTo>
                    <a:cubicBezTo>
                      <a:pt x="6049" y="4328"/>
                      <a:pt x="5844" y="4328"/>
                      <a:pt x="5675" y="4212"/>
                    </a:cubicBezTo>
                    <a:lnTo>
                      <a:pt x="5675" y="4212"/>
                    </a:lnTo>
                    <a:cubicBezTo>
                      <a:pt x="5657" y="4203"/>
                      <a:pt x="5639" y="4203"/>
                      <a:pt x="5630" y="4221"/>
                    </a:cubicBezTo>
                    <a:lnTo>
                      <a:pt x="5630" y="4221"/>
                    </a:lnTo>
                    <a:cubicBezTo>
                      <a:pt x="5621" y="4229"/>
                      <a:pt x="5621" y="4256"/>
                      <a:pt x="5639" y="4265"/>
                    </a:cubicBezTo>
                    <a:lnTo>
                      <a:pt x="5639" y="4265"/>
                    </a:lnTo>
                    <a:cubicBezTo>
                      <a:pt x="5826" y="4390"/>
                      <a:pt x="6049" y="4390"/>
                      <a:pt x="6272" y="4390"/>
                    </a:cubicBezTo>
                    <a:lnTo>
                      <a:pt x="6272" y="4390"/>
                    </a:lnTo>
                    <a:cubicBezTo>
                      <a:pt x="6415" y="4390"/>
                      <a:pt x="6567" y="4390"/>
                      <a:pt x="6701" y="4435"/>
                    </a:cubicBezTo>
                    <a:lnTo>
                      <a:pt x="6701" y="4435"/>
                    </a:lnTo>
                    <a:cubicBezTo>
                      <a:pt x="7075" y="4533"/>
                      <a:pt x="7343" y="4934"/>
                      <a:pt x="7298" y="5318"/>
                    </a:cubicBezTo>
                    <a:lnTo>
                      <a:pt x="7298" y="5318"/>
                    </a:lnTo>
                    <a:cubicBezTo>
                      <a:pt x="7289" y="5318"/>
                      <a:pt x="7298" y="5327"/>
                      <a:pt x="7298" y="5327"/>
                    </a:cubicBezTo>
                    <a:lnTo>
                      <a:pt x="7298" y="5327"/>
                    </a:lnTo>
                    <a:cubicBezTo>
                      <a:pt x="7227" y="5371"/>
                      <a:pt x="7156" y="5416"/>
                      <a:pt x="7084" y="5469"/>
                    </a:cubicBezTo>
                    <a:lnTo>
                      <a:pt x="7084" y="5469"/>
                    </a:lnTo>
                    <a:cubicBezTo>
                      <a:pt x="6843" y="5639"/>
                      <a:pt x="6620" y="5835"/>
                      <a:pt x="6406" y="6031"/>
                    </a:cubicBezTo>
                    <a:lnTo>
                      <a:pt x="6406" y="6031"/>
                    </a:lnTo>
                    <a:cubicBezTo>
                      <a:pt x="6397" y="6040"/>
                      <a:pt x="6379" y="6049"/>
                      <a:pt x="6371" y="6058"/>
                    </a:cubicBezTo>
                    <a:lnTo>
                      <a:pt x="6371" y="6058"/>
                    </a:lnTo>
                    <a:cubicBezTo>
                      <a:pt x="6379" y="5898"/>
                      <a:pt x="6299" y="5737"/>
                      <a:pt x="6139" y="5585"/>
                    </a:cubicBezTo>
                    <a:lnTo>
                      <a:pt x="6139" y="5585"/>
                    </a:lnTo>
                    <a:cubicBezTo>
                      <a:pt x="5987" y="5434"/>
                      <a:pt x="5791" y="5345"/>
                      <a:pt x="5612" y="5273"/>
                    </a:cubicBezTo>
                    <a:lnTo>
                      <a:pt x="5612" y="5273"/>
                    </a:lnTo>
                    <a:cubicBezTo>
                      <a:pt x="5568" y="5255"/>
                      <a:pt x="5523" y="5238"/>
                      <a:pt x="5470" y="5229"/>
                    </a:cubicBezTo>
                    <a:lnTo>
                      <a:pt x="5470" y="5229"/>
                    </a:lnTo>
                    <a:cubicBezTo>
                      <a:pt x="5336" y="5175"/>
                      <a:pt x="5193" y="5122"/>
                      <a:pt x="5059" y="5050"/>
                    </a:cubicBezTo>
                    <a:lnTo>
                      <a:pt x="5059" y="5050"/>
                    </a:lnTo>
                    <a:cubicBezTo>
                      <a:pt x="5006" y="5023"/>
                      <a:pt x="4943" y="4979"/>
                      <a:pt x="4907" y="4925"/>
                    </a:cubicBezTo>
                    <a:lnTo>
                      <a:pt x="4907" y="4925"/>
                    </a:lnTo>
                    <a:cubicBezTo>
                      <a:pt x="4881" y="4881"/>
                      <a:pt x="4863" y="4809"/>
                      <a:pt x="4899" y="4765"/>
                    </a:cubicBezTo>
                    <a:lnTo>
                      <a:pt x="4899" y="4765"/>
                    </a:lnTo>
                    <a:cubicBezTo>
                      <a:pt x="4916" y="4738"/>
                      <a:pt x="4943" y="4720"/>
                      <a:pt x="4970" y="4720"/>
                    </a:cubicBezTo>
                    <a:lnTo>
                      <a:pt x="4970" y="4720"/>
                    </a:lnTo>
                    <a:cubicBezTo>
                      <a:pt x="4988" y="4720"/>
                      <a:pt x="5015" y="4720"/>
                      <a:pt x="5032" y="4738"/>
                    </a:cubicBezTo>
                    <a:lnTo>
                      <a:pt x="5032" y="4738"/>
                    </a:lnTo>
                    <a:cubicBezTo>
                      <a:pt x="5041" y="4756"/>
                      <a:pt x="5059" y="4756"/>
                      <a:pt x="5077" y="4747"/>
                    </a:cubicBezTo>
                    <a:lnTo>
                      <a:pt x="5077" y="4747"/>
                    </a:lnTo>
                    <a:cubicBezTo>
                      <a:pt x="5086" y="4729"/>
                      <a:pt x="5086" y="4711"/>
                      <a:pt x="5077" y="4702"/>
                    </a:cubicBezTo>
                    <a:lnTo>
                      <a:pt x="5077" y="4702"/>
                    </a:lnTo>
                    <a:cubicBezTo>
                      <a:pt x="5050" y="4667"/>
                      <a:pt x="5015" y="4658"/>
                      <a:pt x="4970" y="4658"/>
                    </a:cubicBezTo>
                    <a:lnTo>
                      <a:pt x="4970" y="4658"/>
                    </a:lnTo>
                    <a:cubicBezTo>
                      <a:pt x="4916" y="4658"/>
                      <a:pt x="4872" y="4684"/>
                      <a:pt x="4845" y="4729"/>
                    </a:cubicBezTo>
                    <a:lnTo>
                      <a:pt x="4845" y="4729"/>
                    </a:lnTo>
                    <a:cubicBezTo>
                      <a:pt x="4800" y="4800"/>
                      <a:pt x="4818" y="4899"/>
                      <a:pt x="4854" y="4961"/>
                    </a:cubicBezTo>
                    <a:lnTo>
                      <a:pt x="4854" y="4961"/>
                    </a:lnTo>
                    <a:cubicBezTo>
                      <a:pt x="4899" y="5023"/>
                      <a:pt x="4970" y="5068"/>
                      <a:pt x="5032" y="5104"/>
                    </a:cubicBezTo>
                    <a:lnTo>
                      <a:pt x="5032" y="5104"/>
                    </a:lnTo>
                    <a:cubicBezTo>
                      <a:pt x="5166" y="5175"/>
                      <a:pt x="5309" y="5229"/>
                      <a:pt x="5452" y="5282"/>
                    </a:cubicBezTo>
                    <a:lnTo>
                      <a:pt x="5452" y="5282"/>
                    </a:lnTo>
                    <a:cubicBezTo>
                      <a:pt x="5496" y="5300"/>
                      <a:pt x="5541" y="5318"/>
                      <a:pt x="5594" y="5336"/>
                    </a:cubicBezTo>
                    <a:lnTo>
                      <a:pt x="5594" y="5336"/>
                    </a:lnTo>
                    <a:cubicBezTo>
                      <a:pt x="5755" y="5398"/>
                      <a:pt x="5951" y="5487"/>
                      <a:pt x="6094" y="5630"/>
                    </a:cubicBezTo>
                    <a:lnTo>
                      <a:pt x="6094" y="5630"/>
                    </a:lnTo>
                    <a:cubicBezTo>
                      <a:pt x="6263" y="5782"/>
                      <a:pt x="6326" y="5951"/>
                      <a:pt x="6308" y="6112"/>
                    </a:cubicBezTo>
                    <a:lnTo>
                      <a:pt x="6308" y="6112"/>
                    </a:lnTo>
                    <a:cubicBezTo>
                      <a:pt x="6308" y="6112"/>
                      <a:pt x="6308" y="6112"/>
                      <a:pt x="6308" y="6121"/>
                    </a:cubicBezTo>
                    <a:lnTo>
                      <a:pt x="6308" y="6121"/>
                    </a:lnTo>
                    <a:cubicBezTo>
                      <a:pt x="6156" y="6255"/>
                      <a:pt x="5996" y="6388"/>
                      <a:pt x="5835" y="6513"/>
                    </a:cubicBezTo>
                    <a:lnTo>
                      <a:pt x="5835" y="6513"/>
                    </a:lnTo>
                    <a:cubicBezTo>
                      <a:pt x="5505" y="6754"/>
                      <a:pt x="5006" y="7031"/>
                      <a:pt x="4479" y="7013"/>
                    </a:cubicBezTo>
                    <a:lnTo>
                      <a:pt x="4479" y="7013"/>
                    </a:lnTo>
                    <a:cubicBezTo>
                      <a:pt x="4702" y="6897"/>
                      <a:pt x="4854" y="6692"/>
                      <a:pt x="4890" y="6442"/>
                    </a:cubicBezTo>
                    <a:lnTo>
                      <a:pt x="4890" y="6442"/>
                    </a:lnTo>
                    <a:cubicBezTo>
                      <a:pt x="4934" y="6147"/>
                      <a:pt x="4792" y="5826"/>
                      <a:pt x="4542" y="5666"/>
                    </a:cubicBezTo>
                    <a:lnTo>
                      <a:pt x="4542" y="5666"/>
                    </a:lnTo>
                    <a:cubicBezTo>
                      <a:pt x="4524" y="5657"/>
                      <a:pt x="4506" y="5657"/>
                      <a:pt x="4497" y="5675"/>
                    </a:cubicBezTo>
                    <a:lnTo>
                      <a:pt x="4497" y="5675"/>
                    </a:lnTo>
                    <a:cubicBezTo>
                      <a:pt x="4488" y="5684"/>
                      <a:pt x="4497" y="5710"/>
                      <a:pt x="4506" y="5719"/>
                    </a:cubicBezTo>
                    <a:lnTo>
                      <a:pt x="4506" y="5719"/>
                    </a:lnTo>
                    <a:cubicBezTo>
                      <a:pt x="4738" y="5862"/>
                      <a:pt x="4872" y="6156"/>
                      <a:pt x="4827" y="6433"/>
                    </a:cubicBezTo>
                    <a:lnTo>
                      <a:pt x="4827" y="6433"/>
                    </a:lnTo>
                    <a:cubicBezTo>
                      <a:pt x="4792" y="6701"/>
                      <a:pt x="4604" y="6915"/>
                      <a:pt x="4345" y="6995"/>
                    </a:cubicBezTo>
                    <a:lnTo>
                      <a:pt x="4345" y="6995"/>
                    </a:lnTo>
                    <a:cubicBezTo>
                      <a:pt x="4149" y="6968"/>
                      <a:pt x="3962" y="6897"/>
                      <a:pt x="3783" y="6825"/>
                    </a:cubicBezTo>
                    <a:lnTo>
                      <a:pt x="3783" y="6825"/>
                    </a:lnTo>
                    <a:cubicBezTo>
                      <a:pt x="3676" y="6781"/>
                      <a:pt x="3560" y="6736"/>
                      <a:pt x="3444" y="6701"/>
                    </a:cubicBezTo>
                    <a:lnTo>
                      <a:pt x="3444" y="6701"/>
                    </a:lnTo>
                    <a:cubicBezTo>
                      <a:pt x="3293" y="6656"/>
                      <a:pt x="3141" y="6629"/>
                      <a:pt x="2998" y="6602"/>
                    </a:cubicBezTo>
                    <a:lnTo>
                      <a:pt x="2998" y="6602"/>
                    </a:lnTo>
                    <a:cubicBezTo>
                      <a:pt x="3097" y="6576"/>
                      <a:pt x="3186" y="6540"/>
                      <a:pt x="3266" y="6478"/>
                    </a:cubicBezTo>
                    <a:lnTo>
                      <a:pt x="3266" y="6478"/>
                    </a:lnTo>
                    <a:cubicBezTo>
                      <a:pt x="3409" y="6370"/>
                      <a:pt x="3507" y="6192"/>
                      <a:pt x="3516" y="6014"/>
                    </a:cubicBezTo>
                    <a:lnTo>
                      <a:pt x="3516" y="6014"/>
                    </a:lnTo>
                    <a:cubicBezTo>
                      <a:pt x="3516" y="5996"/>
                      <a:pt x="3507" y="5978"/>
                      <a:pt x="3489" y="5978"/>
                    </a:cubicBezTo>
                    <a:lnTo>
                      <a:pt x="3489" y="5978"/>
                    </a:lnTo>
                    <a:cubicBezTo>
                      <a:pt x="3471" y="5978"/>
                      <a:pt x="3453" y="5987"/>
                      <a:pt x="3453" y="6005"/>
                    </a:cubicBezTo>
                    <a:lnTo>
                      <a:pt x="3453" y="6005"/>
                    </a:lnTo>
                    <a:cubicBezTo>
                      <a:pt x="3444" y="6165"/>
                      <a:pt x="3355" y="6326"/>
                      <a:pt x="3221" y="6424"/>
                    </a:cubicBezTo>
                    <a:lnTo>
                      <a:pt x="3221" y="6424"/>
                    </a:lnTo>
                    <a:cubicBezTo>
                      <a:pt x="3097" y="6531"/>
                      <a:pt x="2918" y="6576"/>
                      <a:pt x="2758" y="6549"/>
                    </a:cubicBezTo>
                    <a:lnTo>
                      <a:pt x="2758" y="6549"/>
                    </a:lnTo>
                    <a:cubicBezTo>
                      <a:pt x="2749" y="6549"/>
                      <a:pt x="2749" y="6549"/>
                      <a:pt x="2740" y="6549"/>
                    </a:cubicBezTo>
                    <a:lnTo>
                      <a:pt x="2740" y="6549"/>
                    </a:lnTo>
                    <a:cubicBezTo>
                      <a:pt x="2597" y="6513"/>
                      <a:pt x="2454" y="6478"/>
                      <a:pt x="2320" y="6415"/>
                    </a:cubicBezTo>
                    <a:lnTo>
                      <a:pt x="2320" y="6415"/>
                    </a:lnTo>
                    <a:cubicBezTo>
                      <a:pt x="2106" y="6308"/>
                      <a:pt x="1919" y="6147"/>
                      <a:pt x="1776" y="5951"/>
                    </a:cubicBezTo>
                    <a:lnTo>
                      <a:pt x="1776" y="5951"/>
                    </a:lnTo>
                    <a:cubicBezTo>
                      <a:pt x="1812" y="5960"/>
                      <a:pt x="1856" y="5969"/>
                      <a:pt x="1892" y="5969"/>
                    </a:cubicBezTo>
                    <a:lnTo>
                      <a:pt x="1892" y="5969"/>
                    </a:lnTo>
                    <a:cubicBezTo>
                      <a:pt x="1990" y="5969"/>
                      <a:pt x="2080" y="5933"/>
                      <a:pt x="2160" y="5880"/>
                    </a:cubicBezTo>
                    <a:lnTo>
                      <a:pt x="2160" y="5880"/>
                    </a:lnTo>
                    <a:cubicBezTo>
                      <a:pt x="2267" y="5800"/>
                      <a:pt x="2338" y="5657"/>
                      <a:pt x="2338" y="5514"/>
                    </a:cubicBezTo>
                    <a:lnTo>
                      <a:pt x="2338" y="5514"/>
                    </a:lnTo>
                    <a:cubicBezTo>
                      <a:pt x="2329" y="5496"/>
                      <a:pt x="2320" y="5478"/>
                      <a:pt x="2303" y="5487"/>
                    </a:cubicBezTo>
                    <a:lnTo>
                      <a:pt x="2303" y="5487"/>
                    </a:lnTo>
                    <a:cubicBezTo>
                      <a:pt x="2285" y="5487"/>
                      <a:pt x="2267" y="5496"/>
                      <a:pt x="2267" y="5514"/>
                    </a:cubicBezTo>
                    <a:lnTo>
                      <a:pt x="2267" y="5514"/>
                    </a:lnTo>
                    <a:cubicBezTo>
                      <a:pt x="2276" y="5639"/>
                      <a:pt x="2213" y="5755"/>
                      <a:pt x="2115" y="5826"/>
                    </a:cubicBezTo>
                    <a:lnTo>
                      <a:pt x="2115" y="5826"/>
                    </a:lnTo>
                    <a:cubicBezTo>
                      <a:pt x="2017" y="5907"/>
                      <a:pt x="1892" y="5924"/>
                      <a:pt x="1776" y="5880"/>
                    </a:cubicBezTo>
                    <a:lnTo>
                      <a:pt x="1776" y="5880"/>
                    </a:lnTo>
                    <a:cubicBezTo>
                      <a:pt x="1758" y="5880"/>
                      <a:pt x="1741" y="5880"/>
                      <a:pt x="1741" y="5898"/>
                    </a:cubicBezTo>
                    <a:lnTo>
                      <a:pt x="1741" y="5898"/>
                    </a:lnTo>
                    <a:cubicBezTo>
                      <a:pt x="1482" y="5514"/>
                      <a:pt x="1366" y="5015"/>
                      <a:pt x="1473" y="4542"/>
                    </a:cubicBezTo>
                    <a:lnTo>
                      <a:pt x="1473" y="4542"/>
                    </a:lnTo>
                    <a:cubicBezTo>
                      <a:pt x="1500" y="4399"/>
                      <a:pt x="1544" y="4265"/>
                      <a:pt x="1607" y="4131"/>
                    </a:cubicBezTo>
                    <a:lnTo>
                      <a:pt x="1607" y="4131"/>
                    </a:lnTo>
                    <a:cubicBezTo>
                      <a:pt x="1616" y="4194"/>
                      <a:pt x="1642" y="4247"/>
                      <a:pt x="1714" y="4292"/>
                    </a:cubicBezTo>
                    <a:lnTo>
                      <a:pt x="1714" y="4292"/>
                    </a:lnTo>
                    <a:cubicBezTo>
                      <a:pt x="1776" y="4337"/>
                      <a:pt x="1856" y="4363"/>
                      <a:pt x="1928" y="4363"/>
                    </a:cubicBezTo>
                    <a:lnTo>
                      <a:pt x="1928" y="4363"/>
                    </a:lnTo>
                    <a:cubicBezTo>
                      <a:pt x="1972" y="4363"/>
                      <a:pt x="2017" y="4354"/>
                      <a:pt x="2053" y="4337"/>
                    </a:cubicBezTo>
                    <a:lnTo>
                      <a:pt x="2053" y="4337"/>
                    </a:lnTo>
                    <a:cubicBezTo>
                      <a:pt x="2071" y="4337"/>
                      <a:pt x="2080" y="4319"/>
                      <a:pt x="2071" y="4301"/>
                    </a:cubicBezTo>
                    <a:lnTo>
                      <a:pt x="2071" y="4301"/>
                    </a:lnTo>
                    <a:cubicBezTo>
                      <a:pt x="2071" y="4283"/>
                      <a:pt x="2053" y="4274"/>
                      <a:pt x="2035" y="4283"/>
                    </a:cubicBezTo>
                    <a:lnTo>
                      <a:pt x="2035" y="4283"/>
                    </a:lnTo>
                    <a:cubicBezTo>
                      <a:pt x="1937" y="4319"/>
                      <a:pt x="1830" y="4301"/>
                      <a:pt x="1749" y="4238"/>
                    </a:cubicBezTo>
                    <a:lnTo>
                      <a:pt x="1749" y="4238"/>
                    </a:lnTo>
                    <a:cubicBezTo>
                      <a:pt x="1669" y="4194"/>
                      <a:pt x="1660" y="4122"/>
                      <a:pt x="1660" y="4024"/>
                    </a:cubicBezTo>
                    <a:lnTo>
                      <a:pt x="1660" y="4024"/>
                    </a:lnTo>
                    <a:cubicBezTo>
                      <a:pt x="1830" y="3685"/>
                      <a:pt x="2106" y="3382"/>
                      <a:pt x="2445" y="3141"/>
                    </a:cubicBezTo>
                    <a:lnTo>
                      <a:pt x="2445" y="3141"/>
                    </a:lnTo>
                    <a:lnTo>
                      <a:pt x="2445" y="3141"/>
                    </a:lnTo>
                    <a:cubicBezTo>
                      <a:pt x="2570" y="3043"/>
                      <a:pt x="2713" y="2963"/>
                      <a:pt x="2865" y="2891"/>
                    </a:cubicBezTo>
                    <a:lnTo>
                      <a:pt x="2865" y="2891"/>
                    </a:lnTo>
                    <a:cubicBezTo>
                      <a:pt x="2936" y="2856"/>
                      <a:pt x="2989" y="2811"/>
                      <a:pt x="3043" y="2766"/>
                    </a:cubicBezTo>
                    <a:lnTo>
                      <a:pt x="3043" y="2766"/>
                    </a:lnTo>
                    <a:cubicBezTo>
                      <a:pt x="3230" y="2882"/>
                      <a:pt x="3346" y="3070"/>
                      <a:pt x="3400" y="3320"/>
                    </a:cubicBezTo>
                    <a:lnTo>
                      <a:pt x="3400" y="3320"/>
                    </a:lnTo>
                    <a:cubicBezTo>
                      <a:pt x="3444" y="3560"/>
                      <a:pt x="3391" y="3819"/>
                      <a:pt x="3248" y="4015"/>
                    </a:cubicBezTo>
                    <a:lnTo>
                      <a:pt x="3248" y="4015"/>
                    </a:lnTo>
                    <a:cubicBezTo>
                      <a:pt x="3186" y="4105"/>
                      <a:pt x="3114" y="4176"/>
                      <a:pt x="3043" y="4247"/>
                    </a:cubicBezTo>
                    <a:lnTo>
                      <a:pt x="3043" y="4247"/>
                    </a:lnTo>
                    <a:cubicBezTo>
                      <a:pt x="2998" y="4292"/>
                      <a:pt x="2954" y="4337"/>
                      <a:pt x="2909" y="4390"/>
                    </a:cubicBezTo>
                    <a:lnTo>
                      <a:pt x="2909" y="4390"/>
                    </a:lnTo>
                    <a:cubicBezTo>
                      <a:pt x="2766" y="4551"/>
                      <a:pt x="2695" y="4702"/>
                      <a:pt x="2704" y="4854"/>
                    </a:cubicBezTo>
                    <a:lnTo>
                      <a:pt x="2704" y="4854"/>
                    </a:lnTo>
                    <a:cubicBezTo>
                      <a:pt x="2704" y="4961"/>
                      <a:pt x="2758" y="5068"/>
                      <a:pt x="2838" y="5130"/>
                    </a:cubicBezTo>
                    <a:lnTo>
                      <a:pt x="2838" y="5130"/>
                    </a:lnTo>
                    <a:cubicBezTo>
                      <a:pt x="2891" y="5175"/>
                      <a:pt x="2963" y="5202"/>
                      <a:pt x="3025" y="5202"/>
                    </a:cubicBezTo>
                    <a:lnTo>
                      <a:pt x="3025" y="5202"/>
                    </a:lnTo>
                    <a:cubicBezTo>
                      <a:pt x="3034" y="5202"/>
                      <a:pt x="3043" y="5202"/>
                      <a:pt x="3061" y="5202"/>
                    </a:cubicBezTo>
                    <a:lnTo>
                      <a:pt x="3061" y="5202"/>
                    </a:lnTo>
                    <a:cubicBezTo>
                      <a:pt x="3079" y="5202"/>
                      <a:pt x="3088" y="5184"/>
                      <a:pt x="3088" y="5166"/>
                    </a:cubicBezTo>
                    <a:lnTo>
                      <a:pt x="3088" y="5166"/>
                    </a:lnTo>
                    <a:cubicBezTo>
                      <a:pt x="3079" y="5148"/>
                      <a:pt x="3070" y="5139"/>
                      <a:pt x="3052" y="5139"/>
                    </a:cubicBezTo>
                    <a:lnTo>
                      <a:pt x="3052" y="5139"/>
                    </a:lnTo>
                    <a:cubicBezTo>
                      <a:pt x="2989" y="5148"/>
                      <a:pt x="2927" y="5130"/>
                      <a:pt x="2882" y="5086"/>
                    </a:cubicBezTo>
                    <a:lnTo>
                      <a:pt x="2882" y="5086"/>
                    </a:lnTo>
                    <a:cubicBezTo>
                      <a:pt x="2811" y="5023"/>
                      <a:pt x="2766" y="4943"/>
                      <a:pt x="2766" y="4854"/>
                    </a:cubicBezTo>
                    <a:lnTo>
                      <a:pt x="2766" y="4854"/>
                    </a:lnTo>
                    <a:cubicBezTo>
                      <a:pt x="2758" y="4720"/>
                      <a:pt x="2820" y="4577"/>
                      <a:pt x="2954" y="4426"/>
                    </a:cubicBezTo>
                    <a:lnTo>
                      <a:pt x="2954" y="4426"/>
                    </a:lnTo>
                    <a:cubicBezTo>
                      <a:pt x="2998" y="4381"/>
                      <a:pt x="3043" y="4337"/>
                      <a:pt x="3088" y="4292"/>
                    </a:cubicBezTo>
                    <a:lnTo>
                      <a:pt x="3088" y="4292"/>
                    </a:lnTo>
                    <a:cubicBezTo>
                      <a:pt x="3159" y="4221"/>
                      <a:pt x="3239" y="4140"/>
                      <a:pt x="3302" y="4060"/>
                    </a:cubicBezTo>
                    <a:lnTo>
                      <a:pt x="3302" y="4060"/>
                    </a:lnTo>
                    <a:cubicBezTo>
                      <a:pt x="3453" y="3846"/>
                      <a:pt x="3516" y="3560"/>
                      <a:pt x="3462" y="3302"/>
                    </a:cubicBezTo>
                    <a:lnTo>
                      <a:pt x="3462" y="3302"/>
                    </a:lnTo>
                    <a:cubicBezTo>
                      <a:pt x="3409" y="3043"/>
                      <a:pt x="3284" y="2847"/>
                      <a:pt x="3088" y="2722"/>
                    </a:cubicBezTo>
                    <a:lnTo>
                      <a:pt x="3088" y="2722"/>
                    </a:lnTo>
                    <a:cubicBezTo>
                      <a:pt x="3168" y="2633"/>
                      <a:pt x="3230" y="2526"/>
                      <a:pt x="3293" y="2418"/>
                    </a:cubicBezTo>
                    <a:lnTo>
                      <a:pt x="3293" y="2418"/>
                    </a:lnTo>
                    <a:cubicBezTo>
                      <a:pt x="3364" y="2294"/>
                      <a:pt x="3436" y="2169"/>
                      <a:pt x="3543" y="2053"/>
                    </a:cubicBezTo>
                    <a:lnTo>
                      <a:pt x="3543" y="2053"/>
                    </a:lnTo>
                    <a:cubicBezTo>
                      <a:pt x="3596" y="2008"/>
                      <a:pt x="3659" y="1964"/>
                      <a:pt x="3730" y="1919"/>
                    </a:cubicBezTo>
                    <a:lnTo>
                      <a:pt x="3730" y="1919"/>
                    </a:lnTo>
                    <a:cubicBezTo>
                      <a:pt x="3855" y="1910"/>
                      <a:pt x="3980" y="1972"/>
                      <a:pt x="4042" y="2017"/>
                    </a:cubicBezTo>
                    <a:lnTo>
                      <a:pt x="4042" y="2017"/>
                    </a:lnTo>
                    <a:cubicBezTo>
                      <a:pt x="4399" y="2240"/>
                      <a:pt x="4595" y="2659"/>
                      <a:pt x="4551" y="3070"/>
                    </a:cubicBezTo>
                    <a:lnTo>
                      <a:pt x="4551" y="3070"/>
                    </a:lnTo>
                    <a:cubicBezTo>
                      <a:pt x="4551" y="3079"/>
                      <a:pt x="4560" y="3096"/>
                      <a:pt x="4568" y="3096"/>
                    </a:cubicBezTo>
                    <a:lnTo>
                      <a:pt x="4568" y="3096"/>
                    </a:lnTo>
                    <a:cubicBezTo>
                      <a:pt x="4577" y="3105"/>
                      <a:pt x="4577" y="3105"/>
                      <a:pt x="4586" y="3105"/>
                    </a:cubicBezTo>
                    <a:lnTo>
                      <a:pt x="4586" y="3105"/>
                    </a:lnTo>
                    <a:cubicBezTo>
                      <a:pt x="4586" y="3105"/>
                      <a:pt x="4595" y="3105"/>
                      <a:pt x="4604" y="3096"/>
                    </a:cubicBezTo>
                    <a:lnTo>
                      <a:pt x="4604" y="3096"/>
                    </a:lnTo>
                    <a:lnTo>
                      <a:pt x="4667" y="3061"/>
                    </a:lnTo>
                    <a:cubicBezTo>
                      <a:pt x="4676" y="3052"/>
                      <a:pt x="4684" y="3034"/>
                      <a:pt x="4676" y="3016"/>
                    </a:cubicBezTo>
                    <a:lnTo>
                      <a:pt x="4676" y="3016"/>
                    </a:lnTo>
                    <a:cubicBezTo>
                      <a:pt x="4667" y="2998"/>
                      <a:pt x="4640" y="2998"/>
                      <a:pt x="4631" y="3007"/>
                    </a:cubicBezTo>
                    <a:lnTo>
                      <a:pt x="4631" y="3007"/>
                    </a:lnTo>
                    <a:lnTo>
                      <a:pt x="4622" y="3007"/>
                    </a:lnTo>
                    <a:cubicBezTo>
                      <a:pt x="4640" y="2597"/>
                      <a:pt x="4426" y="2187"/>
                      <a:pt x="4078" y="1964"/>
                    </a:cubicBezTo>
                    <a:lnTo>
                      <a:pt x="4078" y="1964"/>
                    </a:lnTo>
                    <a:cubicBezTo>
                      <a:pt x="3998" y="1910"/>
                      <a:pt x="3917" y="1883"/>
                      <a:pt x="3837" y="1865"/>
                    </a:cubicBezTo>
                    <a:lnTo>
                      <a:pt x="3837" y="1865"/>
                    </a:lnTo>
                    <a:cubicBezTo>
                      <a:pt x="3935" y="1821"/>
                      <a:pt x="4033" y="1776"/>
                      <a:pt x="4140" y="1732"/>
                    </a:cubicBezTo>
                    <a:lnTo>
                      <a:pt x="4140" y="1732"/>
                    </a:lnTo>
                    <a:cubicBezTo>
                      <a:pt x="4310" y="1669"/>
                      <a:pt x="4470" y="1598"/>
                      <a:pt x="4595" y="1517"/>
                    </a:cubicBezTo>
                    <a:lnTo>
                      <a:pt x="4595" y="1517"/>
                    </a:lnTo>
                    <a:cubicBezTo>
                      <a:pt x="4747" y="1410"/>
                      <a:pt x="4943" y="1357"/>
                      <a:pt x="5175" y="1357"/>
                    </a:cubicBezTo>
                    <a:lnTo>
                      <a:pt x="5175" y="1357"/>
                    </a:lnTo>
                    <a:cubicBezTo>
                      <a:pt x="5273" y="1357"/>
                      <a:pt x="5371" y="1366"/>
                      <a:pt x="5478" y="1384"/>
                    </a:cubicBezTo>
                    <a:lnTo>
                      <a:pt x="5478" y="1384"/>
                    </a:lnTo>
                    <a:cubicBezTo>
                      <a:pt x="5273" y="1491"/>
                      <a:pt x="5122" y="1705"/>
                      <a:pt x="5113" y="1937"/>
                    </a:cubicBezTo>
                    <a:lnTo>
                      <a:pt x="5113" y="1937"/>
                    </a:lnTo>
                    <a:cubicBezTo>
                      <a:pt x="5113" y="1955"/>
                      <a:pt x="5122" y="1972"/>
                      <a:pt x="5139" y="1972"/>
                    </a:cubicBezTo>
                    <a:lnTo>
                      <a:pt x="5139" y="1972"/>
                    </a:lnTo>
                    <a:lnTo>
                      <a:pt x="5202" y="1981"/>
                    </a:lnTo>
                    <a:cubicBezTo>
                      <a:pt x="5211" y="1981"/>
                      <a:pt x="5211" y="1981"/>
                      <a:pt x="5211" y="1981"/>
                    </a:cubicBezTo>
                    <a:lnTo>
                      <a:pt x="5211" y="1981"/>
                    </a:lnTo>
                    <a:cubicBezTo>
                      <a:pt x="5229" y="1981"/>
                      <a:pt x="5238" y="1972"/>
                      <a:pt x="5238" y="1955"/>
                    </a:cubicBezTo>
                    <a:lnTo>
                      <a:pt x="5238" y="1955"/>
                    </a:lnTo>
                    <a:cubicBezTo>
                      <a:pt x="5246" y="1937"/>
                      <a:pt x="5229" y="1919"/>
                      <a:pt x="5211" y="1919"/>
                    </a:cubicBezTo>
                    <a:lnTo>
                      <a:pt x="5211" y="1919"/>
                    </a:lnTo>
                    <a:lnTo>
                      <a:pt x="5175" y="1910"/>
                    </a:lnTo>
                    <a:cubicBezTo>
                      <a:pt x="5193" y="1714"/>
                      <a:pt x="5336" y="1517"/>
                      <a:pt x="5514" y="1437"/>
                    </a:cubicBezTo>
                    <a:lnTo>
                      <a:pt x="5514" y="1437"/>
                    </a:lnTo>
                    <a:cubicBezTo>
                      <a:pt x="5532" y="1428"/>
                      <a:pt x="5541" y="1410"/>
                      <a:pt x="5532" y="1393"/>
                    </a:cubicBezTo>
                    <a:lnTo>
                      <a:pt x="5532" y="1393"/>
                    </a:lnTo>
                    <a:cubicBezTo>
                      <a:pt x="5559" y="1401"/>
                      <a:pt x="5585" y="1401"/>
                      <a:pt x="5621" y="1410"/>
                    </a:cubicBezTo>
                    <a:lnTo>
                      <a:pt x="5621" y="1410"/>
                    </a:lnTo>
                    <a:cubicBezTo>
                      <a:pt x="5826" y="1455"/>
                      <a:pt x="6049" y="1375"/>
                      <a:pt x="6272" y="1294"/>
                    </a:cubicBezTo>
                    <a:lnTo>
                      <a:pt x="6272" y="1294"/>
                    </a:lnTo>
                    <a:cubicBezTo>
                      <a:pt x="6371" y="1250"/>
                      <a:pt x="6469" y="1214"/>
                      <a:pt x="6576" y="1187"/>
                    </a:cubicBezTo>
                    <a:lnTo>
                      <a:pt x="6576" y="1187"/>
                    </a:lnTo>
                    <a:cubicBezTo>
                      <a:pt x="6567" y="1205"/>
                      <a:pt x="6558" y="1214"/>
                      <a:pt x="6558" y="1223"/>
                    </a:cubicBezTo>
                    <a:lnTo>
                      <a:pt x="6558" y="1223"/>
                    </a:lnTo>
                    <a:cubicBezTo>
                      <a:pt x="6522" y="1294"/>
                      <a:pt x="6602" y="1535"/>
                      <a:pt x="6656" y="1589"/>
                    </a:cubicBezTo>
                    <a:lnTo>
                      <a:pt x="6656" y="1589"/>
                    </a:lnTo>
                    <a:cubicBezTo>
                      <a:pt x="6656" y="1589"/>
                      <a:pt x="6665" y="1598"/>
                      <a:pt x="6674" y="1598"/>
                    </a:cubicBezTo>
                    <a:lnTo>
                      <a:pt x="6674" y="1598"/>
                    </a:lnTo>
                    <a:cubicBezTo>
                      <a:pt x="6683" y="1598"/>
                      <a:pt x="6692" y="1589"/>
                      <a:pt x="6701" y="1589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28" name="Google Shape;928;p48">
              <a:extLst>
                <a:ext uri="{FF2B5EF4-FFF2-40B4-BE49-F238E27FC236}">
                  <a16:creationId xmlns:a16="http://schemas.microsoft.com/office/drawing/2014/main" id="{46CD576F-C4A8-49BA-D0A8-976F53757B9A}"/>
                </a:ext>
              </a:extLst>
            </p:cNvPr>
            <p:cNvSpPr/>
            <p:nvPr/>
          </p:nvSpPr>
          <p:spPr>
            <a:xfrm>
              <a:off x="3186425" y="4160625"/>
              <a:ext cx="533679" cy="414643"/>
            </a:xfrm>
            <a:custGeom>
              <a:avLst/>
              <a:gdLst/>
              <a:ahLst/>
              <a:cxnLst/>
              <a:rect l="l" t="t" r="r" b="b"/>
              <a:pathLst>
                <a:path w="11437" h="8886" extrusionOk="0">
                  <a:moveTo>
                    <a:pt x="2855" y="18"/>
                  </a:moveTo>
                  <a:lnTo>
                    <a:pt x="2061" y="1223"/>
                  </a:lnTo>
                  <a:cubicBezTo>
                    <a:pt x="2052" y="1223"/>
                    <a:pt x="2043" y="1223"/>
                    <a:pt x="2034" y="1223"/>
                  </a:cubicBezTo>
                  <a:lnTo>
                    <a:pt x="2034" y="1223"/>
                  </a:lnTo>
                  <a:cubicBezTo>
                    <a:pt x="1981" y="1223"/>
                    <a:pt x="1936" y="1267"/>
                    <a:pt x="1936" y="1321"/>
                  </a:cubicBezTo>
                  <a:lnTo>
                    <a:pt x="1936" y="1321"/>
                  </a:lnTo>
                  <a:cubicBezTo>
                    <a:pt x="1936" y="1339"/>
                    <a:pt x="1945" y="1357"/>
                    <a:pt x="1954" y="1365"/>
                  </a:cubicBezTo>
                  <a:lnTo>
                    <a:pt x="1954" y="1365"/>
                  </a:lnTo>
                  <a:lnTo>
                    <a:pt x="437" y="2900"/>
                  </a:lnTo>
                  <a:cubicBezTo>
                    <a:pt x="428" y="2900"/>
                    <a:pt x="411" y="2900"/>
                    <a:pt x="402" y="2900"/>
                  </a:cubicBezTo>
                  <a:lnTo>
                    <a:pt x="402" y="2900"/>
                  </a:lnTo>
                  <a:cubicBezTo>
                    <a:pt x="348" y="2900"/>
                    <a:pt x="303" y="2944"/>
                    <a:pt x="303" y="2998"/>
                  </a:cubicBezTo>
                  <a:lnTo>
                    <a:pt x="303" y="2998"/>
                  </a:lnTo>
                  <a:cubicBezTo>
                    <a:pt x="303" y="3034"/>
                    <a:pt x="321" y="3060"/>
                    <a:pt x="357" y="3078"/>
                  </a:cubicBezTo>
                  <a:lnTo>
                    <a:pt x="357" y="3078"/>
                  </a:lnTo>
                  <a:lnTo>
                    <a:pt x="63" y="4827"/>
                  </a:lnTo>
                  <a:cubicBezTo>
                    <a:pt x="27" y="4845"/>
                    <a:pt x="0" y="4880"/>
                    <a:pt x="0" y="4925"/>
                  </a:cubicBezTo>
                  <a:lnTo>
                    <a:pt x="0" y="4925"/>
                  </a:lnTo>
                  <a:cubicBezTo>
                    <a:pt x="0" y="4970"/>
                    <a:pt x="36" y="5014"/>
                    <a:pt x="89" y="5023"/>
                  </a:cubicBezTo>
                  <a:lnTo>
                    <a:pt x="89" y="5023"/>
                  </a:lnTo>
                  <a:lnTo>
                    <a:pt x="660" y="6227"/>
                  </a:lnTo>
                  <a:cubicBezTo>
                    <a:pt x="634" y="6245"/>
                    <a:pt x="625" y="6272"/>
                    <a:pt x="625" y="6308"/>
                  </a:cubicBezTo>
                  <a:lnTo>
                    <a:pt x="625" y="6308"/>
                  </a:lnTo>
                  <a:cubicBezTo>
                    <a:pt x="625" y="6361"/>
                    <a:pt x="669" y="6406"/>
                    <a:pt x="723" y="6406"/>
                  </a:cubicBezTo>
                  <a:lnTo>
                    <a:pt x="723" y="6406"/>
                  </a:lnTo>
                  <a:cubicBezTo>
                    <a:pt x="741" y="6406"/>
                    <a:pt x="758" y="6397"/>
                    <a:pt x="767" y="6388"/>
                  </a:cubicBezTo>
                  <a:lnTo>
                    <a:pt x="767" y="6388"/>
                  </a:lnTo>
                  <a:cubicBezTo>
                    <a:pt x="1338" y="6745"/>
                    <a:pt x="2177" y="7280"/>
                    <a:pt x="2409" y="7467"/>
                  </a:cubicBezTo>
                  <a:lnTo>
                    <a:pt x="2409" y="7467"/>
                  </a:lnTo>
                  <a:cubicBezTo>
                    <a:pt x="2400" y="7476"/>
                    <a:pt x="2400" y="7494"/>
                    <a:pt x="2400" y="7512"/>
                  </a:cubicBezTo>
                  <a:lnTo>
                    <a:pt x="2400" y="7512"/>
                  </a:lnTo>
                  <a:cubicBezTo>
                    <a:pt x="2400" y="7566"/>
                    <a:pt x="2445" y="7610"/>
                    <a:pt x="2498" y="7610"/>
                  </a:cubicBezTo>
                  <a:lnTo>
                    <a:pt x="2498" y="7610"/>
                  </a:lnTo>
                  <a:cubicBezTo>
                    <a:pt x="2525" y="7610"/>
                    <a:pt x="2552" y="7592"/>
                    <a:pt x="2569" y="7574"/>
                  </a:cubicBezTo>
                  <a:lnTo>
                    <a:pt x="2569" y="7574"/>
                  </a:lnTo>
                  <a:lnTo>
                    <a:pt x="3934" y="8065"/>
                  </a:lnTo>
                  <a:cubicBezTo>
                    <a:pt x="3943" y="8119"/>
                    <a:pt x="3979" y="8163"/>
                    <a:pt x="4032" y="8163"/>
                  </a:cubicBezTo>
                  <a:lnTo>
                    <a:pt x="4032" y="8163"/>
                  </a:lnTo>
                  <a:cubicBezTo>
                    <a:pt x="4068" y="8163"/>
                    <a:pt x="4095" y="8145"/>
                    <a:pt x="4113" y="8128"/>
                  </a:cubicBezTo>
                  <a:lnTo>
                    <a:pt x="4113" y="8128"/>
                  </a:lnTo>
                  <a:lnTo>
                    <a:pt x="5915" y="8788"/>
                  </a:lnTo>
                  <a:lnTo>
                    <a:pt x="5915" y="8788"/>
                  </a:lnTo>
                  <a:lnTo>
                    <a:pt x="5915" y="8788"/>
                  </a:lnTo>
                  <a:cubicBezTo>
                    <a:pt x="5915" y="8841"/>
                    <a:pt x="5959" y="8886"/>
                    <a:pt x="6013" y="8886"/>
                  </a:cubicBezTo>
                  <a:lnTo>
                    <a:pt x="6013" y="8886"/>
                  </a:lnTo>
                  <a:cubicBezTo>
                    <a:pt x="6075" y="8886"/>
                    <a:pt x="6120" y="8841"/>
                    <a:pt x="6120" y="8788"/>
                  </a:cubicBezTo>
                  <a:lnTo>
                    <a:pt x="6120" y="8788"/>
                  </a:lnTo>
                  <a:cubicBezTo>
                    <a:pt x="6120" y="8779"/>
                    <a:pt x="6111" y="8770"/>
                    <a:pt x="6111" y="8761"/>
                  </a:cubicBezTo>
                  <a:lnTo>
                    <a:pt x="6111" y="8761"/>
                  </a:lnTo>
                  <a:lnTo>
                    <a:pt x="8636" y="6861"/>
                  </a:lnTo>
                  <a:cubicBezTo>
                    <a:pt x="8645" y="6870"/>
                    <a:pt x="8671" y="6879"/>
                    <a:pt x="8689" y="6879"/>
                  </a:cubicBezTo>
                  <a:lnTo>
                    <a:pt x="8689" y="6879"/>
                  </a:lnTo>
                  <a:cubicBezTo>
                    <a:pt x="8743" y="6879"/>
                    <a:pt x="8787" y="6834"/>
                    <a:pt x="8787" y="6780"/>
                  </a:cubicBezTo>
                  <a:lnTo>
                    <a:pt x="8787" y="6780"/>
                  </a:lnTo>
                  <a:cubicBezTo>
                    <a:pt x="8787" y="6763"/>
                    <a:pt x="8787" y="6754"/>
                    <a:pt x="8778" y="6736"/>
                  </a:cubicBezTo>
                  <a:lnTo>
                    <a:pt x="8778" y="6736"/>
                  </a:lnTo>
                  <a:lnTo>
                    <a:pt x="10438" y="5210"/>
                  </a:lnTo>
                  <a:cubicBezTo>
                    <a:pt x="10447" y="5219"/>
                    <a:pt x="10465" y="5228"/>
                    <a:pt x="10482" y="5228"/>
                  </a:cubicBezTo>
                  <a:lnTo>
                    <a:pt x="10482" y="5228"/>
                  </a:lnTo>
                  <a:cubicBezTo>
                    <a:pt x="10536" y="5228"/>
                    <a:pt x="10580" y="5184"/>
                    <a:pt x="10580" y="5130"/>
                  </a:cubicBezTo>
                  <a:lnTo>
                    <a:pt x="10580" y="5130"/>
                  </a:lnTo>
                  <a:cubicBezTo>
                    <a:pt x="10580" y="5103"/>
                    <a:pt x="10572" y="5077"/>
                    <a:pt x="10554" y="5059"/>
                  </a:cubicBezTo>
                  <a:lnTo>
                    <a:pt x="10554" y="5059"/>
                  </a:lnTo>
                  <a:lnTo>
                    <a:pt x="11330" y="3506"/>
                  </a:lnTo>
                  <a:cubicBezTo>
                    <a:pt x="11330" y="3506"/>
                    <a:pt x="11330" y="3506"/>
                    <a:pt x="11339" y="3506"/>
                  </a:cubicBezTo>
                  <a:lnTo>
                    <a:pt x="11339" y="3506"/>
                  </a:lnTo>
                  <a:cubicBezTo>
                    <a:pt x="11392" y="3506"/>
                    <a:pt x="11437" y="3462"/>
                    <a:pt x="11437" y="3408"/>
                  </a:cubicBezTo>
                  <a:lnTo>
                    <a:pt x="11437" y="3408"/>
                  </a:lnTo>
                  <a:cubicBezTo>
                    <a:pt x="11437" y="3364"/>
                    <a:pt x="11410" y="3328"/>
                    <a:pt x="11374" y="3310"/>
                  </a:cubicBezTo>
                  <a:lnTo>
                    <a:pt x="11374" y="3310"/>
                  </a:lnTo>
                  <a:cubicBezTo>
                    <a:pt x="11321" y="3052"/>
                    <a:pt x="11053" y="2418"/>
                    <a:pt x="10812" y="1856"/>
                  </a:cubicBezTo>
                  <a:lnTo>
                    <a:pt x="10812" y="1856"/>
                  </a:lnTo>
                  <a:cubicBezTo>
                    <a:pt x="10830" y="1838"/>
                    <a:pt x="10839" y="1811"/>
                    <a:pt x="10839" y="1785"/>
                  </a:cubicBezTo>
                  <a:lnTo>
                    <a:pt x="10839" y="1785"/>
                  </a:lnTo>
                  <a:cubicBezTo>
                    <a:pt x="10839" y="1731"/>
                    <a:pt x="10795" y="1687"/>
                    <a:pt x="10741" y="1687"/>
                  </a:cubicBezTo>
                  <a:lnTo>
                    <a:pt x="10741" y="1687"/>
                  </a:lnTo>
                  <a:cubicBezTo>
                    <a:pt x="10723" y="1687"/>
                    <a:pt x="10705" y="1696"/>
                    <a:pt x="10688" y="1704"/>
                  </a:cubicBezTo>
                  <a:lnTo>
                    <a:pt x="10688" y="1704"/>
                  </a:lnTo>
                  <a:lnTo>
                    <a:pt x="8877" y="536"/>
                  </a:lnTo>
                  <a:cubicBezTo>
                    <a:pt x="8877" y="527"/>
                    <a:pt x="8886" y="518"/>
                    <a:pt x="8886" y="509"/>
                  </a:cubicBezTo>
                  <a:lnTo>
                    <a:pt x="8886" y="509"/>
                  </a:lnTo>
                  <a:cubicBezTo>
                    <a:pt x="8886" y="456"/>
                    <a:pt x="8841" y="411"/>
                    <a:pt x="8778" y="411"/>
                  </a:cubicBezTo>
                  <a:lnTo>
                    <a:pt x="8778" y="411"/>
                  </a:lnTo>
                  <a:cubicBezTo>
                    <a:pt x="8752" y="411"/>
                    <a:pt x="8716" y="429"/>
                    <a:pt x="8698" y="456"/>
                  </a:cubicBezTo>
                  <a:lnTo>
                    <a:pt x="8698" y="456"/>
                  </a:lnTo>
                  <a:lnTo>
                    <a:pt x="7440" y="143"/>
                  </a:lnTo>
                  <a:cubicBezTo>
                    <a:pt x="7431" y="99"/>
                    <a:pt x="7387" y="63"/>
                    <a:pt x="7342" y="63"/>
                  </a:cubicBezTo>
                  <a:lnTo>
                    <a:pt x="7342" y="63"/>
                  </a:lnTo>
                  <a:cubicBezTo>
                    <a:pt x="7298" y="63"/>
                    <a:pt x="7262" y="90"/>
                    <a:pt x="7253" y="125"/>
                  </a:cubicBezTo>
                  <a:lnTo>
                    <a:pt x="7253" y="125"/>
                  </a:lnTo>
                  <a:cubicBezTo>
                    <a:pt x="7083" y="117"/>
                    <a:pt x="6736" y="117"/>
                    <a:pt x="5977" y="117"/>
                  </a:cubicBezTo>
                  <a:lnTo>
                    <a:pt x="5977" y="117"/>
                  </a:lnTo>
                  <a:cubicBezTo>
                    <a:pt x="5460" y="125"/>
                    <a:pt x="4942" y="125"/>
                    <a:pt x="4719" y="125"/>
                  </a:cubicBezTo>
                  <a:lnTo>
                    <a:pt x="4719" y="125"/>
                  </a:lnTo>
                  <a:cubicBezTo>
                    <a:pt x="4702" y="99"/>
                    <a:pt x="4666" y="81"/>
                    <a:pt x="4630" y="81"/>
                  </a:cubicBezTo>
                  <a:lnTo>
                    <a:pt x="4630" y="81"/>
                  </a:lnTo>
                  <a:cubicBezTo>
                    <a:pt x="4594" y="81"/>
                    <a:pt x="4568" y="99"/>
                    <a:pt x="4550" y="125"/>
                  </a:cubicBezTo>
                  <a:lnTo>
                    <a:pt x="4550" y="125"/>
                  </a:lnTo>
                  <a:lnTo>
                    <a:pt x="2891" y="1"/>
                  </a:lnTo>
                  <a:cubicBezTo>
                    <a:pt x="2891" y="1"/>
                    <a:pt x="2882" y="1"/>
                    <a:pt x="2882" y="1"/>
                  </a:cubicBezTo>
                  <a:lnTo>
                    <a:pt x="2882" y="1"/>
                  </a:lnTo>
                  <a:cubicBezTo>
                    <a:pt x="2873" y="1"/>
                    <a:pt x="2864" y="9"/>
                    <a:pt x="2855" y="18"/>
                  </a:cubicBezTo>
                  <a:moveTo>
                    <a:pt x="2132" y="1330"/>
                  </a:moveTo>
                  <a:cubicBezTo>
                    <a:pt x="2132" y="1330"/>
                    <a:pt x="2132" y="1330"/>
                    <a:pt x="2132" y="1321"/>
                  </a:cubicBezTo>
                  <a:lnTo>
                    <a:pt x="2132" y="1321"/>
                  </a:lnTo>
                  <a:cubicBezTo>
                    <a:pt x="2132" y="1303"/>
                    <a:pt x="2123" y="1276"/>
                    <a:pt x="2114" y="1258"/>
                  </a:cubicBezTo>
                  <a:lnTo>
                    <a:pt x="2114" y="1258"/>
                  </a:lnTo>
                  <a:lnTo>
                    <a:pt x="2899" y="63"/>
                  </a:lnTo>
                  <a:lnTo>
                    <a:pt x="4532" y="188"/>
                  </a:lnTo>
                  <a:cubicBezTo>
                    <a:pt x="4541" y="232"/>
                    <a:pt x="4586" y="277"/>
                    <a:pt x="4630" y="277"/>
                  </a:cubicBezTo>
                  <a:lnTo>
                    <a:pt x="4630" y="277"/>
                  </a:lnTo>
                  <a:lnTo>
                    <a:pt x="5719" y="2088"/>
                  </a:lnTo>
                  <a:cubicBezTo>
                    <a:pt x="5710" y="2097"/>
                    <a:pt x="5701" y="2106"/>
                    <a:pt x="5701" y="2115"/>
                  </a:cubicBezTo>
                  <a:lnTo>
                    <a:pt x="5701" y="2115"/>
                  </a:lnTo>
                  <a:lnTo>
                    <a:pt x="4755" y="2008"/>
                  </a:lnTo>
                  <a:cubicBezTo>
                    <a:pt x="4746" y="1963"/>
                    <a:pt x="4710" y="1936"/>
                    <a:pt x="4666" y="1936"/>
                  </a:cubicBezTo>
                  <a:lnTo>
                    <a:pt x="4666" y="1936"/>
                  </a:lnTo>
                  <a:cubicBezTo>
                    <a:pt x="4630" y="1936"/>
                    <a:pt x="4594" y="1945"/>
                    <a:pt x="4577" y="1972"/>
                  </a:cubicBezTo>
                  <a:lnTo>
                    <a:pt x="4577" y="1972"/>
                  </a:lnTo>
                  <a:close/>
                  <a:moveTo>
                    <a:pt x="4764" y="188"/>
                  </a:moveTo>
                  <a:cubicBezTo>
                    <a:pt x="5674" y="179"/>
                    <a:pt x="6869" y="179"/>
                    <a:pt x="7244" y="188"/>
                  </a:cubicBezTo>
                  <a:lnTo>
                    <a:pt x="7244" y="188"/>
                  </a:lnTo>
                  <a:cubicBezTo>
                    <a:pt x="7253" y="215"/>
                    <a:pt x="7271" y="232"/>
                    <a:pt x="7298" y="250"/>
                  </a:cubicBezTo>
                  <a:lnTo>
                    <a:pt x="7298" y="250"/>
                  </a:lnTo>
                  <a:cubicBezTo>
                    <a:pt x="7244" y="384"/>
                    <a:pt x="7155" y="634"/>
                    <a:pt x="7039" y="1000"/>
                  </a:cubicBezTo>
                  <a:lnTo>
                    <a:pt x="7039" y="1000"/>
                  </a:lnTo>
                  <a:cubicBezTo>
                    <a:pt x="7012" y="1000"/>
                    <a:pt x="6985" y="1018"/>
                    <a:pt x="6967" y="1035"/>
                  </a:cubicBezTo>
                  <a:lnTo>
                    <a:pt x="6967" y="1035"/>
                  </a:lnTo>
                  <a:close/>
                  <a:moveTo>
                    <a:pt x="7449" y="3132"/>
                  </a:moveTo>
                  <a:lnTo>
                    <a:pt x="7092" y="1187"/>
                  </a:lnTo>
                  <a:cubicBezTo>
                    <a:pt x="7119" y="1169"/>
                    <a:pt x="7146" y="1134"/>
                    <a:pt x="7146" y="1098"/>
                  </a:cubicBezTo>
                  <a:lnTo>
                    <a:pt x="7146" y="1098"/>
                  </a:lnTo>
                  <a:cubicBezTo>
                    <a:pt x="7146" y="1062"/>
                    <a:pt x="7128" y="1035"/>
                    <a:pt x="7101" y="1018"/>
                  </a:cubicBezTo>
                  <a:lnTo>
                    <a:pt x="7101" y="1018"/>
                  </a:lnTo>
                  <a:cubicBezTo>
                    <a:pt x="7191" y="750"/>
                    <a:pt x="7298" y="411"/>
                    <a:pt x="7351" y="259"/>
                  </a:cubicBezTo>
                  <a:lnTo>
                    <a:pt x="7351" y="259"/>
                  </a:lnTo>
                  <a:cubicBezTo>
                    <a:pt x="7387" y="250"/>
                    <a:pt x="7414" y="232"/>
                    <a:pt x="7422" y="206"/>
                  </a:cubicBezTo>
                  <a:lnTo>
                    <a:pt x="7422" y="206"/>
                  </a:lnTo>
                  <a:lnTo>
                    <a:pt x="8680" y="518"/>
                  </a:lnTo>
                  <a:cubicBezTo>
                    <a:pt x="8689" y="563"/>
                    <a:pt x="8725" y="598"/>
                    <a:pt x="8770" y="607"/>
                  </a:cubicBezTo>
                  <a:lnTo>
                    <a:pt x="8770" y="607"/>
                  </a:lnTo>
                  <a:lnTo>
                    <a:pt x="8912" y="1535"/>
                  </a:lnTo>
                  <a:cubicBezTo>
                    <a:pt x="8886" y="1553"/>
                    <a:pt x="8868" y="1580"/>
                    <a:pt x="8868" y="1615"/>
                  </a:cubicBezTo>
                  <a:lnTo>
                    <a:pt x="8868" y="1615"/>
                  </a:lnTo>
                  <a:cubicBezTo>
                    <a:pt x="8868" y="1633"/>
                    <a:pt x="8868" y="1651"/>
                    <a:pt x="8877" y="1660"/>
                  </a:cubicBezTo>
                  <a:lnTo>
                    <a:pt x="8877" y="1660"/>
                  </a:lnTo>
                  <a:lnTo>
                    <a:pt x="7485" y="3141"/>
                  </a:lnTo>
                  <a:cubicBezTo>
                    <a:pt x="7476" y="3132"/>
                    <a:pt x="7467" y="3132"/>
                    <a:pt x="7449" y="3132"/>
                  </a:cubicBezTo>
                  <a:close/>
                  <a:moveTo>
                    <a:pt x="4693" y="259"/>
                  </a:moveTo>
                  <a:cubicBezTo>
                    <a:pt x="4702" y="250"/>
                    <a:pt x="4710" y="241"/>
                    <a:pt x="4710" y="232"/>
                  </a:cubicBezTo>
                  <a:lnTo>
                    <a:pt x="4710" y="232"/>
                  </a:lnTo>
                  <a:lnTo>
                    <a:pt x="6950" y="1098"/>
                  </a:lnTo>
                  <a:cubicBezTo>
                    <a:pt x="6950" y="1098"/>
                    <a:pt x="6950" y="1098"/>
                    <a:pt x="6950" y="1098"/>
                  </a:cubicBezTo>
                  <a:lnTo>
                    <a:pt x="6950" y="1098"/>
                  </a:lnTo>
                  <a:cubicBezTo>
                    <a:pt x="6950" y="1107"/>
                    <a:pt x="6950" y="1125"/>
                    <a:pt x="6950" y="1134"/>
                  </a:cubicBezTo>
                  <a:lnTo>
                    <a:pt x="6950" y="1134"/>
                  </a:lnTo>
                  <a:lnTo>
                    <a:pt x="5835" y="2070"/>
                  </a:lnTo>
                  <a:cubicBezTo>
                    <a:pt x="5826" y="2061"/>
                    <a:pt x="5808" y="2061"/>
                    <a:pt x="5790" y="2061"/>
                  </a:cubicBezTo>
                  <a:lnTo>
                    <a:pt x="5790" y="2061"/>
                  </a:lnTo>
                  <a:cubicBezTo>
                    <a:pt x="5781" y="2061"/>
                    <a:pt x="5772" y="2061"/>
                    <a:pt x="5772" y="2061"/>
                  </a:cubicBezTo>
                  <a:lnTo>
                    <a:pt x="5772" y="2061"/>
                  </a:lnTo>
                  <a:close/>
                  <a:moveTo>
                    <a:pt x="9055" y="1588"/>
                  </a:moveTo>
                  <a:cubicBezTo>
                    <a:pt x="9046" y="1553"/>
                    <a:pt x="9019" y="1526"/>
                    <a:pt x="8975" y="1517"/>
                  </a:cubicBezTo>
                  <a:lnTo>
                    <a:pt x="8975" y="1517"/>
                  </a:lnTo>
                  <a:lnTo>
                    <a:pt x="8832" y="598"/>
                  </a:lnTo>
                  <a:cubicBezTo>
                    <a:pt x="8832" y="589"/>
                    <a:pt x="8841" y="589"/>
                    <a:pt x="8841" y="589"/>
                  </a:cubicBezTo>
                  <a:lnTo>
                    <a:pt x="8841" y="589"/>
                  </a:lnTo>
                  <a:lnTo>
                    <a:pt x="10598" y="1713"/>
                  </a:lnTo>
                  <a:cubicBezTo>
                    <a:pt x="10411" y="1696"/>
                    <a:pt x="9992" y="1660"/>
                    <a:pt x="9055" y="1588"/>
                  </a:cubicBezTo>
                  <a:close/>
                  <a:moveTo>
                    <a:pt x="5888" y="2159"/>
                  </a:moveTo>
                  <a:cubicBezTo>
                    <a:pt x="5888" y="2142"/>
                    <a:pt x="5888" y="2133"/>
                    <a:pt x="5879" y="2115"/>
                  </a:cubicBezTo>
                  <a:lnTo>
                    <a:pt x="5879" y="2115"/>
                  </a:lnTo>
                  <a:lnTo>
                    <a:pt x="6994" y="1178"/>
                  </a:lnTo>
                  <a:cubicBezTo>
                    <a:pt x="7003" y="1187"/>
                    <a:pt x="7021" y="1196"/>
                    <a:pt x="7030" y="1196"/>
                  </a:cubicBezTo>
                  <a:lnTo>
                    <a:pt x="7030" y="1196"/>
                  </a:lnTo>
                  <a:lnTo>
                    <a:pt x="7396" y="3141"/>
                  </a:lnTo>
                  <a:cubicBezTo>
                    <a:pt x="7360" y="3159"/>
                    <a:pt x="7342" y="3194"/>
                    <a:pt x="7342" y="3230"/>
                  </a:cubicBezTo>
                  <a:lnTo>
                    <a:pt x="7342" y="3230"/>
                  </a:lnTo>
                  <a:cubicBezTo>
                    <a:pt x="7342" y="3230"/>
                    <a:pt x="7342" y="3239"/>
                    <a:pt x="7342" y="3239"/>
                  </a:cubicBezTo>
                  <a:lnTo>
                    <a:pt x="7342" y="3239"/>
                  </a:lnTo>
                  <a:lnTo>
                    <a:pt x="4764" y="4488"/>
                  </a:lnTo>
                  <a:cubicBezTo>
                    <a:pt x="4746" y="4479"/>
                    <a:pt x="4728" y="4470"/>
                    <a:pt x="4710" y="4470"/>
                  </a:cubicBezTo>
                  <a:lnTo>
                    <a:pt x="4710" y="4470"/>
                  </a:lnTo>
                  <a:cubicBezTo>
                    <a:pt x="4710" y="4470"/>
                    <a:pt x="4710" y="4470"/>
                    <a:pt x="4710" y="4470"/>
                  </a:cubicBezTo>
                  <a:lnTo>
                    <a:pt x="4710" y="4470"/>
                  </a:lnTo>
                  <a:lnTo>
                    <a:pt x="4728" y="4274"/>
                  </a:lnTo>
                  <a:cubicBezTo>
                    <a:pt x="4773" y="4265"/>
                    <a:pt x="4809" y="4220"/>
                    <a:pt x="4809" y="4176"/>
                  </a:cubicBezTo>
                  <a:lnTo>
                    <a:pt x="4809" y="4176"/>
                  </a:lnTo>
                  <a:cubicBezTo>
                    <a:pt x="4809" y="4149"/>
                    <a:pt x="4791" y="4122"/>
                    <a:pt x="4773" y="4104"/>
                  </a:cubicBezTo>
                  <a:lnTo>
                    <a:pt x="4773" y="4104"/>
                  </a:lnTo>
                  <a:lnTo>
                    <a:pt x="5772" y="2249"/>
                  </a:lnTo>
                  <a:cubicBezTo>
                    <a:pt x="5772" y="2258"/>
                    <a:pt x="5781" y="2258"/>
                    <a:pt x="5790" y="2258"/>
                  </a:cubicBezTo>
                  <a:lnTo>
                    <a:pt x="5790" y="2258"/>
                  </a:lnTo>
                  <a:cubicBezTo>
                    <a:pt x="5843" y="2258"/>
                    <a:pt x="5888" y="2213"/>
                    <a:pt x="5888" y="2159"/>
                  </a:cubicBezTo>
                  <a:close/>
                  <a:moveTo>
                    <a:pt x="2132" y="1392"/>
                  </a:moveTo>
                  <a:lnTo>
                    <a:pt x="4568" y="2035"/>
                  </a:lnTo>
                  <a:cubicBezTo>
                    <a:pt x="4568" y="2052"/>
                    <a:pt x="4568" y="2061"/>
                    <a:pt x="4577" y="2070"/>
                  </a:cubicBezTo>
                  <a:lnTo>
                    <a:pt x="4577" y="2070"/>
                  </a:lnTo>
                  <a:lnTo>
                    <a:pt x="3711" y="2909"/>
                  </a:lnTo>
                  <a:cubicBezTo>
                    <a:pt x="3702" y="2900"/>
                    <a:pt x="3693" y="2900"/>
                    <a:pt x="3676" y="2900"/>
                  </a:cubicBezTo>
                  <a:lnTo>
                    <a:pt x="3676" y="2900"/>
                  </a:lnTo>
                  <a:cubicBezTo>
                    <a:pt x="3667" y="2900"/>
                    <a:pt x="3649" y="2900"/>
                    <a:pt x="3640" y="2900"/>
                  </a:cubicBezTo>
                  <a:lnTo>
                    <a:pt x="3640" y="2900"/>
                  </a:lnTo>
                  <a:close/>
                  <a:moveTo>
                    <a:pt x="500" y="2998"/>
                  </a:moveTo>
                  <a:lnTo>
                    <a:pt x="500" y="2998"/>
                  </a:lnTo>
                  <a:lnTo>
                    <a:pt x="500" y="2998"/>
                  </a:lnTo>
                  <a:cubicBezTo>
                    <a:pt x="500" y="2980"/>
                    <a:pt x="500" y="2962"/>
                    <a:pt x="482" y="2944"/>
                  </a:cubicBezTo>
                  <a:lnTo>
                    <a:pt x="482" y="2944"/>
                  </a:lnTo>
                  <a:lnTo>
                    <a:pt x="1998" y="1410"/>
                  </a:lnTo>
                  <a:cubicBezTo>
                    <a:pt x="2007" y="1419"/>
                    <a:pt x="2025" y="1419"/>
                    <a:pt x="2034" y="1419"/>
                  </a:cubicBezTo>
                  <a:lnTo>
                    <a:pt x="2034" y="1419"/>
                  </a:lnTo>
                  <a:cubicBezTo>
                    <a:pt x="2043" y="1419"/>
                    <a:pt x="2052" y="1419"/>
                    <a:pt x="2061" y="1419"/>
                  </a:cubicBezTo>
                  <a:lnTo>
                    <a:pt x="2061" y="1419"/>
                  </a:lnTo>
                  <a:lnTo>
                    <a:pt x="3595" y="2944"/>
                  </a:lnTo>
                  <a:cubicBezTo>
                    <a:pt x="3586" y="2962"/>
                    <a:pt x="3577" y="2980"/>
                    <a:pt x="3577" y="2998"/>
                  </a:cubicBezTo>
                  <a:lnTo>
                    <a:pt x="3577" y="2998"/>
                  </a:lnTo>
                  <a:cubicBezTo>
                    <a:pt x="3577" y="3025"/>
                    <a:pt x="3586" y="3052"/>
                    <a:pt x="3613" y="3069"/>
                  </a:cubicBezTo>
                  <a:lnTo>
                    <a:pt x="3613" y="3069"/>
                  </a:lnTo>
                  <a:lnTo>
                    <a:pt x="3140" y="4193"/>
                  </a:lnTo>
                  <a:cubicBezTo>
                    <a:pt x="3131" y="4193"/>
                    <a:pt x="3123" y="4193"/>
                    <a:pt x="3114" y="4193"/>
                  </a:cubicBezTo>
                  <a:lnTo>
                    <a:pt x="3114" y="4193"/>
                  </a:lnTo>
                  <a:cubicBezTo>
                    <a:pt x="3105" y="4193"/>
                    <a:pt x="3087" y="4193"/>
                    <a:pt x="3078" y="4193"/>
                  </a:cubicBezTo>
                  <a:lnTo>
                    <a:pt x="3078" y="4193"/>
                  </a:lnTo>
                  <a:close/>
                  <a:moveTo>
                    <a:pt x="9055" y="1651"/>
                  </a:moveTo>
                  <a:cubicBezTo>
                    <a:pt x="9626" y="1696"/>
                    <a:pt x="10384" y="1749"/>
                    <a:pt x="10643" y="1785"/>
                  </a:cubicBezTo>
                  <a:lnTo>
                    <a:pt x="10643" y="1785"/>
                  </a:lnTo>
                  <a:lnTo>
                    <a:pt x="10643" y="1785"/>
                  </a:lnTo>
                  <a:lnTo>
                    <a:pt x="10643" y="1785"/>
                  </a:lnTo>
                  <a:cubicBezTo>
                    <a:pt x="10643" y="1811"/>
                    <a:pt x="10652" y="1838"/>
                    <a:pt x="10670" y="1856"/>
                  </a:cubicBezTo>
                  <a:lnTo>
                    <a:pt x="10670" y="1856"/>
                  </a:lnTo>
                  <a:lnTo>
                    <a:pt x="9751" y="3979"/>
                  </a:lnTo>
                  <a:cubicBezTo>
                    <a:pt x="9742" y="3979"/>
                    <a:pt x="9742" y="3979"/>
                    <a:pt x="9742" y="3979"/>
                  </a:cubicBezTo>
                  <a:lnTo>
                    <a:pt x="9742" y="3979"/>
                  </a:lnTo>
                  <a:cubicBezTo>
                    <a:pt x="9706" y="3979"/>
                    <a:pt x="9679" y="3988"/>
                    <a:pt x="9662" y="4015"/>
                  </a:cubicBezTo>
                  <a:lnTo>
                    <a:pt x="9662" y="4015"/>
                  </a:lnTo>
                  <a:lnTo>
                    <a:pt x="7538" y="3230"/>
                  </a:lnTo>
                  <a:cubicBezTo>
                    <a:pt x="7538" y="3230"/>
                    <a:pt x="7538" y="3230"/>
                    <a:pt x="7538" y="3230"/>
                  </a:cubicBezTo>
                  <a:lnTo>
                    <a:pt x="7538" y="3230"/>
                  </a:lnTo>
                  <a:cubicBezTo>
                    <a:pt x="7538" y="3212"/>
                    <a:pt x="7530" y="3194"/>
                    <a:pt x="7530" y="3185"/>
                  </a:cubicBezTo>
                  <a:lnTo>
                    <a:pt x="7530" y="3185"/>
                  </a:lnTo>
                  <a:lnTo>
                    <a:pt x="8921" y="1704"/>
                  </a:lnTo>
                  <a:cubicBezTo>
                    <a:pt x="8930" y="1713"/>
                    <a:pt x="8948" y="1713"/>
                    <a:pt x="8966" y="1713"/>
                  </a:cubicBezTo>
                  <a:lnTo>
                    <a:pt x="8966" y="1713"/>
                  </a:lnTo>
                  <a:cubicBezTo>
                    <a:pt x="9001" y="1713"/>
                    <a:pt x="9037" y="1687"/>
                    <a:pt x="9055" y="1651"/>
                  </a:cubicBezTo>
                  <a:moveTo>
                    <a:pt x="10759" y="1883"/>
                  </a:moveTo>
                  <a:cubicBezTo>
                    <a:pt x="10759" y="1883"/>
                    <a:pt x="10759" y="1883"/>
                    <a:pt x="10759" y="1883"/>
                  </a:cubicBezTo>
                  <a:lnTo>
                    <a:pt x="10759" y="1883"/>
                  </a:lnTo>
                  <a:cubicBezTo>
                    <a:pt x="10857" y="2133"/>
                    <a:pt x="11098" y="2811"/>
                    <a:pt x="11276" y="3328"/>
                  </a:cubicBezTo>
                  <a:lnTo>
                    <a:pt x="11276" y="3328"/>
                  </a:lnTo>
                  <a:cubicBezTo>
                    <a:pt x="11258" y="3337"/>
                    <a:pt x="11250" y="3364"/>
                    <a:pt x="11241" y="3382"/>
                  </a:cubicBezTo>
                  <a:lnTo>
                    <a:pt x="11241" y="3382"/>
                  </a:lnTo>
                  <a:cubicBezTo>
                    <a:pt x="10928" y="3453"/>
                    <a:pt x="10126" y="3845"/>
                    <a:pt x="9813" y="4006"/>
                  </a:cubicBezTo>
                  <a:lnTo>
                    <a:pt x="9813" y="4006"/>
                  </a:lnTo>
                  <a:cubicBezTo>
                    <a:pt x="9804" y="4006"/>
                    <a:pt x="9804" y="4006"/>
                    <a:pt x="9804" y="4006"/>
                  </a:cubicBezTo>
                  <a:lnTo>
                    <a:pt x="9804" y="4006"/>
                  </a:lnTo>
                  <a:lnTo>
                    <a:pt x="10732" y="1883"/>
                  </a:lnTo>
                  <a:cubicBezTo>
                    <a:pt x="10732" y="1883"/>
                    <a:pt x="10741" y="1883"/>
                    <a:pt x="10741" y="1883"/>
                  </a:cubicBezTo>
                  <a:lnTo>
                    <a:pt x="10741" y="1883"/>
                  </a:lnTo>
                  <a:cubicBezTo>
                    <a:pt x="10750" y="1883"/>
                    <a:pt x="10750" y="1883"/>
                    <a:pt x="10759" y="1883"/>
                  </a:cubicBezTo>
                  <a:close/>
                  <a:moveTo>
                    <a:pt x="4755" y="2070"/>
                  </a:moveTo>
                  <a:lnTo>
                    <a:pt x="5692" y="2177"/>
                  </a:lnTo>
                  <a:cubicBezTo>
                    <a:pt x="5692" y="2195"/>
                    <a:pt x="5701" y="2213"/>
                    <a:pt x="5719" y="2222"/>
                  </a:cubicBezTo>
                  <a:lnTo>
                    <a:pt x="5719" y="2222"/>
                  </a:lnTo>
                  <a:lnTo>
                    <a:pt x="4719" y="4077"/>
                  </a:lnTo>
                  <a:cubicBezTo>
                    <a:pt x="4719" y="4077"/>
                    <a:pt x="4710" y="4077"/>
                    <a:pt x="4710" y="4077"/>
                  </a:cubicBezTo>
                  <a:lnTo>
                    <a:pt x="4710" y="4077"/>
                  </a:lnTo>
                  <a:cubicBezTo>
                    <a:pt x="4693" y="4077"/>
                    <a:pt x="4684" y="4077"/>
                    <a:pt x="4666" y="4086"/>
                  </a:cubicBezTo>
                  <a:lnTo>
                    <a:pt x="4666" y="4086"/>
                  </a:lnTo>
                  <a:lnTo>
                    <a:pt x="3765" y="3043"/>
                  </a:lnTo>
                  <a:cubicBezTo>
                    <a:pt x="3774" y="3025"/>
                    <a:pt x="3774" y="3007"/>
                    <a:pt x="3774" y="2998"/>
                  </a:cubicBezTo>
                  <a:lnTo>
                    <a:pt x="3774" y="2998"/>
                  </a:lnTo>
                  <a:cubicBezTo>
                    <a:pt x="3774" y="2980"/>
                    <a:pt x="3774" y="2962"/>
                    <a:pt x="3765" y="2944"/>
                  </a:cubicBezTo>
                  <a:lnTo>
                    <a:pt x="3765" y="2944"/>
                  </a:lnTo>
                  <a:lnTo>
                    <a:pt x="4621" y="2115"/>
                  </a:lnTo>
                  <a:cubicBezTo>
                    <a:pt x="4630" y="2124"/>
                    <a:pt x="4648" y="2133"/>
                    <a:pt x="4666" y="2133"/>
                  </a:cubicBezTo>
                  <a:lnTo>
                    <a:pt x="4666" y="2133"/>
                  </a:lnTo>
                  <a:cubicBezTo>
                    <a:pt x="4702" y="2133"/>
                    <a:pt x="4737" y="2106"/>
                    <a:pt x="4755" y="2070"/>
                  </a:cubicBezTo>
                  <a:close/>
                  <a:moveTo>
                    <a:pt x="1017" y="4862"/>
                  </a:moveTo>
                  <a:lnTo>
                    <a:pt x="464" y="3069"/>
                  </a:lnTo>
                  <a:cubicBezTo>
                    <a:pt x="473" y="3069"/>
                    <a:pt x="473" y="3060"/>
                    <a:pt x="482" y="3052"/>
                  </a:cubicBezTo>
                  <a:lnTo>
                    <a:pt x="482" y="3052"/>
                  </a:lnTo>
                  <a:lnTo>
                    <a:pt x="3024" y="4238"/>
                  </a:lnTo>
                  <a:cubicBezTo>
                    <a:pt x="3024" y="4247"/>
                    <a:pt x="3015" y="4265"/>
                    <a:pt x="3015" y="4274"/>
                  </a:cubicBezTo>
                  <a:lnTo>
                    <a:pt x="3015" y="4274"/>
                  </a:lnTo>
                  <a:lnTo>
                    <a:pt x="1089" y="4898"/>
                  </a:lnTo>
                  <a:cubicBezTo>
                    <a:pt x="1071" y="4871"/>
                    <a:pt x="1044" y="4862"/>
                    <a:pt x="1017" y="4862"/>
                  </a:cubicBezTo>
                  <a:close/>
                  <a:moveTo>
                    <a:pt x="3720" y="3087"/>
                  </a:moveTo>
                  <a:lnTo>
                    <a:pt x="4621" y="4131"/>
                  </a:lnTo>
                  <a:cubicBezTo>
                    <a:pt x="4612" y="4140"/>
                    <a:pt x="4612" y="4158"/>
                    <a:pt x="4612" y="4176"/>
                  </a:cubicBezTo>
                  <a:lnTo>
                    <a:pt x="4612" y="4176"/>
                  </a:lnTo>
                  <a:cubicBezTo>
                    <a:pt x="4612" y="4211"/>
                    <a:pt x="4630" y="4247"/>
                    <a:pt x="4666" y="4265"/>
                  </a:cubicBezTo>
                  <a:lnTo>
                    <a:pt x="4666" y="4265"/>
                  </a:lnTo>
                  <a:lnTo>
                    <a:pt x="4639" y="4497"/>
                  </a:lnTo>
                  <a:cubicBezTo>
                    <a:pt x="4621" y="4515"/>
                    <a:pt x="4612" y="4541"/>
                    <a:pt x="4612" y="4568"/>
                  </a:cubicBezTo>
                  <a:lnTo>
                    <a:pt x="4612" y="4568"/>
                  </a:lnTo>
                  <a:cubicBezTo>
                    <a:pt x="4612" y="4568"/>
                    <a:pt x="4612" y="4568"/>
                    <a:pt x="4612" y="4568"/>
                  </a:cubicBezTo>
                  <a:lnTo>
                    <a:pt x="4612" y="4568"/>
                  </a:lnTo>
                  <a:lnTo>
                    <a:pt x="2418" y="6156"/>
                  </a:lnTo>
                  <a:lnTo>
                    <a:pt x="3131" y="4390"/>
                  </a:lnTo>
                  <a:cubicBezTo>
                    <a:pt x="3176" y="4381"/>
                    <a:pt x="3212" y="4336"/>
                    <a:pt x="3212" y="4292"/>
                  </a:cubicBezTo>
                  <a:lnTo>
                    <a:pt x="3212" y="4292"/>
                  </a:lnTo>
                  <a:cubicBezTo>
                    <a:pt x="3212" y="4265"/>
                    <a:pt x="3203" y="4247"/>
                    <a:pt x="3194" y="4229"/>
                  </a:cubicBezTo>
                  <a:lnTo>
                    <a:pt x="3194" y="4229"/>
                  </a:lnTo>
                  <a:lnTo>
                    <a:pt x="3667" y="3096"/>
                  </a:lnTo>
                  <a:cubicBezTo>
                    <a:pt x="3667" y="3096"/>
                    <a:pt x="3676" y="3096"/>
                    <a:pt x="3676" y="3096"/>
                  </a:cubicBezTo>
                  <a:lnTo>
                    <a:pt x="3676" y="3096"/>
                  </a:lnTo>
                  <a:cubicBezTo>
                    <a:pt x="3693" y="3096"/>
                    <a:pt x="3711" y="3087"/>
                    <a:pt x="3720" y="3087"/>
                  </a:cubicBezTo>
                  <a:moveTo>
                    <a:pt x="187" y="4889"/>
                  </a:moveTo>
                  <a:cubicBezTo>
                    <a:pt x="179" y="4862"/>
                    <a:pt x="152" y="4836"/>
                    <a:pt x="125" y="4827"/>
                  </a:cubicBezTo>
                  <a:lnTo>
                    <a:pt x="125" y="4827"/>
                  </a:lnTo>
                  <a:lnTo>
                    <a:pt x="411" y="3123"/>
                  </a:lnTo>
                  <a:lnTo>
                    <a:pt x="955" y="4880"/>
                  </a:lnTo>
                  <a:cubicBezTo>
                    <a:pt x="946" y="4889"/>
                    <a:pt x="928" y="4907"/>
                    <a:pt x="919" y="4916"/>
                  </a:cubicBezTo>
                  <a:lnTo>
                    <a:pt x="919" y="4916"/>
                  </a:lnTo>
                  <a:close/>
                  <a:moveTo>
                    <a:pt x="7512" y="3292"/>
                  </a:moveTo>
                  <a:lnTo>
                    <a:pt x="9608" y="4060"/>
                  </a:lnTo>
                  <a:lnTo>
                    <a:pt x="7654" y="4345"/>
                  </a:lnTo>
                  <a:cubicBezTo>
                    <a:pt x="7637" y="4318"/>
                    <a:pt x="7610" y="4300"/>
                    <a:pt x="7574" y="4300"/>
                  </a:cubicBezTo>
                  <a:lnTo>
                    <a:pt x="7574" y="4300"/>
                  </a:lnTo>
                  <a:cubicBezTo>
                    <a:pt x="7530" y="4300"/>
                    <a:pt x="7494" y="4327"/>
                    <a:pt x="7476" y="4363"/>
                  </a:cubicBezTo>
                  <a:lnTo>
                    <a:pt x="7476" y="4363"/>
                  </a:lnTo>
                  <a:lnTo>
                    <a:pt x="4826" y="4532"/>
                  </a:lnTo>
                  <a:lnTo>
                    <a:pt x="7369" y="3292"/>
                  </a:lnTo>
                  <a:cubicBezTo>
                    <a:pt x="7387" y="3310"/>
                    <a:pt x="7414" y="3328"/>
                    <a:pt x="7440" y="3328"/>
                  </a:cubicBezTo>
                  <a:lnTo>
                    <a:pt x="7440" y="3328"/>
                  </a:lnTo>
                  <a:cubicBezTo>
                    <a:pt x="7467" y="3328"/>
                    <a:pt x="7494" y="3310"/>
                    <a:pt x="7512" y="3292"/>
                  </a:cubicBezTo>
                  <a:close/>
                  <a:moveTo>
                    <a:pt x="9822" y="4131"/>
                  </a:moveTo>
                  <a:cubicBezTo>
                    <a:pt x="9831" y="4122"/>
                    <a:pt x="9840" y="4095"/>
                    <a:pt x="9840" y="4077"/>
                  </a:cubicBezTo>
                  <a:lnTo>
                    <a:pt x="9840" y="4077"/>
                  </a:lnTo>
                  <a:cubicBezTo>
                    <a:pt x="9840" y="4069"/>
                    <a:pt x="9840" y="4069"/>
                    <a:pt x="9840" y="4060"/>
                  </a:cubicBezTo>
                  <a:lnTo>
                    <a:pt x="9840" y="4060"/>
                  </a:lnTo>
                  <a:cubicBezTo>
                    <a:pt x="10420" y="3774"/>
                    <a:pt x="11027" y="3498"/>
                    <a:pt x="11250" y="3444"/>
                  </a:cubicBezTo>
                  <a:lnTo>
                    <a:pt x="11250" y="3444"/>
                  </a:lnTo>
                  <a:cubicBezTo>
                    <a:pt x="11250" y="3453"/>
                    <a:pt x="11258" y="3462"/>
                    <a:pt x="11267" y="3471"/>
                  </a:cubicBezTo>
                  <a:lnTo>
                    <a:pt x="11267" y="3471"/>
                  </a:lnTo>
                  <a:lnTo>
                    <a:pt x="10500" y="5032"/>
                  </a:lnTo>
                  <a:cubicBezTo>
                    <a:pt x="10491" y="5032"/>
                    <a:pt x="10491" y="5032"/>
                    <a:pt x="10482" y="5032"/>
                  </a:cubicBezTo>
                  <a:lnTo>
                    <a:pt x="10482" y="5032"/>
                  </a:lnTo>
                  <a:cubicBezTo>
                    <a:pt x="10473" y="5032"/>
                    <a:pt x="10465" y="5032"/>
                    <a:pt x="10456" y="5032"/>
                  </a:cubicBezTo>
                  <a:lnTo>
                    <a:pt x="10456" y="5032"/>
                  </a:lnTo>
                  <a:close/>
                  <a:moveTo>
                    <a:pt x="7672" y="4408"/>
                  </a:moveTo>
                  <a:lnTo>
                    <a:pt x="9260" y="4176"/>
                  </a:lnTo>
                  <a:lnTo>
                    <a:pt x="9564" y="4131"/>
                  </a:lnTo>
                  <a:lnTo>
                    <a:pt x="6843" y="5567"/>
                  </a:lnTo>
                  <a:lnTo>
                    <a:pt x="7530" y="4488"/>
                  </a:lnTo>
                  <a:cubicBezTo>
                    <a:pt x="7547" y="4488"/>
                    <a:pt x="7556" y="4497"/>
                    <a:pt x="7574" y="4497"/>
                  </a:cubicBezTo>
                  <a:lnTo>
                    <a:pt x="7574" y="4497"/>
                  </a:lnTo>
                  <a:cubicBezTo>
                    <a:pt x="7619" y="4497"/>
                    <a:pt x="7663" y="4452"/>
                    <a:pt x="7672" y="4408"/>
                  </a:cubicBezTo>
                  <a:moveTo>
                    <a:pt x="6860" y="5674"/>
                  </a:moveTo>
                  <a:cubicBezTo>
                    <a:pt x="6860" y="5674"/>
                    <a:pt x="6860" y="5665"/>
                    <a:pt x="6860" y="5656"/>
                  </a:cubicBezTo>
                  <a:lnTo>
                    <a:pt x="6860" y="5656"/>
                  </a:lnTo>
                  <a:cubicBezTo>
                    <a:pt x="6860" y="5648"/>
                    <a:pt x="6860" y="5639"/>
                    <a:pt x="6860" y="5630"/>
                  </a:cubicBezTo>
                  <a:lnTo>
                    <a:pt x="6860" y="5630"/>
                  </a:lnTo>
                  <a:lnTo>
                    <a:pt x="9671" y="4149"/>
                  </a:lnTo>
                  <a:cubicBezTo>
                    <a:pt x="9671" y="4149"/>
                    <a:pt x="9679" y="4149"/>
                    <a:pt x="9679" y="4149"/>
                  </a:cubicBezTo>
                  <a:lnTo>
                    <a:pt x="9679" y="4149"/>
                  </a:lnTo>
                  <a:lnTo>
                    <a:pt x="8689" y="6682"/>
                  </a:lnTo>
                  <a:cubicBezTo>
                    <a:pt x="8689" y="6682"/>
                    <a:pt x="8689" y="6682"/>
                    <a:pt x="8689" y="6682"/>
                  </a:cubicBezTo>
                  <a:lnTo>
                    <a:pt x="8689" y="6682"/>
                  </a:lnTo>
                  <a:cubicBezTo>
                    <a:pt x="8662" y="6682"/>
                    <a:pt x="8645" y="6691"/>
                    <a:pt x="8627" y="6700"/>
                  </a:cubicBezTo>
                  <a:lnTo>
                    <a:pt x="8627" y="6700"/>
                  </a:lnTo>
                  <a:close/>
                  <a:moveTo>
                    <a:pt x="9769" y="4167"/>
                  </a:moveTo>
                  <a:lnTo>
                    <a:pt x="10402" y="5068"/>
                  </a:lnTo>
                  <a:cubicBezTo>
                    <a:pt x="10393" y="5086"/>
                    <a:pt x="10384" y="5103"/>
                    <a:pt x="10384" y="5130"/>
                  </a:cubicBezTo>
                  <a:lnTo>
                    <a:pt x="10384" y="5130"/>
                  </a:lnTo>
                  <a:cubicBezTo>
                    <a:pt x="10384" y="5139"/>
                    <a:pt x="10384" y="5157"/>
                    <a:pt x="10393" y="5166"/>
                  </a:cubicBezTo>
                  <a:lnTo>
                    <a:pt x="10393" y="5166"/>
                  </a:lnTo>
                  <a:lnTo>
                    <a:pt x="8770" y="6665"/>
                  </a:lnTo>
                  <a:lnTo>
                    <a:pt x="9733" y="4176"/>
                  </a:lnTo>
                  <a:cubicBezTo>
                    <a:pt x="9733" y="4176"/>
                    <a:pt x="9742" y="4176"/>
                    <a:pt x="9742" y="4176"/>
                  </a:cubicBezTo>
                  <a:lnTo>
                    <a:pt x="9742" y="4176"/>
                  </a:lnTo>
                  <a:cubicBezTo>
                    <a:pt x="9751" y="4176"/>
                    <a:pt x="9760" y="4176"/>
                    <a:pt x="9769" y="4167"/>
                  </a:cubicBezTo>
                  <a:moveTo>
                    <a:pt x="812" y="6343"/>
                  </a:moveTo>
                  <a:cubicBezTo>
                    <a:pt x="821" y="6334"/>
                    <a:pt x="821" y="6317"/>
                    <a:pt x="821" y="6308"/>
                  </a:cubicBezTo>
                  <a:lnTo>
                    <a:pt x="821" y="6308"/>
                  </a:lnTo>
                  <a:cubicBezTo>
                    <a:pt x="821" y="6272"/>
                    <a:pt x="812" y="6254"/>
                    <a:pt x="794" y="6236"/>
                  </a:cubicBezTo>
                  <a:lnTo>
                    <a:pt x="794" y="6236"/>
                  </a:lnTo>
                  <a:lnTo>
                    <a:pt x="1026" y="5059"/>
                  </a:lnTo>
                  <a:cubicBezTo>
                    <a:pt x="1071" y="5050"/>
                    <a:pt x="1115" y="5014"/>
                    <a:pt x="1115" y="4961"/>
                  </a:cubicBezTo>
                  <a:lnTo>
                    <a:pt x="1115" y="4961"/>
                  </a:lnTo>
                  <a:cubicBezTo>
                    <a:pt x="1115" y="4961"/>
                    <a:pt x="1115" y="4961"/>
                    <a:pt x="1115" y="4952"/>
                  </a:cubicBezTo>
                  <a:lnTo>
                    <a:pt x="1115" y="4952"/>
                  </a:lnTo>
                  <a:lnTo>
                    <a:pt x="3024" y="4336"/>
                  </a:lnTo>
                  <a:cubicBezTo>
                    <a:pt x="3033" y="4354"/>
                    <a:pt x="3051" y="4363"/>
                    <a:pt x="3069" y="4372"/>
                  </a:cubicBezTo>
                  <a:lnTo>
                    <a:pt x="3069" y="4372"/>
                  </a:lnTo>
                  <a:lnTo>
                    <a:pt x="2355" y="6138"/>
                  </a:lnTo>
                  <a:cubicBezTo>
                    <a:pt x="2346" y="6138"/>
                    <a:pt x="2346" y="6138"/>
                    <a:pt x="2346" y="6138"/>
                  </a:cubicBezTo>
                  <a:lnTo>
                    <a:pt x="2346" y="6138"/>
                  </a:lnTo>
                  <a:cubicBezTo>
                    <a:pt x="2293" y="6138"/>
                    <a:pt x="2248" y="6183"/>
                    <a:pt x="2248" y="6236"/>
                  </a:cubicBezTo>
                  <a:lnTo>
                    <a:pt x="2248" y="6236"/>
                  </a:lnTo>
                  <a:cubicBezTo>
                    <a:pt x="2248" y="6281"/>
                    <a:pt x="2275" y="6326"/>
                    <a:pt x="2320" y="6334"/>
                  </a:cubicBezTo>
                  <a:lnTo>
                    <a:pt x="2320" y="6334"/>
                  </a:lnTo>
                  <a:lnTo>
                    <a:pt x="2453" y="7423"/>
                  </a:lnTo>
                  <a:cubicBezTo>
                    <a:pt x="2453" y="7423"/>
                    <a:pt x="2453" y="7423"/>
                    <a:pt x="2453" y="7423"/>
                  </a:cubicBezTo>
                  <a:lnTo>
                    <a:pt x="2453" y="7423"/>
                  </a:lnTo>
                  <a:cubicBezTo>
                    <a:pt x="2195" y="7209"/>
                    <a:pt x="1374" y="6691"/>
                    <a:pt x="812" y="6343"/>
                  </a:cubicBezTo>
                  <a:moveTo>
                    <a:pt x="4800" y="4604"/>
                  </a:moveTo>
                  <a:cubicBezTo>
                    <a:pt x="4800" y="4604"/>
                    <a:pt x="4800" y="4595"/>
                    <a:pt x="4800" y="4595"/>
                  </a:cubicBezTo>
                  <a:lnTo>
                    <a:pt x="4800" y="4595"/>
                  </a:lnTo>
                  <a:lnTo>
                    <a:pt x="7476" y="4425"/>
                  </a:lnTo>
                  <a:cubicBezTo>
                    <a:pt x="7476" y="4434"/>
                    <a:pt x="7485" y="4443"/>
                    <a:pt x="7485" y="4443"/>
                  </a:cubicBezTo>
                  <a:lnTo>
                    <a:pt x="7485" y="4443"/>
                  </a:lnTo>
                  <a:lnTo>
                    <a:pt x="6771" y="5558"/>
                  </a:lnTo>
                  <a:cubicBezTo>
                    <a:pt x="6771" y="5558"/>
                    <a:pt x="6762" y="5558"/>
                    <a:pt x="6762" y="5558"/>
                  </a:cubicBezTo>
                  <a:lnTo>
                    <a:pt x="6762" y="5558"/>
                  </a:lnTo>
                  <a:cubicBezTo>
                    <a:pt x="6736" y="5558"/>
                    <a:pt x="6709" y="5567"/>
                    <a:pt x="6691" y="5585"/>
                  </a:cubicBezTo>
                  <a:lnTo>
                    <a:pt x="6691" y="5585"/>
                  </a:lnTo>
                  <a:close/>
                  <a:moveTo>
                    <a:pt x="2445" y="6236"/>
                  </a:moveTo>
                  <a:cubicBezTo>
                    <a:pt x="2445" y="6236"/>
                    <a:pt x="2445" y="6236"/>
                    <a:pt x="2445" y="6236"/>
                  </a:cubicBezTo>
                  <a:lnTo>
                    <a:pt x="2445" y="6236"/>
                  </a:lnTo>
                  <a:cubicBezTo>
                    <a:pt x="2445" y="6227"/>
                    <a:pt x="2445" y="6227"/>
                    <a:pt x="2445" y="6218"/>
                  </a:cubicBezTo>
                  <a:lnTo>
                    <a:pt x="2445" y="6218"/>
                  </a:lnTo>
                  <a:lnTo>
                    <a:pt x="4630" y="4631"/>
                  </a:lnTo>
                  <a:cubicBezTo>
                    <a:pt x="4648" y="4648"/>
                    <a:pt x="4666" y="4657"/>
                    <a:pt x="4693" y="4666"/>
                  </a:cubicBezTo>
                  <a:lnTo>
                    <a:pt x="4693" y="4666"/>
                  </a:lnTo>
                  <a:lnTo>
                    <a:pt x="6343" y="7048"/>
                  </a:lnTo>
                  <a:cubicBezTo>
                    <a:pt x="6343" y="7048"/>
                    <a:pt x="6343" y="7057"/>
                    <a:pt x="6334" y="7057"/>
                  </a:cubicBezTo>
                  <a:lnTo>
                    <a:pt x="6334" y="7057"/>
                  </a:lnTo>
                  <a:close/>
                  <a:moveTo>
                    <a:pt x="4764" y="4657"/>
                  </a:moveTo>
                  <a:lnTo>
                    <a:pt x="6664" y="5639"/>
                  </a:lnTo>
                  <a:cubicBezTo>
                    <a:pt x="6664" y="5648"/>
                    <a:pt x="6664" y="5656"/>
                    <a:pt x="6664" y="5656"/>
                  </a:cubicBezTo>
                  <a:lnTo>
                    <a:pt x="6664" y="5656"/>
                  </a:lnTo>
                  <a:cubicBezTo>
                    <a:pt x="6664" y="5692"/>
                    <a:pt x="6682" y="5719"/>
                    <a:pt x="6700" y="5737"/>
                  </a:cubicBezTo>
                  <a:lnTo>
                    <a:pt x="6700" y="5737"/>
                  </a:lnTo>
                  <a:lnTo>
                    <a:pt x="6397" y="7012"/>
                  </a:lnTo>
                  <a:cubicBezTo>
                    <a:pt x="6397" y="7012"/>
                    <a:pt x="6397" y="7012"/>
                    <a:pt x="6397" y="7012"/>
                  </a:cubicBezTo>
                  <a:lnTo>
                    <a:pt x="6397" y="7012"/>
                  </a:lnTo>
                  <a:close/>
                  <a:moveTo>
                    <a:pt x="152" y="5005"/>
                  </a:moveTo>
                  <a:cubicBezTo>
                    <a:pt x="170" y="4987"/>
                    <a:pt x="179" y="4970"/>
                    <a:pt x="187" y="4952"/>
                  </a:cubicBezTo>
                  <a:lnTo>
                    <a:pt x="187" y="4952"/>
                  </a:lnTo>
                  <a:lnTo>
                    <a:pt x="919" y="4978"/>
                  </a:lnTo>
                  <a:cubicBezTo>
                    <a:pt x="919" y="5005"/>
                    <a:pt x="937" y="5032"/>
                    <a:pt x="964" y="5041"/>
                  </a:cubicBezTo>
                  <a:lnTo>
                    <a:pt x="964" y="5041"/>
                  </a:lnTo>
                  <a:lnTo>
                    <a:pt x="732" y="6210"/>
                  </a:lnTo>
                  <a:cubicBezTo>
                    <a:pt x="732" y="6210"/>
                    <a:pt x="723" y="6201"/>
                    <a:pt x="723" y="6201"/>
                  </a:cubicBezTo>
                  <a:lnTo>
                    <a:pt x="723" y="6201"/>
                  </a:lnTo>
                  <a:cubicBezTo>
                    <a:pt x="723" y="6201"/>
                    <a:pt x="714" y="6201"/>
                    <a:pt x="714" y="6210"/>
                  </a:cubicBezTo>
                  <a:lnTo>
                    <a:pt x="714" y="6210"/>
                  </a:lnTo>
                  <a:close/>
                  <a:moveTo>
                    <a:pt x="6825" y="5728"/>
                  </a:moveTo>
                  <a:lnTo>
                    <a:pt x="8591" y="6763"/>
                  </a:lnTo>
                  <a:cubicBezTo>
                    <a:pt x="8591" y="6763"/>
                    <a:pt x="8591" y="6772"/>
                    <a:pt x="8591" y="6780"/>
                  </a:cubicBezTo>
                  <a:lnTo>
                    <a:pt x="8591" y="6780"/>
                  </a:lnTo>
                  <a:cubicBezTo>
                    <a:pt x="8591" y="6789"/>
                    <a:pt x="8591" y="6798"/>
                    <a:pt x="8591" y="6807"/>
                  </a:cubicBezTo>
                  <a:lnTo>
                    <a:pt x="8591" y="6807"/>
                  </a:lnTo>
                  <a:lnTo>
                    <a:pt x="6075" y="8707"/>
                  </a:lnTo>
                  <a:cubicBezTo>
                    <a:pt x="6075" y="8707"/>
                    <a:pt x="6066" y="8707"/>
                    <a:pt x="6066" y="8707"/>
                  </a:cubicBezTo>
                  <a:lnTo>
                    <a:pt x="6066" y="8707"/>
                  </a:lnTo>
                  <a:lnTo>
                    <a:pt x="6423" y="7209"/>
                  </a:lnTo>
                  <a:cubicBezTo>
                    <a:pt x="6423" y="7209"/>
                    <a:pt x="6423" y="7209"/>
                    <a:pt x="6423" y="7209"/>
                  </a:cubicBezTo>
                  <a:lnTo>
                    <a:pt x="6423" y="7209"/>
                  </a:lnTo>
                  <a:cubicBezTo>
                    <a:pt x="6477" y="7209"/>
                    <a:pt x="6521" y="7164"/>
                    <a:pt x="6521" y="7111"/>
                  </a:cubicBezTo>
                  <a:lnTo>
                    <a:pt x="6521" y="7111"/>
                  </a:lnTo>
                  <a:cubicBezTo>
                    <a:pt x="6521" y="7075"/>
                    <a:pt x="6504" y="7039"/>
                    <a:pt x="6477" y="7021"/>
                  </a:cubicBezTo>
                  <a:lnTo>
                    <a:pt x="6477" y="7021"/>
                  </a:lnTo>
                  <a:lnTo>
                    <a:pt x="6762" y="5755"/>
                  </a:lnTo>
                  <a:cubicBezTo>
                    <a:pt x="6762" y="5755"/>
                    <a:pt x="6762" y="5755"/>
                    <a:pt x="6762" y="5755"/>
                  </a:cubicBezTo>
                  <a:lnTo>
                    <a:pt x="6762" y="5755"/>
                  </a:lnTo>
                  <a:cubicBezTo>
                    <a:pt x="6789" y="5755"/>
                    <a:pt x="6807" y="5746"/>
                    <a:pt x="6825" y="5728"/>
                  </a:cubicBezTo>
                  <a:moveTo>
                    <a:pt x="2596" y="7512"/>
                  </a:moveTo>
                  <a:cubicBezTo>
                    <a:pt x="2596" y="7512"/>
                    <a:pt x="2596" y="7512"/>
                    <a:pt x="2596" y="7512"/>
                  </a:cubicBezTo>
                  <a:lnTo>
                    <a:pt x="2596" y="7512"/>
                  </a:lnTo>
                  <a:cubicBezTo>
                    <a:pt x="2596" y="7458"/>
                    <a:pt x="2560" y="7423"/>
                    <a:pt x="2516" y="7414"/>
                  </a:cubicBezTo>
                  <a:lnTo>
                    <a:pt x="2516" y="7414"/>
                  </a:lnTo>
                  <a:lnTo>
                    <a:pt x="2382" y="6326"/>
                  </a:lnTo>
                  <a:cubicBezTo>
                    <a:pt x="2400" y="6317"/>
                    <a:pt x="2409" y="6308"/>
                    <a:pt x="2418" y="6299"/>
                  </a:cubicBezTo>
                  <a:lnTo>
                    <a:pt x="2418" y="6299"/>
                  </a:lnTo>
                  <a:lnTo>
                    <a:pt x="6316" y="7119"/>
                  </a:lnTo>
                  <a:lnTo>
                    <a:pt x="4113" y="8003"/>
                  </a:lnTo>
                  <a:cubicBezTo>
                    <a:pt x="4095" y="7976"/>
                    <a:pt x="4068" y="7967"/>
                    <a:pt x="4032" y="7967"/>
                  </a:cubicBezTo>
                  <a:lnTo>
                    <a:pt x="4032" y="7967"/>
                  </a:lnTo>
                  <a:cubicBezTo>
                    <a:pt x="4006" y="7967"/>
                    <a:pt x="3979" y="7976"/>
                    <a:pt x="3961" y="8003"/>
                  </a:cubicBezTo>
                  <a:lnTo>
                    <a:pt x="3961" y="8003"/>
                  </a:lnTo>
                  <a:close/>
                  <a:moveTo>
                    <a:pt x="4131" y="8074"/>
                  </a:moveTo>
                  <a:cubicBezTo>
                    <a:pt x="4131" y="8065"/>
                    <a:pt x="4131" y="8065"/>
                    <a:pt x="4131" y="8065"/>
                  </a:cubicBezTo>
                  <a:lnTo>
                    <a:pt x="4131" y="8065"/>
                  </a:lnTo>
                  <a:cubicBezTo>
                    <a:pt x="4131" y="8065"/>
                    <a:pt x="4131" y="8056"/>
                    <a:pt x="4131" y="8056"/>
                  </a:cubicBezTo>
                  <a:lnTo>
                    <a:pt x="4131" y="8056"/>
                  </a:lnTo>
                  <a:lnTo>
                    <a:pt x="6343" y="7173"/>
                  </a:lnTo>
                  <a:cubicBezTo>
                    <a:pt x="6352" y="7173"/>
                    <a:pt x="6352" y="7182"/>
                    <a:pt x="6361" y="7182"/>
                  </a:cubicBezTo>
                  <a:lnTo>
                    <a:pt x="6361" y="7182"/>
                  </a:lnTo>
                  <a:lnTo>
                    <a:pt x="6004" y="8690"/>
                  </a:lnTo>
                  <a:cubicBezTo>
                    <a:pt x="5977" y="8699"/>
                    <a:pt x="5959" y="8707"/>
                    <a:pt x="5942" y="8725"/>
                  </a:cubicBezTo>
                  <a:lnTo>
                    <a:pt x="5942" y="8725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9" name="Google Shape;929;p48">
            <a:extLst>
              <a:ext uri="{FF2B5EF4-FFF2-40B4-BE49-F238E27FC236}">
                <a16:creationId xmlns:a16="http://schemas.microsoft.com/office/drawing/2014/main" id="{D9400B8C-E2F1-4A26-8CF6-6E93CF3FD2F1}"/>
              </a:ext>
            </a:extLst>
          </p:cNvPr>
          <p:cNvSpPr/>
          <p:nvPr/>
        </p:nvSpPr>
        <p:spPr>
          <a:xfrm>
            <a:off x="7464915" y="1230392"/>
            <a:ext cx="660023" cy="660100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0" name="Google Shape;930;p48">
            <a:extLst>
              <a:ext uri="{FF2B5EF4-FFF2-40B4-BE49-F238E27FC236}">
                <a16:creationId xmlns:a16="http://schemas.microsoft.com/office/drawing/2014/main" id="{DEC844CE-9793-0CDF-377F-56547A1020D0}"/>
              </a:ext>
            </a:extLst>
          </p:cNvPr>
          <p:cNvSpPr/>
          <p:nvPr/>
        </p:nvSpPr>
        <p:spPr>
          <a:xfrm>
            <a:off x="5062740" y="3110817"/>
            <a:ext cx="660023" cy="660100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1" name="Google Shape;931;p48">
            <a:extLst>
              <a:ext uri="{FF2B5EF4-FFF2-40B4-BE49-F238E27FC236}">
                <a16:creationId xmlns:a16="http://schemas.microsoft.com/office/drawing/2014/main" id="{E11CBFB9-D8AB-A8A0-6FA6-51256433CE05}"/>
              </a:ext>
            </a:extLst>
          </p:cNvPr>
          <p:cNvSpPr/>
          <p:nvPr/>
        </p:nvSpPr>
        <p:spPr>
          <a:xfrm>
            <a:off x="7063573" y="3110827"/>
            <a:ext cx="327012" cy="327044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2" name="Google Shape;932;p48">
            <a:extLst>
              <a:ext uri="{FF2B5EF4-FFF2-40B4-BE49-F238E27FC236}">
                <a16:creationId xmlns:a16="http://schemas.microsoft.com/office/drawing/2014/main" id="{476B9BFE-3A91-F950-9072-41BC301B2E41}"/>
              </a:ext>
            </a:extLst>
          </p:cNvPr>
          <p:cNvSpPr/>
          <p:nvPr/>
        </p:nvSpPr>
        <p:spPr>
          <a:xfrm>
            <a:off x="5260079" y="372478"/>
            <a:ext cx="945630" cy="945730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48">
            <a:extLst>
              <a:ext uri="{FF2B5EF4-FFF2-40B4-BE49-F238E27FC236}">
                <a16:creationId xmlns:a16="http://schemas.microsoft.com/office/drawing/2014/main" id="{08A24B9F-FB95-EC33-59F8-07D4F71BCBC8}"/>
              </a:ext>
            </a:extLst>
          </p:cNvPr>
          <p:cNvSpPr/>
          <p:nvPr/>
        </p:nvSpPr>
        <p:spPr>
          <a:xfrm>
            <a:off x="5062747" y="1480390"/>
            <a:ext cx="238346" cy="238372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chemeClr val="dk2"/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7D3C8C13-EC58-6BD2-C706-0A6606399FB1}"/>
              </a:ext>
            </a:extLst>
          </p:cNvPr>
          <p:cNvSpPr/>
          <p:nvPr/>
        </p:nvSpPr>
        <p:spPr>
          <a:xfrm>
            <a:off x="620486" y="3092088"/>
            <a:ext cx="3273878" cy="1401399"/>
          </a:xfrm>
          <a:prstGeom prst="round2DiagRect">
            <a:avLst/>
          </a:prstGeom>
          <a:solidFill>
            <a:srgbClr val="33479C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  <a:latin typeface="Maven Pro" panose="020B0604020202020204" charset="0"/>
              </a:rPr>
              <a:t>Malak Elsayed</a:t>
            </a:r>
          </a:p>
          <a:p>
            <a:pPr algn="ctr"/>
            <a:r>
              <a:rPr lang="en-GB" sz="1200" dirty="0">
                <a:solidFill>
                  <a:schemeClr val="tx1"/>
                </a:solidFill>
                <a:latin typeface="Maven Pro" panose="020B0604020202020204" charset="0"/>
              </a:rPr>
              <a:t>Shahd </a:t>
            </a:r>
            <a:r>
              <a:rPr lang="en-GB" sz="1200" dirty="0" err="1">
                <a:solidFill>
                  <a:schemeClr val="tx1"/>
                </a:solidFill>
                <a:latin typeface="Maven Pro" panose="020B0604020202020204" charset="0"/>
              </a:rPr>
              <a:t>Fagelnour</a:t>
            </a:r>
            <a:endParaRPr lang="en-GB" sz="1200" dirty="0">
              <a:solidFill>
                <a:schemeClr val="tx1"/>
              </a:solidFill>
              <a:latin typeface="Maven Pro" panose="020B0604020202020204" charset="0"/>
            </a:endParaRPr>
          </a:p>
          <a:p>
            <a:pPr algn="ctr"/>
            <a:r>
              <a:rPr lang="en-GB" sz="1200" dirty="0">
                <a:solidFill>
                  <a:schemeClr val="tx1"/>
                </a:solidFill>
                <a:latin typeface="Maven Pro" panose="020B0604020202020204" charset="0"/>
              </a:rPr>
              <a:t>Sandra Bassem</a:t>
            </a:r>
          </a:p>
          <a:p>
            <a:pPr algn="ctr"/>
            <a:r>
              <a:rPr lang="en-GB" sz="1200" dirty="0" err="1">
                <a:solidFill>
                  <a:schemeClr val="tx1"/>
                </a:solidFill>
                <a:latin typeface="Maven Pro" panose="020B0604020202020204" charset="0"/>
              </a:rPr>
              <a:t>Logain</a:t>
            </a:r>
            <a:r>
              <a:rPr lang="en-GB" sz="1200" dirty="0">
                <a:solidFill>
                  <a:schemeClr val="tx1"/>
                </a:solidFill>
                <a:latin typeface="Maven Pro" panose="020B0604020202020204" charset="0"/>
              </a:rPr>
              <a:t> Tamer</a:t>
            </a:r>
          </a:p>
          <a:p>
            <a:pPr algn="ctr"/>
            <a:r>
              <a:rPr lang="en-GB" sz="1200" dirty="0">
                <a:solidFill>
                  <a:schemeClr val="tx1"/>
                </a:solidFill>
                <a:latin typeface="Maven Pro" panose="020B0604020202020204" charset="0"/>
              </a:rPr>
              <a:t>Mohamed Hany</a:t>
            </a:r>
          </a:p>
          <a:p>
            <a:pPr algn="ctr"/>
            <a:r>
              <a:rPr lang="en-GB" sz="1200" dirty="0" err="1">
                <a:solidFill>
                  <a:schemeClr val="tx1"/>
                </a:solidFill>
                <a:latin typeface="Maven Pro" panose="020B0604020202020204" charset="0"/>
              </a:rPr>
              <a:t>Mrawan</a:t>
            </a:r>
            <a:r>
              <a:rPr lang="en-GB" sz="1200" dirty="0">
                <a:solidFill>
                  <a:schemeClr val="tx1"/>
                </a:solidFill>
                <a:latin typeface="Maven Pro" panose="020B0604020202020204" charset="0"/>
              </a:rPr>
              <a:t> Said</a:t>
            </a:r>
          </a:p>
        </p:txBody>
      </p:sp>
    </p:spTree>
    <p:extLst>
      <p:ext uri="{BB962C8B-B14F-4D97-AF65-F5344CB8AC3E}">
        <p14:creationId xmlns:p14="http://schemas.microsoft.com/office/powerpoint/2010/main" val="1694396650"/>
      </p:ext>
    </p:extLst>
  </p:cSld>
  <p:clrMapOvr>
    <a:masterClrMapping/>
  </p:clrMapOvr>
</p:sld>
</file>

<file path=ppt/theme/theme1.xml><?xml version="1.0" encoding="utf-8"?>
<a:theme xmlns:a="http://schemas.openxmlformats.org/drawingml/2006/main" name="AI App Pitch Deck Blue Variant by Slidesgo">
  <a:themeElements>
    <a:clrScheme name="Simple Light">
      <a:dk1>
        <a:srgbClr val="FFFFFF"/>
      </a:dk1>
      <a:lt1>
        <a:srgbClr val="191D30"/>
      </a:lt1>
      <a:dk2>
        <a:srgbClr val="B5C4FC"/>
      </a:dk2>
      <a:lt2>
        <a:srgbClr val="4B6EF8"/>
      </a:lt2>
      <a:accent1>
        <a:srgbClr val="131E4B"/>
      </a:accent1>
      <a:accent2>
        <a:srgbClr val="3327CF"/>
      </a:accent2>
      <a:accent3>
        <a:srgbClr val="68CAFB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4098</TotalTime>
  <Words>1066</Words>
  <Application>Microsoft Office PowerPoint</Application>
  <PresentationFormat>On-screen Show (16:9)</PresentationFormat>
  <Paragraphs>110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Maven Pro</vt:lpstr>
      <vt:lpstr>Google Sans Text</vt:lpstr>
      <vt:lpstr>Roboto</vt:lpstr>
      <vt:lpstr>Arial</vt:lpstr>
      <vt:lpstr>PT Sans</vt:lpstr>
      <vt:lpstr>Roboto Condensed Light</vt:lpstr>
      <vt:lpstr>Trispace</vt:lpstr>
      <vt:lpstr>Bebas Neue</vt:lpstr>
      <vt:lpstr>AI App Pitch Deck Blue Variant by Slidesgo</vt:lpstr>
      <vt:lpstr>Loan Risk &amp; Customer Behavior Analysis</vt:lpstr>
      <vt:lpstr>Our Team &amp; Resource Allocation</vt:lpstr>
      <vt:lpstr>Project Proposal &amp; Approach</vt:lpstr>
      <vt:lpstr>Data Origins &amp; Key Beneficiaries</vt:lpstr>
      <vt:lpstr>Project Scope &amp; Boundaries</vt:lpstr>
      <vt:lpstr>The Questions We Answered</vt:lpstr>
      <vt:lpstr>Our Implementation Journey</vt:lpstr>
      <vt:lpstr>Data Cleaning &amp; Transformation</vt:lpstr>
      <vt:lpstr>Structuring the Data: Relational Modeling</vt:lpstr>
      <vt:lpstr>Dynamic Calculations &amp; DAX</vt:lpstr>
      <vt:lpstr>Bringing Data to Life: Visualization Strategy</vt:lpstr>
      <vt:lpstr>User Experience: Designed for Convenience</vt:lpstr>
      <vt:lpstr>Key Discoveries &amp; Portfolio Insights</vt:lpstr>
      <vt:lpstr>Strategic Credit Policy Recommendations</vt:lpstr>
      <vt:lpstr>Project Assets &amp; Source Files</vt:lpstr>
      <vt:lpstr>Interactive Demonstration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Sandra Bassem</cp:lastModifiedBy>
  <cp:revision>6</cp:revision>
  <dcterms:modified xsi:type="dcterms:W3CDTF">2026-07-07T12:48:23Z</dcterms:modified>
</cp:coreProperties>
</file>