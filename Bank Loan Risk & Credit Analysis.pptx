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6858000" cx="12192000"/>
  <p:notesSz cx="6858000" cy="9144000"/>
  <p:embeddedFontLst>
    <p:embeddedFont>
      <p:font typeface="Urbanist Medium"/>
      <p:regular r:id="rId24"/>
      <p:bold r:id="rId25"/>
      <p:italic r:id="rId26"/>
      <p:boldItalic r:id="rId27"/>
    </p:embeddedFont>
    <p:embeddedFont>
      <p:font typeface="Urbanist"/>
      <p:regular r:id="rId28"/>
      <p:bold r:id="rId29"/>
      <p:italic r:id="rId30"/>
      <p:boldItalic r:id="rId31"/>
    </p:embeddedFont>
    <p:embeddedFont>
      <p:font typeface="Azeret Mon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i/P3X+NFqCP1xcUEyx6hKqQATk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62DEE2D-C289-42D6-8090-40C20F97AE57}">
  <a:tblStyle styleId="{862DEE2D-C289-42D6-8090-40C20F97AE5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Medium-regular.fntdata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italic.fntdata"/><Relationship Id="rId25" Type="http://schemas.openxmlformats.org/officeDocument/2006/relationships/font" Target="fonts/UrbanistMedium-bold.fntdata"/><Relationship Id="rId28" Type="http://schemas.openxmlformats.org/officeDocument/2006/relationships/font" Target="fonts/Urbanist-regular.fntdata"/><Relationship Id="rId27" Type="http://schemas.openxmlformats.org/officeDocument/2006/relationships/font" Target="fonts/UrbanistMedium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Italic.fntdata"/><Relationship Id="rId30" Type="http://schemas.openxmlformats.org/officeDocument/2006/relationships/font" Target="fonts/Urbanist-italic.fntdata"/><Relationship Id="rId11" Type="http://schemas.openxmlformats.org/officeDocument/2006/relationships/slide" Target="slides/slide5.xml"/><Relationship Id="rId33" Type="http://schemas.openxmlformats.org/officeDocument/2006/relationships/font" Target="fonts/AzeretMono-bold.fntdata"/><Relationship Id="rId10" Type="http://schemas.openxmlformats.org/officeDocument/2006/relationships/slide" Target="slides/slide4.xml"/><Relationship Id="rId32" Type="http://schemas.openxmlformats.org/officeDocument/2006/relationships/font" Target="fonts/AzeretMono-regular.fntdata"/><Relationship Id="rId13" Type="http://schemas.openxmlformats.org/officeDocument/2006/relationships/slide" Target="slides/slide7.xml"/><Relationship Id="rId35" Type="http://schemas.openxmlformats.org/officeDocument/2006/relationships/font" Target="fonts/AzeretMono-boldItalic.fntdata"/><Relationship Id="rId12" Type="http://schemas.openxmlformats.org/officeDocument/2006/relationships/slide" Target="slides/slide6.xml"/><Relationship Id="rId34" Type="http://schemas.openxmlformats.org/officeDocument/2006/relationships/font" Target="fonts/AzeretMono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7e67a8a1c42ef7a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7e67a8a1c42ef7a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77e67a8a1c42ef7a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77e67a8a1c42ef7a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0" name="Google Shape;29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8.png"/><Relationship Id="rId8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28.png"/><Relationship Id="rId5" Type="http://schemas.openxmlformats.org/officeDocument/2006/relationships/image" Target="../media/image20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9.png"/><Relationship Id="rId5" Type="http://schemas.openxmlformats.org/officeDocument/2006/relationships/image" Target="../media/image3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3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38.png"/><Relationship Id="rId6" Type="http://schemas.openxmlformats.org/officeDocument/2006/relationships/image" Target="../media/image37.png"/><Relationship Id="rId7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356645"/>
            <a:ext cx="2730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30650" y="4356645"/>
            <a:ext cx="27305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51700" y="4356645"/>
            <a:ext cx="2730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937670"/>
            <a:ext cx="27304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650" y="4937670"/>
            <a:ext cx="273054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51700" y="4937670"/>
            <a:ext cx="27304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2880598" y="1529804"/>
            <a:ext cx="6430803" cy="1760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Bank Loan Risk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3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Credit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810000" y="3480345"/>
            <a:ext cx="4572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Azeret Mono"/>
                <a:ea typeface="Azeret Mono"/>
                <a:cs typeface="Azeret Mono"/>
                <a:sym typeface="Azeret Mono"/>
              </a:rPr>
              <a:t>PORTFOLIO PERFORMANCE STRATEGY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FINANCIAL ANALYTICS DEPT.Q3 2024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77e67a8a1c42ef7a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42"/>
            <a:ext cx="12192000" cy="682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g77e67a8a1c42ef7a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8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0394"/>
            <a:ext cx="3429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1500" y="2680394"/>
            <a:ext cx="342900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680394"/>
            <a:ext cx="342900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2286000" y="4833044"/>
            <a:ext cx="7620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current portfolio shows a healthy total volume, but risk management is critical given that nearly 23% of loans are charged 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962025" y="3070919"/>
            <a:ext cx="2647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31.19bn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266825" y="3756719"/>
            <a:ext cx="2038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TOTAL LOAN AMOUNT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4772025" y="3070919"/>
            <a:ext cx="2647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312.50k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5176837" y="3756719"/>
            <a:ext cx="18383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AVG LOAN AMOUNT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582025" y="3070919"/>
            <a:ext cx="2647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FF823A"/>
                </a:solidFill>
                <a:latin typeface="Urbanist"/>
                <a:ea typeface="Urbanist"/>
                <a:cs typeface="Urbanist"/>
                <a:sym typeface="Urbanist"/>
              </a:rPr>
              <a:t>22.64%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8929687" y="3756719"/>
            <a:ext cx="19526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CHARGED OFF RATIO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Portfolio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High-Level KPIs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STRATEGIC OVERVIEWPAGE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 txBox="1"/>
          <p:nvPr/>
        </p:nvSpPr>
        <p:spPr>
          <a:xfrm>
            <a:off x="571500" y="2049958"/>
            <a:ext cx="520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Robust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Star Schema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571500" y="2983408"/>
            <a:ext cx="52006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Data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71500" y="3402508"/>
            <a:ext cx="4953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solution utilizes a centralized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fCredit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fact table connected to optimized dimension tables for scalable reporting.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23925" y="4211181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52500" y="4212133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Fact Table: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Metrics like Income, Balance, and Credit Score.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923925" y="4485471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52500" y="4486423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Dimension Table: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Detailed customer profiles and ownership status.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923925" y="4759761"/>
            <a:ext cx="285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952500" y="4760714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Measures: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Automated DAX calculations for risk ratios.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35" name="Google Shape;13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5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033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8985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6334125" y="304621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Unified Command Center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6334125" y="3465314"/>
            <a:ext cx="5286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dashboard provides real-time visibility into: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6657975" y="387393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6715125" y="387488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Default rates by loan purpose.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657975" y="4148226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715125" y="414917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Geographic distribution of credit risk.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6657975" y="442251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6715125" y="442346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Income vs. Debt ratio correlation.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6657975" y="4696807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6715125" y="4697759"/>
            <a:ext cx="4905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Historical delinquency trends.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Interactive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Analytics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PERFORMANCE MONITORINGPAGE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51857"/>
            <a:ext cx="3492400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951857"/>
            <a:ext cx="3492549" cy="226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951857"/>
            <a:ext cx="349240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 txBox="1"/>
          <p:nvPr/>
        </p:nvSpPr>
        <p:spPr>
          <a:xfrm>
            <a:off x="866775" y="384720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ETL Process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866775" y="4266307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Advanced data cleaning, handling missing values and duplicates.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644925" y="384720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EDA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4644925" y="4266307"/>
            <a:ext cx="290199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Univariate and multivariate analysis for trend identification.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8423225" y="384720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3. Modeling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8423225" y="4266307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Structuring the star schema for optimal query performance.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9" name="Google Shape;17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275707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4925" y="327570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225" y="3275707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Seven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Phases of Delivery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WORKFLOW FRAMEWORKPAGE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432994"/>
            <a:ext cx="52863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8"/>
          <p:cNvSpPr/>
          <p:nvPr/>
        </p:nvSpPr>
        <p:spPr>
          <a:xfrm>
            <a:off x="1785937" y="2380357"/>
            <a:ext cx="2857500" cy="2857500"/>
          </a:xfrm>
          <a:prstGeom prst="roundRect">
            <a:avLst>
              <a:gd fmla="val 50000" name="adj"/>
            </a:avLst>
          </a:prstGeom>
          <a:noFill/>
          <a:ln cap="flat" cmpd="sng" w="381000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571500" y="5428357"/>
            <a:ext cx="528637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■ Fully Paid (77.36%)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■ Charged Off (22.64%)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 txBox="1"/>
          <p:nvPr/>
        </p:nvSpPr>
        <p:spPr>
          <a:xfrm>
            <a:off x="6334125" y="3099494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Default Impact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6334125" y="3518594"/>
            <a:ext cx="52863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With 23K loans classified as "Charged Off", the financial impact reaches significant levels. High-risk segments need immediate policy adjustment.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6562725" y="4623494"/>
            <a:ext cx="48672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Alert:</a:t>
            </a:r>
            <a:r>
              <a:rPr b="0" i="0" lang="en-US" sz="13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Small Business loans show the highest risk profile.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Loan Status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Breakdown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STATUS SEGMENTATIONPAGE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84312"/>
            <a:ext cx="11049000" cy="4402187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9"/>
          <p:cNvSpPr txBox="1"/>
          <p:nvPr/>
        </p:nvSpPr>
        <p:spPr>
          <a:xfrm>
            <a:off x="571500" y="481875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Data reveals that Small Business loans are 1.8x more likely to default than the portfolio average.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Default Rate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by Purpose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SEGMENTED RISKPAGE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37732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27932"/>
            <a:ext cx="34924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49650" y="2027932"/>
            <a:ext cx="3492549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27950" y="2027932"/>
            <a:ext cx="34924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4247257"/>
            <a:ext cx="11029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0"/>
          <p:cNvSpPr txBox="1"/>
          <p:nvPr/>
        </p:nvSpPr>
        <p:spPr>
          <a:xfrm>
            <a:off x="866775" y="232320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Low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866775" y="2742307"/>
            <a:ext cx="29018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Strong credit scores, long employment history, and low DTI. High approval priority.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 txBox="1"/>
          <p:nvPr/>
        </p:nvSpPr>
        <p:spPr>
          <a:xfrm>
            <a:off x="4644925" y="2323207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Medium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4644925" y="2742307"/>
            <a:ext cx="29019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Stable income but moderate credit utilization. Requires balanced monitoring.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8423225" y="2323207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823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8423225" y="2742307"/>
            <a:ext cx="29018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History of delinquency and low credit score. Strict limits applied.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Risk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Classification 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STRATEGIC SEGMENTATIONPAGE 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11"/>
          <p:cNvGraphicFramePr/>
          <p:nvPr/>
        </p:nvGraphicFramePr>
        <p:xfrm>
          <a:off x="571500" y="2651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{862DEE2D-C289-42D6-8090-40C20F97AE57}</a:tableStyleId>
              </a:tblPr>
              <a:tblGrid>
                <a:gridCol w="3054250"/>
                <a:gridCol w="3054250"/>
                <a:gridCol w="3020925"/>
                <a:gridCol w="1919575"/>
              </a:tblGrid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Loan Type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Annual Income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Avg Credit Balance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Risk Score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111"/>
                    </a:solidFill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Personal Loan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$65,000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$12,400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Moderate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Small Business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$82,500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$34,100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F823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Home Improvement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$91,000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$18,900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Low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Medical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$54,200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$9,200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0" name="Google Shape;230;p11"/>
          <p:cNvSpPr/>
          <p:nvPr/>
        </p:nvSpPr>
        <p:spPr>
          <a:xfrm>
            <a:off x="571500" y="3204269"/>
            <a:ext cx="305425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625750" y="3204269"/>
            <a:ext cx="305425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6680001" y="3204269"/>
            <a:ext cx="3020913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700914" y="3204269"/>
            <a:ext cx="1919585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71500" y="37900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625750" y="37900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680001" y="3790057"/>
            <a:ext cx="302091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9700914" y="3790057"/>
            <a:ext cx="191958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571500" y="43615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3625750" y="43615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680001" y="4361557"/>
            <a:ext cx="302091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9700914" y="4361557"/>
            <a:ext cx="191958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571500" y="49330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625750" y="49330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6680001" y="4933057"/>
            <a:ext cx="302091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700914" y="4933057"/>
            <a:ext cx="191958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71500" y="55045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3625750" y="5504557"/>
            <a:ext cx="3054250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/>
          <p:nvPr/>
        </p:nvSpPr>
        <p:spPr>
          <a:xfrm>
            <a:off x="6680001" y="5504557"/>
            <a:ext cx="3020913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9700914" y="5504557"/>
            <a:ext cx="1919585" cy="9525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Financial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Metrics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DATA AUDITPAGE 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08994"/>
            <a:ext cx="5286375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08994"/>
            <a:ext cx="5286375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 txBox="1"/>
          <p:nvPr/>
        </p:nvSpPr>
        <p:spPr>
          <a:xfrm>
            <a:off x="571500" y="4861619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Targeting a </a:t>
            </a:r>
            <a:r>
              <a:rPr b="1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15% reduction</a:t>
            </a: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 Charged Off loans over the next fiscal year.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2"/>
          <p:cNvSpPr txBox="1"/>
          <p:nvPr/>
        </p:nvSpPr>
        <p:spPr>
          <a:xfrm>
            <a:off x="866775" y="3204269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Portfolio Rebalancing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66775" y="3623369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Shift focus toward Home Improvement and Vacation loans which demonstrate significantly lower default rates.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6629400" y="3204269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Enhanced Screening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6629400" y="3623369"/>
            <a:ext cx="46958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Implementing stricter credit score thresholds for applicants in the "Small Business" category.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Mitigation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ACTION PLANPAGE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3372742"/>
            <a:ext cx="762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3"/>
          <p:cNvSpPr/>
          <p:nvPr/>
        </p:nvSpPr>
        <p:spPr>
          <a:xfrm>
            <a:off x="5619750" y="703957"/>
            <a:ext cx="9525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2550556" y="1123057"/>
            <a:ext cx="7090886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Mission </a:t>
            </a: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Accomplished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 txBox="1"/>
          <p:nvPr/>
        </p:nvSpPr>
        <p:spPr>
          <a:xfrm>
            <a:off x="2286000" y="2163067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Through data transparency and predictive modeling, we have created a roadmap for a more resilient and profitable lending portfolio.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5" name="Google Shape;27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95525" y="3382267"/>
            <a:ext cx="7600950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3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FINAL SUMMARYPAGE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8875" y="4368998"/>
            <a:ext cx="733425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4110751" y="2206823"/>
            <a:ext cx="39704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4662487" y="3311723"/>
            <a:ext cx="2867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Thank you for your attention.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2428875" y="4759523"/>
            <a:ext cx="7334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DAFFDE"/>
                </a:solidFill>
                <a:latin typeface="Azeret Mono"/>
                <a:ea typeface="Azeret Mono"/>
                <a:cs typeface="Azeret Mono"/>
                <a:sym typeface="Azeret Mono"/>
              </a:rPr>
              <a:t>PRESENTED BY THE RISK ANALYSIS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2428875" y="5102423"/>
            <a:ext cx="73342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Azeret Mono"/>
                <a:ea typeface="Azeret Mono"/>
                <a:cs typeface="Azeret Mono"/>
                <a:sym typeface="Azeret Mono"/>
              </a:rPr>
              <a:t>Mohamed H. | Marwan H. | Malak E. | Sandra B. | Shahd F. | Login 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571500" y="6581775"/>
            <a:ext cx="110490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5F5F5"/>
                </a:solidFill>
                <a:latin typeface="Azeret Mono"/>
                <a:ea typeface="Azeret Mono"/>
                <a:cs typeface="Azeret Mono"/>
                <a:sym typeface="Azeret Mono"/>
              </a:rPr>
              <a:t>END OF PRESENTATIONPAGE 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5"/>
          <p:cNvSpPr/>
          <p:nvPr/>
        </p:nvSpPr>
        <p:spPr>
          <a:xfrm>
            <a:off x="571500" y="254704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571500" y="331856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571500" y="4090094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571500" y="33090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/>
          <p:nvPr/>
        </p:nvSpPr>
        <p:spPr>
          <a:xfrm>
            <a:off x="571500" y="330904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571500" y="40805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5"/>
          <p:cNvSpPr/>
          <p:nvPr/>
        </p:nvSpPr>
        <p:spPr>
          <a:xfrm>
            <a:off x="571500" y="408056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"/>
          <p:cNvSpPr/>
          <p:nvPr/>
        </p:nvSpPr>
        <p:spPr>
          <a:xfrm>
            <a:off x="571500" y="48520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5"/>
          <p:cNvSpPr/>
          <p:nvPr/>
        </p:nvSpPr>
        <p:spPr>
          <a:xfrm>
            <a:off x="571500" y="485209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2" name="Google Shape;3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899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5"/>
          <p:cNvSpPr txBox="1"/>
          <p:nvPr/>
        </p:nvSpPr>
        <p:spPr>
          <a:xfrm>
            <a:off x="1666875" y="269706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https://edrawmax.wondershare.com/templates/UML/class-diagram-for-bank-loan.jpg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5"/>
          <p:cNvSpPr txBox="1"/>
          <p:nvPr/>
        </p:nvSpPr>
        <p:spPr>
          <a:xfrm>
            <a:off x="1666875" y="29304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edrawmax.wondershare.com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5" name="Google Shape;3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6144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5"/>
          <p:cNvSpPr txBox="1"/>
          <p:nvPr/>
        </p:nvSpPr>
        <p:spPr>
          <a:xfrm>
            <a:off x="1666875" y="346858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https://cdn.prod.website-files.com/5efb0b7816032fd33ce6059c/62d5bbd6d01ba2d84d85e91f_Screen%20Shot%202021-10-07%20at%2012.36%20(1).png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5"/>
          <p:cNvSpPr txBox="1"/>
          <p:nvPr/>
        </p:nvSpPr>
        <p:spPr>
          <a:xfrm>
            <a:off x="1666875" y="37019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www.numerro.io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08" name="Google Shape;3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329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5"/>
          <p:cNvSpPr txBox="1"/>
          <p:nvPr/>
        </p:nvSpPr>
        <p:spPr>
          <a:xfrm>
            <a:off x="1666875" y="424011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https://slidebazaar.com/wp-content/uploads/2022/09/Chart-Analysis-jpg.webp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5"/>
          <p:cNvSpPr txBox="1"/>
          <p:nvPr/>
        </p:nvSpPr>
        <p:spPr>
          <a:xfrm>
            <a:off x="1666875" y="44734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slidebazaar.com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11" name="Google Shape;3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0449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5"/>
          <p:cNvSpPr txBox="1"/>
          <p:nvPr/>
        </p:nvSpPr>
        <p:spPr>
          <a:xfrm>
            <a:off x="1666875" y="501163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https://i.redd.it/2abohxcffy1h1.jpeg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5"/>
          <p:cNvSpPr txBox="1"/>
          <p:nvPr/>
        </p:nvSpPr>
        <p:spPr>
          <a:xfrm>
            <a:off x="1666875" y="52450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www.reddit.com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